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slides/slide79.xml" ContentType="application/vnd.openxmlformats-officedocument.presentationml.slide+xml"/>
  <Override PartName="/ppt/slides/slide77.xml" ContentType="application/vnd.openxmlformats-officedocument.presentationml.slide+xml"/>
  <Override PartName="/ppt/slides/slide75.xml" ContentType="application/vnd.openxmlformats-officedocument.presentationml.slide+xml"/>
  <Override PartName="/ppt/slides/slide72.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68.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61.xml" ContentType="application/vnd.openxmlformats-officedocument.presentationml.slide+xml"/>
  <Override PartName="/ppt/slides/slide59.xml" ContentType="application/vnd.openxmlformats-officedocument.presentationml.slide+xml"/>
  <Override PartName="/ppt/slides/slide56.xml" ContentType="application/vnd.openxmlformats-officedocument.presentationml.slide+xml"/>
  <Override PartName="/ppt/slides/slide74.xml" ContentType="application/vnd.openxmlformats-officedocument.presentationml.slide+xml"/>
  <Override PartName="/ppt/slides/slide55.xml" ContentType="application/vnd.openxmlformats-officedocument.presentationml.slide+xml"/>
  <Override PartName="/ppt/slides/slide52.xml" ContentType="application/vnd.openxmlformats-officedocument.presentationml.slide+xml"/>
  <Override PartName="/ppt/slides/slide50.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3.xml" ContentType="application/vnd.openxmlformats-officedocument.presentationml.slide+xml"/>
  <Override PartName="/ppt/slides/slide37.xml" ContentType="application/vnd.openxmlformats-officedocument.presentationml.slide+xml"/>
  <Override PartName="/ppt/slides/slide51.xml" ContentType="application/vnd.openxmlformats-officedocument.presentationml.slide+xml"/>
  <Override PartName="/ppt/slides/slide36.xml" ContentType="application/vnd.openxmlformats-officedocument.presentationml.slide+xml"/>
  <Override PartName="/ppt/slides/slide62.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5.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4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6.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Layouts/slideLayout15.xml" ContentType="application/vnd.openxmlformats-officedocument.presentationml.slideLayout+xml"/>
  <Override PartName="/ppt/slides/slide69.xml" ContentType="application/vnd.openxmlformats-officedocument.presentationml.slide+xml"/>
  <Override PartName="/ppt/slides/slide57.xml" ContentType="application/vnd.openxmlformats-officedocument.presentationml.slide+xml"/>
  <Override PartName="/ppt/slides/slide7.xml" ContentType="application/vnd.openxmlformats-officedocument.presentationml.slide+xml"/>
  <Override PartName="/ppt/slides/slide21.xml" ContentType="application/vnd.openxmlformats-officedocument.presentationml.slide+xml"/>
  <Override PartName="/ppt/slides/slide67.xml" ContentType="application/vnd.openxmlformats-officedocument.presentationml.slide+xml"/>
  <Override PartName="/ppt/slideLayouts/slideLayout13.xml" ContentType="application/vnd.openxmlformats-officedocument.presentationml.slideLayout+xml"/>
  <Override PartName="/ppt/slides/slide33.xml" ContentType="application/vnd.openxmlformats-officedocument.presentationml.slide+xml"/>
  <Override PartName="/ppt/slides/slide8.xml" ContentType="application/vnd.openxmlformats-officedocument.presentationml.slide+xml"/>
  <Override PartName="/ppt/slideLayouts/slideLayout9.xml" ContentType="application/vnd.openxmlformats-officedocument.presentationml.slideLayout+xml"/>
  <Override PartName="/ppt/slides/slide35.xml" ContentType="application/vnd.openxmlformats-officedocument.presentationml.slide+xml"/>
  <Override PartName="/ppt/slides/slide48.xml" ContentType="application/vnd.openxmlformats-officedocument.presentationml.slide+xml"/>
  <Override PartName="/ppt/slides/slide4.xml" ContentType="application/vnd.openxmlformats-officedocument.presentationml.slide+xml"/>
  <Override PartName="/ppt/slides/slide27.xml" ContentType="application/vnd.openxmlformats-officedocument.presentationml.slide+xml"/>
  <Override PartName="/ppt/slides/slide80.xml" ContentType="application/vnd.openxmlformats-officedocument.presentationml.slide+xml"/>
  <Override PartName="/ppt/slideLayouts/slideLayout12.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14.xml" ContentType="application/vnd.openxmlformats-officedocument.presentationml.slideLayout+xml"/>
  <Override PartName="/ppt/slides/slide1.xml" ContentType="application/vnd.openxmlformats-officedocument.presentationml.slide+xml"/>
  <Override PartName="/ppt/slides/slide26.xml" ContentType="application/vnd.openxmlformats-officedocument.presentationml.slide+xml"/>
  <Override PartName="/ppt/slideLayouts/slideLayout8.xml" ContentType="application/vnd.openxmlformats-officedocument.presentationml.slideLayout+xml"/>
  <Override PartName="/ppt/slides/slide76.xml" ContentType="application/vnd.openxmlformats-officedocument.presentationml.slide+xml"/>
  <Override PartName="/ppt/slideLayouts/slideLayout2.xml" ContentType="application/vnd.openxmlformats-officedocument.presentationml.slideLayout+xml"/>
  <Override PartName="/ppt/slides/slide5.xml" ContentType="application/vnd.openxmlformats-officedocument.presentationml.slide+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s/slide14.xml" ContentType="application/vnd.openxmlformats-officedocument.presentationml.slide+xml"/>
  <Override PartName="/ppt/slides/slide40.xml" ContentType="application/vnd.openxmlformats-officedocument.presentationml.slide+xml"/>
  <Override PartName="/ppt/slideMasters/slideMaster1.xml" ContentType="application/vnd.openxmlformats-officedocument.presentationml.slideMaster+xml"/>
  <Override PartName="/ppt/slides/slide78.xml" ContentType="application/vnd.openxmlformats-officedocument.presentationml.slide+xml"/>
  <Override PartName="/ppt/slides/slide73.xml" ContentType="application/vnd.openxmlformats-officedocument.presentationml.slide+xml"/>
  <Override PartName="/ppt/slides/slide24.xml" ContentType="application/vnd.openxmlformats-officedocument.presentationml.slide+xml"/>
  <Override PartName="/ppt/slideLayouts/slideLayout11.xml" ContentType="application/vnd.openxmlformats-officedocument.presentationml.slideLayout+xml"/>
  <Override PartName="/ppt/tableStyles.xml" ContentType="application/vnd.openxmlformats-officedocument.presentationml.tableStyles+xml"/>
  <Override PartName="/ppt/slides/slide53.xml" ContentType="application/vnd.openxmlformats-officedocument.presentationml.slide+xml"/>
  <Override PartName="/ppt/theme/theme1.xml" ContentType="application/vnd.openxmlformats-officedocument.theme+xml"/>
  <Override PartName="/ppt/slides/slide28.xml" ContentType="application/vnd.openxmlformats-officedocument.presentationml.slide+xml"/>
  <Override PartName="/ppt/slides/slide16.xml" ContentType="application/vnd.openxmlformats-officedocument.presentationml.slide+xml"/>
  <Override PartName="/ppt/slides/slide41.xml" ContentType="application/vnd.openxmlformats-officedocument.presentationml.slide+xml"/>
  <Override PartName="/ppt/slideLayouts/slideLayout1.xml" ContentType="application/vnd.openxmlformats-officedocument.presentationml.slideLayout+xml"/>
  <Override PartName="/ppt/slides/slide60.xml" ContentType="application/vnd.openxmlformats-officedocument.presentationml.slide+xml"/>
  <Override PartName="/ppt/slides/slide2.xml" ContentType="application/vnd.openxmlformats-officedocument.presentationml.slide+xml"/>
  <Override PartName="/ppt/slideLayouts/slideLayout16.xml" ContentType="application/vnd.openxmlformats-officedocument.presentationml.slideLayout+xml"/>
  <Override PartName="/ppt/slides/slide39.xml" ContentType="application/vnd.openxmlformats-officedocument.presentationml.slide+xml"/>
  <Override PartName="/ppt/slides/slide58.xml" ContentType="application/vnd.openxmlformats-officedocument.presentationml.slide+xml"/>
  <Override PartName="/ppt/viewProps.xml" ContentType="application/vnd.openxmlformats-officedocument.presentationml.viewProps+xml"/>
  <Override PartName="/ppt/slides/slide49.xml" ContentType="application/vnd.openxmlformats-officedocument.presentationml.slide+xml"/>
  <Override PartName="/ppt/presProps.xml" ContentType="application/vnd.openxmlformats-officedocument.presentationml.presProps+xml"/>
  <Override PartName="/ppt/slideLayouts/slideLayout6.xml" ContentType="application/vnd.openxmlformats-officedocument.presentationml.slideLayout+xml"/>
  <Override PartName="/ppt/slides/slide38.xml" ContentType="application/vnd.openxmlformats-officedocument.presentationml.slide+xml"/>
  <Override PartName="/ppt/slides/slide34.xml" ContentType="application/vnd.openxmlformats-officedocument.presentationml.slide+xml"/>
  <Override PartName="/ppt/slides/slide54.xml" ContentType="application/vnd.openxmlformats-officedocument.presentationml.slide+xml"/>
  <Override PartName="/ppt/slideLayouts/slideLayout5.xml" ContentType="application/vnd.openxmlformats-officedocument.presentationml.slideLayout+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Lst>
  <p:sldSz cx="12192000" cy="6858000"/>
  <p:notesSz cx="12192000" cy="6858000"/>
  <p:defaultText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3" d="100"/>
          <a:sy n="73" d="100"/>
        </p:scale>
        <p:origin x="618" y="72"/>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presProps" Target="presProps.xml" /><Relationship Id="rId84" Type="http://schemas.openxmlformats.org/officeDocument/2006/relationships/tableStyles" Target="tableStyles.xml" /><Relationship Id="rId85" Type="http://schemas.openxmlformats.org/officeDocument/2006/relationships/viewProps" Target="viewProps.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 userDrawn="1">
  <p:cSld name="Титульный слайд">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2589213" y="2514600"/>
            <a:ext cx="8915399" cy="2262781"/>
          </a:xfrm>
        </p:spPr>
        <p:txBody>
          <a:bodyPr anchor="b">
            <a:normAutofit/>
          </a:bodyPr>
          <a:lstStyle>
            <a:lvl1pPr>
              <a:defRPr sz="5400"/>
            </a:lvl1pPr>
          </a:lstStyle>
          <a:p>
            <a:pPr>
              <a:defRPr/>
            </a:pPr>
            <a:r>
              <a:rPr lang="ru-RU"/>
              <a:t>Образец заголовка</a:t>
            </a:r>
            <a:endParaRPr lang="en-US"/>
          </a:p>
        </p:txBody>
      </p:sp>
      <p:sp>
        <p:nvSpPr>
          <p:cNvPr id="3" name="Subtitle 2"/>
          <p:cNvSpPr>
            <a:spLocks noGrp="1"/>
          </p:cNvSpPr>
          <p:nvPr>
            <p:ph type="subTitle" idx="1"/>
          </p:nvPr>
        </p:nvSpPr>
        <p:spPr bwMode="auto">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ru-RU"/>
              <a:t>Образец подзаголовка</a:t>
            </a:r>
            <a:endParaRPr lang="en-US"/>
          </a:p>
        </p:txBody>
      </p:sp>
      <p:sp>
        <p:nvSpPr>
          <p:cNvPr id="4" name="Date Placeholder 3"/>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7" name="Freeform 6"/>
          <p:cNvSpPr/>
          <p:nvPr/>
        </p:nvSpPr>
        <p:spPr bwMode="auto">
          <a:xfrm>
            <a:off x="0" y="4323810"/>
            <a:ext cx="1744652" cy="778589"/>
          </a:xfrm>
          <a:custGeom>
            <a:avLst/>
            <a:gdLst/>
            <a:ahLst/>
            <a:cxnLst/>
            <a:rect l="0" t="0" r="r" b="b"/>
            <a:pathLst>
              <a:path w="372" h="166" fill="norm" stroke="1" extrusionOk="0">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bwMode="auto">
          <a:xfrm>
            <a:off x="531812" y="4529540"/>
            <a:ext cx="779766" cy="365125"/>
          </a:xfrm>
        </p:spPr>
        <p:txBody>
          <a:bodyPr/>
          <a:lstStyle/>
          <a:p>
            <a:pPr>
              <a:defRPr/>
            </a:pPr>
            <a:fld id="{D57F1E4F-1CFF-5643-939E-217C01CDF565}" type="slidenum">
              <a:rPr lang="en-US"/>
              <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 userDrawn="1">
  <p:cSld name="Заголовок и объект">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92925" y="624110"/>
            <a:ext cx="8911687" cy="1280890"/>
          </a:xfrm>
        </p:spPr>
        <p:txBody>
          <a:bodyPr/>
          <a:lstStyle/>
          <a:p>
            <a:pPr>
              <a:defRPr/>
            </a:pPr>
            <a:r>
              <a:rPr lang="ru-RU"/>
              <a:t>Образец заголовка</a:t>
            </a:r>
            <a:endParaRPr lang="en-US"/>
          </a:p>
        </p:txBody>
      </p:sp>
      <p:sp>
        <p:nvSpPr>
          <p:cNvPr id="3" name="Content Placeholder 2"/>
          <p:cNvSpPr>
            <a:spLocks noGrp="1"/>
          </p:cNvSpPr>
          <p:nvPr>
            <p:ph idx="1"/>
          </p:nvPr>
        </p:nvSpPr>
        <p:spPr bwMode="auto">
          <a:xfrm>
            <a:off x="2589212" y="2133600"/>
            <a:ext cx="8915400" cy="3777622"/>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8"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bwMode="auto"/>
        <p:txBody>
          <a:bodyPr/>
          <a:lstStyle/>
          <a:p>
            <a:pPr>
              <a:defRPr/>
            </a:pPr>
            <a:fld id="{D57F1E4F-1CFF-5643-939E-217C01CDF565}" type="slidenum">
              <a:rPr lang="en-US"/>
              <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secHead" userDrawn="1">
  <p:cSld name="Заголовок раздела">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89212" y="2058750"/>
            <a:ext cx="8915399" cy="1468800"/>
          </a:xfrm>
        </p:spPr>
        <p:txBody>
          <a:bodyPr anchor="b"/>
          <a:lstStyle>
            <a:lvl1pPr algn="l">
              <a:defRPr sz="4000" b="0" cap="none"/>
            </a:lvl1pPr>
          </a:lstStyle>
          <a:p>
            <a:pPr>
              <a:defRPr/>
            </a:pPr>
            <a:r>
              <a:rPr lang="ru-RU"/>
              <a:t>Образец заголовка</a:t>
            </a:r>
            <a:endParaRPr lang="en-US"/>
          </a:p>
        </p:txBody>
      </p:sp>
      <p:sp>
        <p:nvSpPr>
          <p:cNvPr id="3" name="Text Placeholder 2"/>
          <p:cNvSpPr>
            <a:spLocks noGrp="1"/>
          </p:cNvSpPr>
          <p:nvPr>
            <p:ph type="body" idx="1"/>
          </p:nvPr>
        </p:nvSpPr>
        <p:spPr bwMode="auto">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ru-RU"/>
              <a:t>Образец текста</a:t>
            </a:r>
            <a:endParaRPr/>
          </a:p>
        </p:txBody>
      </p:sp>
      <p:sp>
        <p:nvSpPr>
          <p:cNvPr id="4" name="Date Placeholder 3"/>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9" name="Freeform 11"/>
          <p:cNvSpPr/>
          <p:nvPr/>
        </p:nvSpPr>
        <p:spPr bwMode="auto">
          <a:xfrm flipV="1">
            <a:off x="-4189" y="31781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bwMode="auto">
          <a:xfrm>
            <a:off x="531812" y="3244139"/>
            <a:ext cx="779766" cy="365125"/>
          </a:xfrm>
        </p:spPr>
        <p:txBody>
          <a:bodyPr/>
          <a:lstStyle/>
          <a:p>
            <a:pPr>
              <a:defRPr/>
            </a:pPr>
            <a:fld id="{D57F1E4F-1CFF-5643-939E-217C01CDF565}" type="slidenum">
              <a:rPr lang="en-US"/>
              <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Obj" userDrawn="1">
  <p:cSld name="Два объекта">
    <p:spTree>
      <p:nvGrpSpPr>
        <p:cNvPr id="1" name=""/>
        <p:cNvGrpSpPr/>
        <p:nvPr/>
      </p:nvGrpSpPr>
      <p:grpSpPr bwMode="auto">
        <a:xfrm>
          <a:off x="0" y="0"/>
          <a:ext cx="0" cy="0"/>
          <a:chOff x="0" y="0"/>
          <a:chExt cx="0" cy="0"/>
        </a:xfrm>
      </p:grpSpPr>
      <p:sp>
        <p:nvSpPr>
          <p:cNvPr id="8" name="Title 7"/>
          <p:cNvSpPr>
            <a:spLocks noGrp="1"/>
          </p:cNvSpPr>
          <p:nvPr>
            <p:ph type="title"/>
          </p:nvPr>
        </p:nvSpPr>
        <p:spPr bwMode="auto"/>
        <p:txBody>
          <a:bodyPr/>
          <a:lstStyle/>
          <a:p>
            <a:pPr>
              <a:defRPr/>
            </a:pPr>
            <a:r>
              <a:rPr lang="ru-RU"/>
              <a:t>Образец заголовка</a:t>
            </a:r>
            <a:endParaRPr lang="en-US"/>
          </a:p>
        </p:txBody>
      </p:sp>
      <p:sp>
        <p:nvSpPr>
          <p:cNvPr id="3" name="Content Placeholder 2"/>
          <p:cNvSpPr>
            <a:spLocks noGrp="1"/>
          </p:cNvSpPr>
          <p:nvPr>
            <p:ph sz="half" idx="1"/>
          </p:nvPr>
        </p:nvSpPr>
        <p:spPr bwMode="auto">
          <a:xfrm>
            <a:off x="2589212" y="2133600"/>
            <a:ext cx="4313864" cy="3777622"/>
          </a:xfrm>
        </p:spPr>
        <p:txBody>
          <a:bodyPr>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Content Placeholder 3"/>
          <p:cNvSpPr>
            <a:spLocks noGrp="1"/>
          </p:cNvSpPr>
          <p:nvPr>
            <p:ph sz="half" idx="2"/>
          </p:nvPr>
        </p:nvSpPr>
        <p:spPr bwMode="auto">
          <a:xfrm>
            <a:off x="7190747" y="2126222"/>
            <a:ext cx="4313864" cy="3777622"/>
          </a:xfrm>
        </p:spPr>
        <p:txBody>
          <a:bodyPr>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5" name="Date Placeholder 4"/>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10"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bwMode="auto">
          <a:xfrm>
            <a:off x="531812" y="787782"/>
            <a:ext cx="779766" cy="365125"/>
          </a:xfrm>
        </p:spPr>
        <p:txBody>
          <a:bodyPr/>
          <a:lstStyle/>
          <a:p>
            <a:pPr>
              <a:defRPr/>
            </a:pPr>
            <a:fld id="{D57F1E4F-1CFF-5643-939E-217C01CDF565}" type="slidenum">
              <a:rPr lang="en-US"/>
              <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TxTwoObj" userDrawn="1">
  <p:cSld name="Сравнение">
    <p:spTree>
      <p:nvGrpSpPr>
        <p:cNvPr id="1" name=""/>
        <p:cNvGrpSpPr/>
        <p:nvPr/>
      </p:nvGrpSpPr>
      <p:grpSpPr bwMode="auto">
        <a:xfrm>
          <a:off x="0" y="0"/>
          <a:ext cx="0" cy="0"/>
          <a:chOff x="0" y="0"/>
          <a:chExt cx="0" cy="0"/>
        </a:xfrm>
      </p:grpSpPr>
      <p:sp>
        <p:nvSpPr>
          <p:cNvPr id="10" name="Title 9"/>
          <p:cNvSpPr>
            <a:spLocks noGrp="1"/>
          </p:cNvSpPr>
          <p:nvPr>
            <p:ph type="title"/>
          </p:nvPr>
        </p:nvSpPr>
        <p:spPr bwMode="auto"/>
        <p:txBody>
          <a:bodyPr/>
          <a:lstStyle/>
          <a:p>
            <a:pPr>
              <a:defRPr/>
            </a:pPr>
            <a:r>
              <a:rPr lang="ru-RU"/>
              <a:t>Образец заголовка</a:t>
            </a:r>
            <a:endParaRPr lang="en-US"/>
          </a:p>
        </p:txBody>
      </p:sp>
      <p:sp>
        <p:nvSpPr>
          <p:cNvPr id="3" name="Text Placeholder 2"/>
          <p:cNvSpPr>
            <a:spLocks noGrp="1"/>
          </p:cNvSpPr>
          <p:nvPr>
            <p:ph type="body" idx="1"/>
          </p:nvPr>
        </p:nvSpPr>
        <p:spPr bwMode="auto">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4" name="Content Placeholder 3"/>
          <p:cNvSpPr>
            <a:spLocks noGrp="1"/>
          </p:cNvSpPr>
          <p:nvPr>
            <p:ph sz="half" idx="2"/>
          </p:nvPr>
        </p:nvSpPr>
        <p:spPr bwMode="auto">
          <a:xfrm>
            <a:off x="2589212" y="2548966"/>
            <a:ext cx="4342893" cy="3354060"/>
          </a:xfrm>
        </p:spPr>
        <p:txBody>
          <a:bodyPr>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5" name="Text Placeholder 4"/>
          <p:cNvSpPr>
            <a:spLocks noGrp="1"/>
          </p:cNvSpPr>
          <p:nvPr>
            <p:ph type="body" sz="quarter" idx="3"/>
          </p:nvPr>
        </p:nvSpPr>
        <p:spPr bwMode="auto">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6" name="Content Placeholder 5"/>
          <p:cNvSpPr>
            <a:spLocks noGrp="1"/>
          </p:cNvSpPr>
          <p:nvPr>
            <p:ph sz="quarter" idx="4"/>
          </p:nvPr>
        </p:nvSpPr>
        <p:spPr bwMode="auto">
          <a:xfrm>
            <a:off x="7166957" y="2545738"/>
            <a:ext cx="4338674" cy="3354060"/>
          </a:xfrm>
        </p:spPr>
        <p:txBody>
          <a:bodyPr>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7" name="Date Placeholder 6"/>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8" name="Footer Placeholder 7"/>
          <p:cNvSpPr>
            <a:spLocks noGrp="1"/>
          </p:cNvSpPr>
          <p:nvPr>
            <p:ph type="ftr" sz="quarter" idx="11"/>
          </p:nvPr>
        </p:nvSpPr>
        <p:spPr bwMode="auto"/>
        <p:txBody>
          <a:bodyPr/>
          <a:lstStyle/>
          <a:p>
            <a:pPr>
              <a:defRPr/>
            </a:pPr>
            <a:endParaRPr lang="en-US"/>
          </a:p>
        </p:txBody>
      </p:sp>
      <p:sp>
        <p:nvSpPr>
          <p:cNvPr id="12"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bwMode="auto">
          <a:xfrm>
            <a:off x="531812" y="787782"/>
            <a:ext cx="779766" cy="365125"/>
          </a:xfrm>
        </p:spPr>
        <p:txBody>
          <a:bodyPr/>
          <a:lstStyle/>
          <a:p>
            <a:pPr>
              <a:defRPr/>
            </a:pPr>
            <a:fld id="{D57F1E4F-1CFF-5643-939E-217C01CDF565}" type="slidenum">
              <a:rPr lang="en-US"/>
              <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Only" userDrawn="1">
  <p:cSld name="Только заголовок">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ru-RU"/>
              <a:t>Образец заголовка</a:t>
            </a:r>
            <a:endParaRPr lang="en-US"/>
          </a:p>
        </p:txBody>
      </p:sp>
      <p:sp>
        <p:nvSpPr>
          <p:cNvPr id="3" name="Date Placeholder 2"/>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4" name="Footer Placeholder 3"/>
          <p:cNvSpPr>
            <a:spLocks noGrp="1"/>
          </p:cNvSpPr>
          <p:nvPr>
            <p:ph type="ftr" sz="quarter" idx="11"/>
          </p:nvPr>
        </p:nvSpPr>
        <p:spPr bwMode="auto"/>
        <p:txBody>
          <a:bodyPr/>
          <a:lstStyle/>
          <a:p>
            <a:pPr>
              <a:defRPr/>
            </a:pPr>
            <a:endParaRPr lang="en-US"/>
          </a:p>
        </p:txBody>
      </p:sp>
      <p:sp>
        <p:nvSpPr>
          <p:cNvPr id="7"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bwMode="auto"/>
        <p:txBody>
          <a:bodyPr/>
          <a:lstStyle/>
          <a:p>
            <a:pPr>
              <a:defRPr/>
            </a:pPr>
            <a:fld id="{D57F1E4F-1CFF-5643-939E-217C01CDF565}" type="slidenum">
              <a:rPr lang="en-US"/>
              <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blank" userDrawn="1">
  <p:cSld name="Пустой слайд">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3" name="Footer Placeholder 2"/>
          <p:cNvSpPr>
            <a:spLocks noGrp="1"/>
          </p:cNvSpPr>
          <p:nvPr>
            <p:ph type="ftr" sz="quarter" idx="11"/>
          </p:nvPr>
        </p:nvSpPr>
        <p:spPr bwMode="auto"/>
        <p:txBody>
          <a:bodyPr/>
          <a:lstStyle/>
          <a:p>
            <a:pPr>
              <a:defRPr/>
            </a:pPr>
            <a:endParaRPr lang="en-US"/>
          </a:p>
        </p:txBody>
      </p:sp>
      <p:sp>
        <p:nvSpPr>
          <p:cNvPr id="6"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bwMode="auto"/>
        <p:txBody>
          <a:bodyPr/>
          <a:lstStyle/>
          <a:p>
            <a:pPr>
              <a:defRPr/>
            </a:pPr>
            <a:fld id="{D57F1E4F-1CFF-5643-939E-217C01CDF565}" type="slidenum">
              <a:rPr lang="en-US"/>
              <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Tx" userDrawn="1">
  <p:cSld name="Объект с подписью">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89212" y="446088"/>
            <a:ext cx="3505199" cy="976312"/>
          </a:xfrm>
        </p:spPr>
        <p:txBody>
          <a:bodyPr anchor="b"/>
          <a:lstStyle>
            <a:lvl1pPr algn="l">
              <a:defRPr sz="2000" b="0"/>
            </a:lvl1pPr>
          </a:lstStyle>
          <a:p>
            <a:pPr>
              <a:defRPr/>
            </a:pPr>
            <a:r>
              <a:rPr lang="ru-RU"/>
              <a:t>Образец заголовка</a:t>
            </a:r>
            <a:endParaRPr lang="en-US"/>
          </a:p>
        </p:txBody>
      </p:sp>
      <p:sp>
        <p:nvSpPr>
          <p:cNvPr id="3" name="Content Placeholder 2"/>
          <p:cNvSpPr>
            <a:spLocks noGrp="1"/>
          </p:cNvSpPr>
          <p:nvPr>
            <p:ph idx="1"/>
          </p:nvPr>
        </p:nvSpPr>
        <p:spPr bwMode="auto">
          <a:xfrm>
            <a:off x="6323012" y="446088"/>
            <a:ext cx="5181600" cy="5414963"/>
          </a:xfrm>
        </p:spPr>
        <p:txBody>
          <a:bodyPr anchor="ctr">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Text Placeholder 3"/>
          <p:cNvSpPr>
            <a:spLocks noGrp="1"/>
          </p:cNvSpPr>
          <p:nvPr>
            <p:ph type="body" sz="half" idx="2"/>
          </p:nvPr>
        </p:nvSpPr>
        <p:spPr bwMode="auto">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ru-RU"/>
              <a:t>Образец текста</a:t>
            </a:r>
            <a:endParaRPr/>
          </a:p>
        </p:txBody>
      </p:sp>
      <p:sp>
        <p:nvSpPr>
          <p:cNvPr id="5" name="Date Placeholder 4"/>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9"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bwMode="auto"/>
        <p:txBody>
          <a:bodyPr/>
          <a:lstStyle/>
          <a:p>
            <a:pPr>
              <a:defRPr/>
            </a:pPr>
            <a:fld id="{D57F1E4F-1CFF-5643-939E-217C01CDF565}" type="slidenum">
              <a:rPr lang="en-US"/>
              <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picTx" userDrawn="1">
  <p:cSld name="Рисунок с подписью">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89213" y="4800600"/>
            <a:ext cx="8915400" cy="566738"/>
          </a:xfrm>
        </p:spPr>
        <p:txBody>
          <a:bodyPr anchor="b">
            <a:normAutofit/>
          </a:bodyPr>
          <a:lstStyle>
            <a:lvl1pPr algn="l">
              <a:defRPr sz="2400" b="0"/>
            </a:lvl1pPr>
          </a:lstStyle>
          <a:p>
            <a:pPr>
              <a:defRPr/>
            </a:pPr>
            <a:r>
              <a:rPr lang="ru-RU"/>
              <a:t>Образец заголовка</a:t>
            </a:r>
            <a:endParaRPr lang="en-US"/>
          </a:p>
        </p:txBody>
      </p:sp>
      <p:sp>
        <p:nvSpPr>
          <p:cNvPr id="3" name="Picture Placeholder 2"/>
          <p:cNvSpPr>
            <a:spLocks noChangeAspect="1" noGrp="1"/>
          </p:cNvSpPr>
          <p:nvPr>
            <p:ph type="pic" idx="1"/>
          </p:nvPr>
        </p:nvSpPr>
        <p:spPr bwMode="auto">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a:defRPr/>
            </a:pPr>
            <a:r>
              <a:rPr lang="ru-RU"/>
              <a:t>Вставка рисунка</a:t>
            </a:r>
            <a:endParaRPr lang="en-US"/>
          </a:p>
        </p:txBody>
      </p:sp>
      <p:sp>
        <p:nvSpPr>
          <p:cNvPr id="4" name="Text Placeholder 3"/>
          <p:cNvSpPr>
            <a:spLocks noGrp="1"/>
          </p:cNvSpPr>
          <p:nvPr>
            <p:ph type="body" sz="half" idx="2"/>
          </p:nvPr>
        </p:nvSpPr>
        <p:spPr bwMode="auto">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ru-RU"/>
              <a:t>Образец текста</a:t>
            </a:r>
            <a:endParaRPr/>
          </a:p>
        </p:txBody>
      </p:sp>
      <p:sp>
        <p:nvSpPr>
          <p:cNvPr id="5" name="Date Placeholder 4"/>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9" name="Freeform 11"/>
          <p:cNvSpPr/>
          <p:nvPr/>
        </p:nvSpPr>
        <p:spPr bwMode="auto">
          <a:xfrm flipV="1">
            <a:off x="-4189" y="491172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bwMode="auto">
          <a:xfrm>
            <a:off x="531812" y="4983087"/>
            <a:ext cx="779766" cy="365125"/>
          </a:xfrm>
        </p:spPr>
        <p:txBody>
          <a:bodyPr/>
          <a:lstStyle/>
          <a:p>
            <a:pPr>
              <a:defRPr/>
            </a:pPr>
            <a:fld id="{D57F1E4F-1CFF-5643-939E-217C01CDF565}" type="slidenum">
              <a:rPr lang="en-US"/>
              <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Заголовок и подпись">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89212" y="609600"/>
            <a:ext cx="8915399" cy="3117040"/>
          </a:xfrm>
        </p:spPr>
        <p:txBody>
          <a:bodyPr anchor="ctr">
            <a:normAutofit/>
          </a:bodyPr>
          <a:lstStyle>
            <a:lvl1pPr algn="l">
              <a:defRPr sz="4800" b="0" cap="none"/>
            </a:lvl1pPr>
          </a:lstStyle>
          <a:p>
            <a:pPr>
              <a:defRPr/>
            </a:pPr>
            <a:r>
              <a:rPr lang="ru-RU"/>
              <a:t>Образец заголовка</a:t>
            </a:r>
            <a:endParaRPr lang="en-US"/>
          </a:p>
        </p:txBody>
      </p:sp>
      <p:sp>
        <p:nvSpPr>
          <p:cNvPr id="3" name="Text Placeholder 2"/>
          <p:cNvSpPr>
            <a:spLocks noGrp="1"/>
          </p:cNvSpPr>
          <p:nvPr>
            <p:ph type="body" idx="1"/>
          </p:nvPr>
        </p:nvSpPr>
        <p:spPr bwMode="auto">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ru-RU"/>
              <a:t>Образец текста</a:t>
            </a:r>
            <a:endParaRPr/>
          </a:p>
        </p:txBody>
      </p:sp>
      <p:sp>
        <p:nvSpPr>
          <p:cNvPr id="4" name="Date Placeholder 3"/>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9" name="Freeform 11"/>
          <p:cNvSpPr/>
          <p:nvPr/>
        </p:nvSpPr>
        <p:spPr bwMode="auto">
          <a:xfrm flipV="1">
            <a:off x="-4189" y="31781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bwMode="auto">
          <a:xfrm>
            <a:off x="531812" y="3244139"/>
            <a:ext cx="779766" cy="365125"/>
          </a:xfrm>
        </p:spPr>
        <p:txBody>
          <a:bodyPr/>
          <a:lstStyle/>
          <a:p>
            <a:pPr>
              <a:defRPr/>
            </a:pPr>
            <a:fld id="{D57F1E4F-1CFF-5643-939E-217C01CDF565}" type="slidenum">
              <a:rPr lang="en-US"/>
              <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Цитата с подписью">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849949" y="609600"/>
            <a:ext cx="8393926" cy="2895600"/>
          </a:xfrm>
        </p:spPr>
        <p:txBody>
          <a:bodyPr anchor="ctr">
            <a:normAutofit/>
          </a:bodyPr>
          <a:lstStyle>
            <a:lvl1pPr algn="l">
              <a:defRPr sz="4800" b="0" cap="none"/>
            </a:lvl1pPr>
          </a:lstStyle>
          <a:p>
            <a:pPr>
              <a:defRPr/>
            </a:pPr>
            <a:r>
              <a:rPr lang="ru-RU"/>
              <a:t>Образец заголовка</a:t>
            </a:r>
            <a:endParaRPr lang="en-US"/>
          </a:p>
        </p:txBody>
      </p:sp>
      <p:sp>
        <p:nvSpPr>
          <p:cNvPr id="13" name="Text Placeholder 9"/>
          <p:cNvSpPr>
            <a:spLocks noGrp="1"/>
          </p:cNvSpPr>
          <p:nvPr>
            <p:ph type="body" sz="quarter" idx="13"/>
          </p:nvPr>
        </p:nvSpPr>
        <p:spPr bwMode="auto">
          <a:xfrm>
            <a:off x="3275012" y="3505199"/>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ru-RU"/>
              <a:t>Образец текста</a:t>
            </a:r>
            <a:endParaRPr/>
          </a:p>
        </p:txBody>
      </p:sp>
      <p:sp>
        <p:nvSpPr>
          <p:cNvPr id="3" name="Text Placeholder 2"/>
          <p:cNvSpPr>
            <a:spLocks noGrp="1"/>
          </p:cNvSpPr>
          <p:nvPr>
            <p:ph type="body" idx="1"/>
          </p:nvPr>
        </p:nvSpPr>
        <p:spPr bwMode="auto">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ru-RU"/>
              <a:t>Образец текста</a:t>
            </a:r>
            <a:endParaRPr/>
          </a:p>
        </p:txBody>
      </p:sp>
      <p:sp>
        <p:nvSpPr>
          <p:cNvPr id="4" name="Date Placeholder 3"/>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11" name="Freeform 11"/>
          <p:cNvSpPr/>
          <p:nvPr/>
        </p:nvSpPr>
        <p:spPr bwMode="auto">
          <a:xfrm flipV="1">
            <a:off x="-4189" y="31781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bwMode="auto">
          <a:xfrm>
            <a:off x="531812" y="3244139"/>
            <a:ext cx="779766" cy="365125"/>
          </a:xfrm>
        </p:spPr>
        <p:txBody>
          <a:bodyPr/>
          <a:lstStyle/>
          <a:p>
            <a:pPr>
              <a:defRPr/>
            </a:pPr>
            <a:fld id="{D57F1E4F-1CFF-5643-939E-217C01CDF565}" type="slidenum">
              <a:rPr lang="en-US"/>
              <a:t/>
            </a:fld>
            <a:endParaRPr lang="en-US"/>
          </a:p>
        </p:txBody>
      </p:sp>
      <p:sp>
        <p:nvSpPr>
          <p:cNvPr id="14" name="TextBox 13"/>
          <p:cNvSpPr txBox="1"/>
          <p:nvPr/>
        </p:nvSpPr>
        <p:spPr bwMode="auto">
          <a:xfrm>
            <a:off x="2467651" y="648005"/>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solidFill>
                <a:latin typeface="Arial"/>
              </a:rPr>
              <a:t>“</a:t>
            </a:r>
            <a:endParaRPr/>
          </a:p>
        </p:txBody>
      </p:sp>
      <p:sp>
        <p:nvSpPr>
          <p:cNvPr id="15" name="TextBox 14"/>
          <p:cNvSpPr txBox="1"/>
          <p:nvPr/>
        </p:nvSpPr>
        <p:spPr bwMode="auto">
          <a:xfrm>
            <a:off x="11114852" y="2905306"/>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solidFill>
                <a:latin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Карточка имени">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89213" y="2438400"/>
            <a:ext cx="8915400" cy="2724845"/>
          </a:xfrm>
        </p:spPr>
        <p:txBody>
          <a:bodyPr anchor="b">
            <a:normAutofit/>
          </a:bodyPr>
          <a:lstStyle>
            <a:lvl1pPr algn="l">
              <a:defRPr sz="4800" b="0"/>
            </a:lvl1pPr>
          </a:lstStyle>
          <a:p>
            <a:pPr>
              <a:defRPr/>
            </a:pPr>
            <a:r>
              <a:rPr lang="ru-RU"/>
              <a:t>Образец заголовка</a:t>
            </a:r>
            <a:endParaRPr lang="en-US"/>
          </a:p>
        </p:txBody>
      </p:sp>
      <p:sp>
        <p:nvSpPr>
          <p:cNvPr id="4" name="Text Placeholder 3"/>
          <p:cNvSpPr>
            <a:spLocks noGrp="1"/>
          </p:cNvSpPr>
          <p:nvPr>
            <p:ph type="body" sz="half" idx="2"/>
          </p:nvPr>
        </p:nvSpPr>
        <p:spPr bwMode="auto">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defRPr/>
            </a:pPr>
            <a:r>
              <a:rPr lang="ru-RU"/>
              <a:t>Образец текста</a:t>
            </a:r>
            <a:endParaRPr/>
          </a:p>
        </p:txBody>
      </p:sp>
      <p:sp>
        <p:nvSpPr>
          <p:cNvPr id="5" name="Date Placeholder 4"/>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9" name="Freeform 11"/>
          <p:cNvSpPr/>
          <p:nvPr/>
        </p:nvSpPr>
        <p:spPr bwMode="auto">
          <a:xfrm flipV="1">
            <a:off x="-4189" y="491172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bwMode="auto">
          <a:xfrm>
            <a:off x="531812" y="4983087"/>
            <a:ext cx="779766" cy="365125"/>
          </a:xfrm>
        </p:spPr>
        <p:txBody>
          <a:bodyPr/>
          <a:lstStyle/>
          <a:p>
            <a:pPr>
              <a:defRPr/>
            </a:pPr>
            <a:fld id="{D57F1E4F-1CFF-5643-939E-217C01CDF565}" type="slidenum">
              <a:rPr lang="en-US"/>
              <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Цитата карточки имени">
    <p:spTree>
      <p:nvGrpSpPr>
        <p:cNvPr id="1" name=""/>
        <p:cNvGrpSpPr/>
        <p:nvPr/>
      </p:nvGrpSpPr>
      <p:grpSpPr bwMode="auto">
        <a:xfrm>
          <a:off x="0" y="0"/>
          <a:ext cx="0" cy="0"/>
          <a:chOff x="0" y="0"/>
          <a:chExt cx="0" cy="0"/>
        </a:xfrm>
      </p:grpSpPr>
      <p:sp>
        <p:nvSpPr>
          <p:cNvPr id="12" name="Title 1"/>
          <p:cNvSpPr>
            <a:spLocks noGrp="1"/>
          </p:cNvSpPr>
          <p:nvPr>
            <p:ph type="title"/>
          </p:nvPr>
        </p:nvSpPr>
        <p:spPr bwMode="auto">
          <a:xfrm>
            <a:off x="2849949" y="609600"/>
            <a:ext cx="8393926" cy="2895600"/>
          </a:xfrm>
        </p:spPr>
        <p:txBody>
          <a:bodyPr anchor="ctr">
            <a:normAutofit/>
          </a:bodyPr>
          <a:lstStyle>
            <a:lvl1pPr algn="l">
              <a:defRPr sz="4800" b="0" cap="none"/>
            </a:lvl1pPr>
          </a:lstStyle>
          <a:p>
            <a:pPr>
              <a:defRPr/>
            </a:pPr>
            <a:r>
              <a:rPr lang="ru-RU"/>
              <a:t>Образец заголовка</a:t>
            </a:r>
            <a:endParaRPr lang="en-US"/>
          </a:p>
        </p:txBody>
      </p:sp>
      <p:sp>
        <p:nvSpPr>
          <p:cNvPr id="21" name="Text Placeholder 9"/>
          <p:cNvSpPr>
            <a:spLocks noGrp="1"/>
          </p:cNvSpPr>
          <p:nvPr>
            <p:ph type="body" sz="quarter" idx="13"/>
          </p:nvPr>
        </p:nvSpPr>
        <p:spPr bwMode="auto">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ru-RU"/>
              <a:t>Образец текста</a:t>
            </a:r>
            <a:endParaRPr/>
          </a:p>
        </p:txBody>
      </p:sp>
      <p:sp>
        <p:nvSpPr>
          <p:cNvPr id="4" name="Text Placeholder 3"/>
          <p:cNvSpPr>
            <a:spLocks noGrp="1"/>
          </p:cNvSpPr>
          <p:nvPr>
            <p:ph type="body" sz="half" idx="2"/>
          </p:nvPr>
        </p:nvSpPr>
        <p:spPr bwMode="auto">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defRPr/>
            </a:pPr>
            <a:r>
              <a:rPr lang="ru-RU"/>
              <a:t>Образец текста</a:t>
            </a:r>
            <a:endParaRPr/>
          </a:p>
        </p:txBody>
      </p:sp>
      <p:sp>
        <p:nvSpPr>
          <p:cNvPr id="5" name="Date Placeholder 4"/>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11" name="Freeform 11"/>
          <p:cNvSpPr/>
          <p:nvPr/>
        </p:nvSpPr>
        <p:spPr bwMode="auto">
          <a:xfrm flipV="1">
            <a:off x="-4189" y="491172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bwMode="auto">
          <a:xfrm>
            <a:off x="531812" y="4983087"/>
            <a:ext cx="779766" cy="365125"/>
          </a:xfrm>
        </p:spPr>
        <p:txBody>
          <a:bodyPr/>
          <a:lstStyle/>
          <a:p>
            <a:pPr>
              <a:defRPr/>
            </a:pPr>
            <a:fld id="{D57F1E4F-1CFF-5643-939E-217C01CDF565}" type="slidenum">
              <a:rPr lang="en-US"/>
              <a:t/>
            </a:fld>
            <a:endParaRPr lang="en-US"/>
          </a:p>
        </p:txBody>
      </p:sp>
      <p:sp>
        <p:nvSpPr>
          <p:cNvPr id="17" name="TextBox 16"/>
          <p:cNvSpPr txBox="1"/>
          <p:nvPr/>
        </p:nvSpPr>
        <p:spPr bwMode="auto">
          <a:xfrm>
            <a:off x="2467651" y="648005"/>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solidFill>
                <a:latin typeface="Arial"/>
              </a:rPr>
              <a:t>“</a:t>
            </a:r>
            <a:endParaRPr/>
          </a:p>
        </p:txBody>
      </p:sp>
      <p:sp>
        <p:nvSpPr>
          <p:cNvPr id="18" name="TextBox 17"/>
          <p:cNvSpPr txBox="1"/>
          <p:nvPr/>
        </p:nvSpPr>
        <p:spPr bwMode="auto">
          <a:xfrm>
            <a:off x="11114852" y="2905306"/>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solidFill>
                <a:latin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Истина или ложь">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89212" y="627407"/>
            <a:ext cx="8915399" cy="2880020"/>
          </a:xfrm>
        </p:spPr>
        <p:txBody>
          <a:bodyPr anchor="ctr">
            <a:normAutofit/>
          </a:bodyPr>
          <a:lstStyle>
            <a:lvl1pPr algn="l">
              <a:defRPr sz="4800" b="0"/>
            </a:lvl1pPr>
          </a:lstStyle>
          <a:p>
            <a:pPr>
              <a:defRPr/>
            </a:pPr>
            <a:r>
              <a:rPr lang="ru-RU"/>
              <a:t>Образец заголовка</a:t>
            </a:r>
            <a:endParaRPr lang="en-US"/>
          </a:p>
        </p:txBody>
      </p:sp>
      <p:sp>
        <p:nvSpPr>
          <p:cNvPr id="21" name="Text Placeholder 9"/>
          <p:cNvSpPr>
            <a:spLocks noGrp="1"/>
          </p:cNvSpPr>
          <p:nvPr>
            <p:ph type="body" sz="quarter" idx="13"/>
          </p:nvPr>
        </p:nvSpPr>
        <p:spPr bwMode="auto">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ru-RU"/>
              <a:t>Образец текста</a:t>
            </a:r>
            <a:endParaRPr/>
          </a:p>
        </p:txBody>
      </p:sp>
      <p:sp>
        <p:nvSpPr>
          <p:cNvPr id="4" name="Text Placeholder 3"/>
          <p:cNvSpPr>
            <a:spLocks noGrp="1"/>
          </p:cNvSpPr>
          <p:nvPr>
            <p:ph type="body" sz="half" idx="2"/>
          </p:nvPr>
        </p:nvSpPr>
        <p:spPr bwMode="auto">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defRPr/>
            </a:pPr>
            <a:r>
              <a:rPr lang="ru-RU"/>
              <a:t>Образец текста</a:t>
            </a:r>
            <a:endParaRPr/>
          </a:p>
        </p:txBody>
      </p:sp>
      <p:sp>
        <p:nvSpPr>
          <p:cNvPr id="5" name="Date Placeholder 4"/>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9" name="Freeform 11"/>
          <p:cNvSpPr/>
          <p:nvPr/>
        </p:nvSpPr>
        <p:spPr bwMode="auto">
          <a:xfrm flipV="1">
            <a:off x="-4189" y="491172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bwMode="auto">
          <a:xfrm>
            <a:off x="531812" y="4983087"/>
            <a:ext cx="779766" cy="365125"/>
          </a:xfrm>
        </p:spPr>
        <p:txBody>
          <a:bodyPr/>
          <a:lstStyle/>
          <a:p>
            <a:pPr>
              <a:defRPr/>
            </a:pPr>
            <a:fld id="{D57F1E4F-1CFF-5643-939E-217C01CDF565}" type="slidenum">
              <a:rPr lang="en-US"/>
              <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x" userDrawn="1">
  <p:cSld name="Заголовок и вертикальный текст">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ru-RU"/>
              <a:t>Образец заголовка</a:t>
            </a:r>
            <a:endParaRPr lang="en-US"/>
          </a:p>
        </p:txBody>
      </p:sp>
      <p:sp>
        <p:nvSpPr>
          <p:cNvPr id="3" name="Vertical Text Placeholder 2"/>
          <p:cNvSpPr>
            <a:spLocks noGrp="1"/>
          </p:cNvSpPr>
          <p:nvPr>
            <p:ph type="body" orient="vert" idx="1"/>
          </p:nvPr>
        </p:nvSpPr>
        <p:spPr bwMode="auto"/>
        <p:txBody>
          <a:bodyPr vert="eaVert" ancho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8"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bwMode="auto"/>
        <p:txBody>
          <a:bodyPr/>
          <a:lstStyle/>
          <a:p>
            <a:pPr>
              <a:defRPr/>
            </a:pPr>
            <a:fld id="{D57F1E4F-1CFF-5643-939E-217C01CDF565}" type="slidenum">
              <a:rPr lang="en-US"/>
              <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itleAndTx" userDrawn="1">
  <p:cSld name="Вертикальный заголовок и текст">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9294812" y="627405"/>
            <a:ext cx="2207601" cy="5283817"/>
          </a:xfrm>
        </p:spPr>
        <p:txBody>
          <a:bodyPr vert="eaVert" anchor="ctr"/>
          <a:lstStyle/>
          <a:p>
            <a:pPr>
              <a:defRPr/>
            </a:pPr>
            <a:r>
              <a:rPr lang="ru-RU"/>
              <a:t>Образец заголовка</a:t>
            </a:r>
            <a:endParaRPr lang="en-US"/>
          </a:p>
        </p:txBody>
      </p:sp>
      <p:sp>
        <p:nvSpPr>
          <p:cNvPr id="3" name="Vertical Text Placeholder 2"/>
          <p:cNvSpPr>
            <a:spLocks noGrp="1"/>
          </p:cNvSpPr>
          <p:nvPr>
            <p:ph type="body" orient="vert" idx="1"/>
          </p:nvPr>
        </p:nvSpPr>
        <p:spPr bwMode="auto">
          <a:xfrm>
            <a:off x="2589212" y="627405"/>
            <a:ext cx="6477000" cy="5283817"/>
          </a:xfrm>
        </p:spPr>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10"/>
          </p:nvPr>
        </p:nvSpPr>
        <p:spPr bwMode="auto"/>
        <p:txBody>
          <a:bodyPr/>
          <a:lstStyle/>
          <a:p>
            <a:pPr>
              <a:defRPr/>
            </a:pPr>
            <a:fld id="{B61BEF0D-F0BB-DE4B-95CE-6DB70DBA9567}" type="datetimeFigureOut">
              <a:rPr lang="en-US"/>
              <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8"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bwMode="auto"/>
        <p:txBody>
          <a:bodyPr/>
          <a:lstStyle/>
          <a:p>
            <a:pPr>
              <a:defRPr/>
            </a:pPr>
            <a:fld id="{D57F1E4F-1CFF-5643-939E-217C01CDF565}" type="slidenum">
              <a:rPr lang="en-US"/>
              <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3">
        <a:schemeClr val="bg2"/>
      </p:bgRef>
    </p:bg>
    <p:spTree>
      <p:nvGrpSpPr>
        <p:cNvPr id="1" name=""/>
        <p:cNvGrpSpPr/>
        <p:nvPr/>
      </p:nvGrpSpPr>
      <p:grpSpPr bwMode="auto">
        <a:xfrm>
          <a:off x="0" y="0"/>
          <a:ext cx="0" cy="0"/>
          <a:chOff x="0" y="0"/>
          <a:chExt cx="0" cy="0"/>
        </a:xfrm>
      </p:grpSpPr>
      <p:grpSp>
        <p:nvGrpSpPr>
          <p:cNvPr id="23" name="Group 22"/>
          <p:cNvGrpSpPr/>
          <p:nvPr/>
        </p:nvGrpSpPr>
        <p:grpSpPr bwMode="auto">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fill="norm" stroke="1"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fill="norm" stroke="1"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fill="norm" stroke="1"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fill="norm" stroke="1" extrusionOk="0">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fill="norm" stroke="1"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fill="norm" stroke="1"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fill="norm" stroke="1"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fill="norm" stroke="1"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fill="norm" stroke="1"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fill="norm" stroke="1" extrusionOk="0">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fill="norm" stroke="1"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fill="norm" stroke="1"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bwMode="auto">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fill="norm" stroke="1"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fill="norm" stroke="1"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fill="norm" stroke="1"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fill="norm" stroke="1"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fill="norm" stroke="1"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fill="norm" stroke="1" extrusionOk="0">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fill="norm" stroke="1"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fill="norm" stroke="1"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fill="norm" stroke="1" extrusionOk="0">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fill="norm" stroke="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fill="norm" stroke="1"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fill="norm" stroke="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bwMode="auto">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bwMode="auto">
          <a:xfrm>
            <a:off x="2592924" y="624110"/>
            <a:ext cx="8911687" cy="1280890"/>
          </a:xfrm>
          <a:prstGeom prst="rect">
            <a:avLst/>
          </a:prstGeom>
        </p:spPr>
        <p:txBody>
          <a:bodyPr vert="horz" lIns="91440" tIns="45720" rIns="91440" bIns="45720" rtlCol="0" anchor="t">
            <a:normAutofit/>
          </a:bodyPr>
          <a:lstStyle/>
          <a:p>
            <a:pPr>
              <a:defRPr/>
            </a:pPr>
            <a:r>
              <a:rPr lang="ru-RU"/>
              <a:t>Образец заголовка</a:t>
            </a:r>
            <a:endParaRPr lang="en-US"/>
          </a:p>
        </p:txBody>
      </p:sp>
      <p:sp>
        <p:nvSpPr>
          <p:cNvPr id="3" name="Text Placeholder 2"/>
          <p:cNvSpPr>
            <a:spLocks noGrp="1"/>
          </p:cNvSpPr>
          <p:nvPr>
            <p:ph type="body" idx="1"/>
          </p:nvPr>
        </p:nvSpPr>
        <p:spPr bwMode="auto">
          <a:xfrm>
            <a:off x="2589212" y="2133600"/>
            <a:ext cx="8915400" cy="3886200"/>
          </a:xfrm>
          <a:prstGeom prst="rect">
            <a:avLst/>
          </a:prstGeom>
        </p:spPr>
        <p:txBody>
          <a:bodyPr vert="horz" lIns="91440" tIns="45720" rIns="91440" bIns="45720" rtlCol="0">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2"/>
          </p:nvPr>
        </p:nvSpPr>
        <p:spPr bwMode="auto">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B61BEF0D-F0BB-DE4B-95CE-6DB70DBA9567}" type="datetimeFigureOut">
              <a:rPr lang="en-US"/>
              <a:t/>
            </a:fld>
            <a:endParaRPr lang="en-US"/>
          </a:p>
        </p:txBody>
      </p:sp>
      <p:sp>
        <p:nvSpPr>
          <p:cNvPr id="5" name="Footer Placeholder 4"/>
          <p:cNvSpPr>
            <a:spLocks noGrp="1"/>
          </p:cNvSpPr>
          <p:nvPr>
            <p:ph type="ftr" sz="quarter" idx="3"/>
          </p:nvPr>
        </p:nvSpPr>
        <p:spPr bwMode="auto">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bwMode="gray">
          <a:xfrm>
            <a:off x="531812" y="787782"/>
            <a:ext cx="779766" cy="365125"/>
          </a:xfrm>
          <a:prstGeom prst="rect">
            <a:avLst/>
          </a:prstGeom>
        </p:spPr>
        <p:txBody>
          <a:bodyPr vert="horz" lIns="91440" tIns="45720" rIns="91440" bIns="45720" rtlCol="0" anchor="ctr"/>
          <a:lstStyle>
            <a:lvl1pPr algn="r">
              <a:defRPr sz="2000">
                <a:solidFill>
                  <a:srgbClr val="FEFFFF"/>
                </a:solidFill>
              </a:defRPr>
            </a:lvl1pPr>
          </a:lstStyle>
          <a:p>
            <a:pPr>
              <a:defRPr/>
            </a:pPr>
            <a:fld id="{D57F1E4F-1CFF-5643-939E-217C01CDF565}" type="slidenum">
              <a:rPr lang="en-US"/>
              <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a:spcBef>
          <a:spcPts val="0"/>
        </a:spcBef>
        <a:buNone/>
        <a:defRPr sz="3600">
          <a:solidFill>
            <a:schemeClr val="tx1">
              <a:lumMod val="85000"/>
              <a:lumOff val="1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p:titleStyle>
    <p:bodyStyle>
      <a:lvl1pPr marL="342900" indent="-342900" algn="l" defTabSz="457200">
        <a:spcBef>
          <a:spcPts val="1000"/>
        </a:spcBef>
        <a:spcAft>
          <a:spcPts val="0"/>
        </a:spcAft>
        <a:buClr>
          <a:schemeClr val="accent1"/>
        </a:buClr>
        <a:buFont typeface="Wingdings 3"/>
        <a:buChar char=""/>
        <a:defRPr sz="1800">
          <a:solidFill>
            <a:schemeClr val="tx1">
              <a:lumMod val="75000"/>
              <a:lumOff val="25000"/>
            </a:schemeClr>
          </a:solidFill>
          <a:latin typeface="+mn-lt"/>
          <a:ea typeface="+mn-ea"/>
          <a:cs typeface="+mn-cs"/>
        </a:defRPr>
      </a:lvl1pPr>
      <a:lvl2pPr marL="742950" indent="-285750" algn="l" defTabSz="457200">
        <a:spcBef>
          <a:spcPts val="1000"/>
        </a:spcBef>
        <a:spcAft>
          <a:spcPts val="0"/>
        </a:spcAft>
        <a:buClr>
          <a:schemeClr val="accent1"/>
        </a:buClr>
        <a:buFont typeface="Wingdings 3"/>
        <a:buChar char=""/>
        <a:defRPr sz="1600">
          <a:solidFill>
            <a:schemeClr val="tx1">
              <a:lumMod val="75000"/>
              <a:lumOff val="25000"/>
            </a:schemeClr>
          </a:solidFill>
          <a:latin typeface="+mn-lt"/>
          <a:ea typeface="+mn-ea"/>
          <a:cs typeface="+mn-cs"/>
        </a:defRPr>
      </a:lvl2pPr>
      <a:lvl3pPr marL="1143000" indent="-228600" algn="l" defTabSz="457200">
        <a:spcBef>
          <a:spcPts val="1000"/>
        </a:spcBef>
        <a:spcAft>
          <a:spcPts val="0"/>
        </a:spcAft>
        <a:buClr>
          <a:schemeClr val="accent1"/>
        </a:buClr>
        <a:buFont typeface="Wingdings 3"/>
        <a:buChar char=""/>
        <a:defRPr sz="1400">
          <a:solidFill>
            <a:schemeClr val="tx1">
              <a:lumMod val="75000"/>
              <a:lumOff val="25000"/>
            </a:schemeClr>
          </a:solidFill>
          <a:latin typeface="+mn-lt"/>
          <a:ea typeface="+mn-ea"/>
          <a:cs typeface="+mn-cs"/>
        </a:defRPr>
      </a:lvl3pPr>
      <a:lvl4pPr marL="1600200" indent="-228600" algn="l" defTabSz="457200">
        <a:spcBef>
          <a:spcPts val="1000"/>
        </a:spcBef>
        <a:spcAft>
          <a:spcPts val="0"/>
        </a:spcAft>
        <a:buClr>
          <a:schemeClr val="accent1"/>
        </a:buClr>
        <a:buFont typeface="Wingdings 3"/>
        <a:buChar char=""/>
        <a:defRPr sz="1200">
          <a:solidFill>
            <a:schemeClr val="tx1">
              <a:lumMod val="75000"/>
              <a:lumOff val="25000"/>
            </a:schemeClr>
          </a:solidFill>
          <a:latin typeface="+mn-lt"/>
          <a:ea typeface="+mn-ea"/>
          <a:cs typeface="+mn-cs"/>
        </a:defRPr>
      </a:lvl4pPr>
      <a:lvl5pPr marL="2057400" indent="-228600" algn="l" defTabSz="457200">
        <a:spcBef>
          <a:spcPts val="1000"/>
        </a:spcBef>
        <a:spcAft>
          <a:spcPts val="0"/>
        </a:spcAft>
        <a:buClr>
          <a:schemeClr val="accent1"/>
        </a:buClr>
        <a:buFont typeface="Wingdings 3"/>
        <a:buChar char=""/>
        <a:defRPr sz="1200">
          <a:solidFill>
            <a:schemeClr val="tx1">
              <a:lumMod val="75000"/>
              <a:lumOff val="25000"/>
            </a:schemeClr>
          </a:solidFill>
          <a:latin typeface="+mn-lt"/>
          <a:ea typeface="+mn-ea"/>
          <a:cs typeface="+mn-cs"/>
        </a:defRPr>
      </a:lvl5pPr>
      <a:lvl6pPr marL="2514600" indent="-228600" algn="l" defTabSz="457200">
        <a:spcBef>
          <a:spcPts val="1000"/>
        </a:spcBef>
        <a:spcAft>
          <a:spcPts val="0"/>
        </a:spcAft>
        <a:buClr>
          <a:schemeClr val="accent1"/>
        </a:buClr>
        <a:buFont typeface="Wingdings 3"/>
        <a:buChar char=""/>
        <a:defRPr sz="1200">
          <a:solidFill>
            <a:schemeClr val="tx1">
              <a:lumMod val="75000"/>
              <a:lumOff val="25000"/>
            </a:schemeClr>
          </a:solidFill>
          <a:latin typeface="+mn-lt"/>
          <a:ea typeface="+mn-ea"/>
          <a:cs typeface="+mn-cs"/>
        </a:defRPr>
      </a:lvl6pPr>
      <a:lvl7pPr marL="2971800" indent="-228600" algn="l" defTabSz="457200">
        <a:spcBef>
          <a:spcPts val="1000"/>
        </a:spcBef>
        <a:spcAft>
          <a:spcPts val="0"/>
        </a:spcAft>
        <a:buClr>
          <a:schemeClr val="accent1"/>
        </a:buClr>
        <a:buFont typeface="Wingdings 3"/>
        <a:buChar char=""/>
        <a:defRPr sz="1200">
          <a:solidFill>
            <a:schemeClr val="tx1">
              <a:lumMod val="75000"/>
              <a:lumOff val="25000"/>
            </a:schemeClr>
          </a:solidFill>
          <a:latin typeface="+mn-lt"/>
          <a:ea typeface="+mn-ea"/>
          <a:cs typeface="+mn-cs"/>
        </a:defRPr>
      </a:lvl7pPr>
      <a:lvl8pPr marL="3429000" indent="-228600" algn="l" defTabSz="457200">
        <a:spcBef>
          <a:spcPts val="1000"/>
        </a:spcBef>
        <a:spcAft>
          <a:spcPts val="0"/>
        </a:spcAft>
        <a:buClr>
          <a:schemeClr val="accent1"/>
        </a:buClr>
        <a:buFont typeface="Wingdings 3"/>
        <a:buChar char=""/>
        <a:defRPr sz="1200">
          <a:solidFill>
            <a:schemeClr val="tx1">
              <a:lumMod val="75000"/>
              <a:lumOff val="25000"/>
            </a:schemeClr>
          </a:solidFill>
          <a:latin typeface="+mn-lt"/>
          <a:ea typeface="+mn-ea"/>
          <a:cs typeface="+mn-cs"/>
        </a:defRPr>
      </a:lvl8pPr>
      <a:lvl9pPr marL="3886200" indent="-228600" algn="l" defTabSz="457200">
        <a:spcBef>
          <a:spcPts val="1000"/>
        </a:spcBef>
        <a:spcAft>
          <a:spcPts val="0"/>
        </a:spcAft>
        <a:buClr>
          <a:schemeClr val="accent1"/>
        </a:buClr>
        <a:buFont typeface="Wingdings 3"/>
        <a:buChar char=""/>
        <a:defRPr sz="1200">
          <a:solidFill>
            <a:schemeClr val="tx1">
              <a:lumMod val="75000"/>
              <a:lumOff val="25000"/>
            </a:schemeClr>
          </a:solidFill>
          <a:latin typeface="+mn-lt"/>
          <a:ea typeface="+mn-ea"/>
          <a:cs typeface="+mn-cs"/>
        </a:defRPr>
      </a:lvl9pPr>
    </p:bodyStyle>
    <p:other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vladislaveremeev.gitbook.io/qa_bible/testirovanie-v-raznykh-sferakh-oblastyakh-testing-different-domains/testirovanie-veb-saita-ili-veb-prilozheniya-web-application" TargetMode="External"/><Relationship Id="rId3" Type="http://schemas.openxmlformats.org/officeDocument/2006/relationships/hyperlink" Target="https://www.sportmaster.ru/" TargetMode="External"/><Relationship Id="rId4" Type="http://schemas.openxmlformats.org/officeDocument/2006/relationships/hyperlink" Target="https://kubsu.ru/" TargetMode="Externa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upport.google.com/analytics/topic/14089939?hl=ru-RU&amp;ref_topic=14090456" TargetMode="External"/><Relationship Id="rId3" Type="http://schemas.openxmlformats.org/officeDocument/2006/relationships/hyperlink" Target="https://timeweb.com/ru/community/articles/google-analytics-dlya-nachinayushchih" TargetMode="External"/><Relationship Id="rId4" Type="http://schemas.openxmlformats.org/officeDocument/2006/relationships/hyperlink" Target="https://support.google.com/analytics/answer/12002338?hl=ru&amp;ref_topic=14598735#install&amp;zippy=%2C%D0%BA%D0%B0%D0%BA-%D0%BD%D0%B0%D1%81%D1%82%D1%80%D0%BE%D0%B8%D1%82%D1%8C-%D1%82%D0%B5%D0%B3-google-%D0%B2-google-%D0%B0%D0%BD%D0%B0%D0%BB%D0%B8%D1%82%D0%B8%D0%BA%D0%B5" TargetMode="External"/><Relationship Id="rId5" Type="http://schemas.openxmlformats.org/officeDocument/2006/relationships/hyperlink" Target="https://developers.google.com/tag-platform/gtagjs/configure?hl=ru" TargetMode="External"/><Relationship Id="rId6" Type="http://schemas.openxmlformats.org/officeDocument/2006/relationships/hyperlink" Target="https://chromewebstore.google.com/detail/jmekfmbnaedfebfnmakmokmlfpblbfdm" TargetMode="External"/><Relationship Id="rId7" Type="http://schemas.openxmlformats.org/officeDocument/2006/relationships/hyperlink" Target="https://habr.com/ru/companies/ozontech/articles/592295" TargetMode="Externa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upport.google.com/analytics/answer/6367342" TargetMode="External"/><Relationship Id="rId3" Type="http://schemas.openxmlformats.org/officeDocument/2006/relationships/hyperlink" Target="https://support.google.com/analytics/answer/10253796" TargetMode="External"/><Relationship Id="rId4" Type="http://schemas.openxmlformats.org/officeDocument/2006/relationships/hyperlink" Target="https://analytics.google.com/analytics/web/?utm_source=demoaccount&amp;utm_medium=demoaccount&amp;utm_campaign=demoaccount#/p213025502/reports/intelligenthome" TargetMode="External"/><Relationship Id="rId5" Type="http://schemas.openxmlformats.org/officeDocument/2006/relationships/hyperlink" Target="https://analytics.google.com/analytics/web/?utm_source=demoaccount&amp;utm_medium=demoaccount&amp;utm_campaign=demoaccount#/p153293282/reports/intelligenthome" TargetMode="External"/><Relationship Id="rId6" Type="http://schemas.openxmlformats.org/officeDocument/2006/relationships/hyperlink" Target="https://analytics.google.com/analytics/web/?utm_source=demoaccount&amp;utm_medium=demoaccount&amp;utm_campaign=demoaccount#/report/visitors-overview/a54516992w87479473p92320289/" TargetMode="Externa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elp-ru.tilda.cc/statistics/google-analytics" TargetMode="External"/><Relationship Id="rId3" Type="http://schemas.openxmlformats.org/officeDocument/2006/relationships/hyperlink" Target="https://skillbox.ru/media/marketing/gaydvvedenie-v-google-analytics-4-kak-nastroit-servis-i-rabotat-s-otchyetami" TargetMode="External"/><Relationship Id="rId4" Type="http://schemas.openxmlformats.org/officeDocument/2006/relationships/hyperlink" Target="https://osipenkov.ru/add-google-analytics-4" TargetMode="External"/><Relationship Id="rId5" Type="http://schemas.openxmlformats.org/officeDocument/2006/relationships/hyperlink" Target="https://youtu.be/3bDRngxxZ3o" TargetMode="Externa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tproger.ru/translations/unit-testing-in-javascript" TargetMode="External"/><Relationship Id="rId3" Type="http://schemas.openxmlformats.org/officeDocument/2006/relationships/hyperlink" Target="https://help-ru.roistat.com/features/Split-testirovanie/test_js" TargetMode="Externa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killbox.ru/media/code/chto-takoe-http-i-zachem-on-nuzhen/?utm_source=media&amp;utm_medium=link&amp;utm_campaign=all_all_media_links_links_articles_all_all_skillbox" TargetMode="Externa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killbox.ru/media/code/rest-api-chto-eto-takoe-i-kak-rabotaet" TargetMode="Externa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lbrusboot.camp/blog/soap-api" TargetMode="Externa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hyperlink" Target="https://systems.education/soap-integration" TargetMode="Externa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ystems.education/soap-integration" TargetMode="External"/><Relationship Id="rId3" Type="http://schemas.openxmlformats.org/officeDocument/2006/relationships/image" Target="../media/image4.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ystems.education/soap-integration" TargetMode="Externa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localhost/server1" TargetMode="External"/><Relationship Id="rId3" Type="http://schemas.openxmlformats.org/officeDocument/2006/relationships/hyperlink" Target="https://systems.education/soap-integration" TargetMode="Externa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ppmaster.io/ru/glossary/spetsifikatsiia-api" TargetMode="Externa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log.skillfactory.ru/glossary/api/" TargetMode="External"/><Relationship Id="rId3" Type="http://schemas.openxmlformats.org/officeDocument/2006/relationships/hyperlink" Target="https://blog.skillfactory.ru/glossary/swagger" TargetMode="External"/><Relationship Id="rId4" Type="http://schemas.openxmlformats.org/officeDocument/2006/relationships/hyperlink" Target="https://habr.com/ru/articles/541592" TargetMode="Externa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log.skillfactory.ru/glossary/json" TargetMode="External"/><Relationship Id="rId3" Type="http://schemas.openxmlformats.org/officeDocument/2006/relationships/hyperlink" Target="https://jsonformatter.curiousconcept.com/" TargetMode="Externa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abr.com/ru/articles/524288" TargetMode="Externa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postman.com/downloads" TargetMode="External"/><Relationship Id="rId3" Type="http://schemas.openxmlformats.org/officeDocument/2006/relationships/hyperlink" Target="https://timeweb.com/ru/community/articles/kak-polzovatsya-postman" TargetMode="External"/><Relationship Id="rId4" Type="http://schemas.openxmlformats.org/officeDocument/2006/relationships/hyperlink" Target="https://reqres.in/" TargetMode="External"/><Relationship Id="rId5" Type="http://schemas.openxmlformats.org/officeDocument/2006/relationships/hyperlink" Target="https://proglib.io/p/api-dlya-qa-uchimsya-testirovaniyu-po-bez-dostupa-k-kodu-2020-12-10?ysclid=lt335882tb28816336" TargetMode="External"/><Relationship Id="rId6" Type="http://schemas.openxmlformats.org/officeDocument/2006/relationships/hyperlink" Target="https://habr.com/ru/companies/simbirsoft/articles/755382/" TargetMode="External"/><Relationship Id="rId7" Type="http://schemas.openxmlformats.org/officeDocument/2006/relationships/hyperlink" Target="https://www.postman.com/postman/workspace/postman-public-workspace/request/12959542-748c0367-6e64-4b9c-9f02-a2b8d297dc38" TargetMode="External"/><Relationship Id="rId8" Type="http://schemas.openxmlformats.org/officeDocument/2006/relationships/hyperlink" Target="https://learning.postman.com/docs/designing-and-developing-your-api/testing-an-api/" TargetMode="Externa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testengineer.ru/gajd-po-testirovaniyu-v-postman" TargetMode="Externa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testengineer.ru/gajd-po-testirovaniyu-v-postman/#parametrizing" TargetMode="Externa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testengineer.ru/gajd-po-testirovaniyu-v-postman/#test-create" TargetMode="Externa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infostart.ru/1c/articles/1545930" TargetMode="Externa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evelopers.google.com/identity/protocols/oauth2/service-account?hl=ru" TargetMode="External"/><Relationship Id="rId3" Type="http://schemas.openxmlformats.org/officeDocument/2006/relationships/hyperlink" Target="https://developers.google.com/identity/protocols/oauth2/native-app?hl=ru" TargetMode="External"/><Relationship Id="rId4" Type="http://schemas.openxmlformats.org/officeDocument/2006/relationships/hyperlink" Target="https://gist.github.com/dinvlad/425a072c8d23c1895e9d345b67909af0" TargetMode="External"/><Relationship Id="rId5" Type="http://schemas.openxmlformats.org/officeDocument/2006/relationships/hyperlink" Target="https://infostart.ru/1c/articles/1282851" TargetMode="Externa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infostart.ru/1c/articles/1282851" TargetMode="External"/><Relationship Id="rId3" Type="http://schemas.openxmlformats.org/officeDocument/2006/relationships/image" Target="../media/image12.png"/></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timeweb.com/ru/community/articles/pogruzhenie-v-udivitelnyy-mir-charles" TargetMode="Externa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oftware-testing.ru/library/testing/testing-for-beginners/3613-charles-proxy" TargetMode="External"/><Relationship Id="rId3" Type="http://schemas.openxmlformats.org/officeDocument/2006/relationships/image" Target="../media/image13.png"/></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harlesproxy.com/documentation/installation/" TargetMode="External"/><Relationship Id="rId3" Type="http://schemas.openxmlformats.org/officeDocument/2006/relationships/hyperlink" Target="http://www.charlesproxy.com/getssl/" TargetMode="External"/><Relationship Id="rId4" Type="http://schemas.openxmlformats.org/officeDocument/2006/relationships/hyperlink" Target="https://www.charlesproxy.com/documentation/using-charles/ssl-certificates/" TargetMode="External"/><Relationship Id="rId5" Type="http://schemas.openxmlformats.org/officeDocument/2006/relationships/hyperlink" Target="https://habr.com/ru/articles/663926" TargetMode="Externa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abr.com/ru/articles/663926" TargetMode="External"/><Relationship Id="rId3" Type="http://schemas.openxmlformats.org/officeDocument/2006/relationships/image" Target="../media/image14.png"/></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oftware-testing.ru/library/testing/testing-for-beginners/3613-charles-proxy" TargetMode="Externa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oftware-testing.ru/library/testing/testing-for-beginners/3613-charles-proxy" TargetMode="Externa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oftware-testing.ru/library/testing/testing-for-beginners/3613-charles-proxy" TargetMode="External"/><Relationship Id="rId3" Type="http://schemas.openxmlformats.org/officeDocument/2006/relationships/image" Target="../media/image15.png"/></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oftware-testing.ru/library/testing/testing-for-beginners/3613-charles-proxy" TargetMode="External"/><Relationship Id="rId3" Type="http://schemas.openxmlformats.org/officeDocument/2006/relationships/image" Target="../media/image16.jpg"/></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oftware-testing.ru/library/testing/testing-for-beginners/3613-charles-proxy" TargetMode="Externa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oftware-testing.ru/library/testing/testing-for-beginners/3613-charles-proxy" TargetMode="External"/><Relationship Id="rId3" Type="http://schemas.openxmlformats.org/officeDocument/2006/relationships/image" Target="../media/image17.png"/></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oftware-testing.ru/library/testing/testing-for-beginners/3613-charles-proxy" TargetMode="Externa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oftware-testing.ru/library/testing/testing-for-beginners/3613-charles-proxy" TargetMode="External"/><Relationship Id="rId3" Type="http://schemas.openxmlformats.org/officeDocument/2006/relationships/image" Target="../media/image18.png"/></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oftware-testing.ru/library/testing/testing-for-beginners/3613-charles-proxy" TargetMode="External"/><Relationship Id="rId3" Type="http://schemas.openxmlformats.org/officeDocument/2006/relationships/hyperlink" Target="https://www.youtube.com/watch?v=74mvpPOczgI" TargetMode="Externa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telerik.com/download/fiddler" TargetMode="External"/><Relationship Id="rId3" Type="http://schemas.openxmlformats.org/officeDocument/2006/relationships/hyperlink" Target="https://www.telerik.com/download/fiddler-everywhere" TargetMode="External"/><Relationship Id="rId4" Type="http://schemas.openxmlformats.org/officeDocument/2006/relationships/hyperlink" Target="https://habr.com/ru/articles/533138" TargetMode="External"/><Relationship Id="rId5" Type="http://schemas.openxmlformats.org/officeDocument/2006/relationships/hyperlink" Target="https://dzen.ru/a/ZAnHgk_J40-4gKUb" TargetMode="Externa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newtechaudit.ru/vozmozhnosti-fiddler" TargetMode="External"/><Relationship Id="rId3" Type="http://schemas.openxmlformats.org/officeDocument/2006/relationships/image" Target="../media/image20.png"/></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newtechaudit.ru/vozmozhnosti-fiddler" TargetMode="Externa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newtechaudit.ru/vozmozhnosti-fiddler" TargetMode="External"/><Relationship Id="rId3" Type="http://schemas.openxmlformats.org/officeDocument/2006/relationships/image" Target="../media/image21.png"/></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newtechaudit.ru/vozmozhnosti-fiddler" TargetMode="External"/><Relationship Id="rId3" Type="http://schemas.openxmlformats.org/officeDocument/2006/relationships/image" Target="../media/image22.png"/></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newtechaudit.ru/vozmozhnosti-fiddler" TargetMode="External"/><Relationship Id="rId3" Type="http://schemas.openxmlformats.org/officeDocument/2006/relationships/image" Target="../media/image23.png"/></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newtechaudit.ru/vozmozhnosti-fiddler" TargetMode="External"/><Relationship Id="rId3" Type="http://schemas.openxmlformats.org/officeDocument/2006/relationships/image" Target="../media/image24.png"/></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google.ru/images/branding/googlelogo/1x/googlelogo_color_272x92dp.png" TargetMode="External"/><Relationship Id="rId3" Type="http://schemas.openxmlformats.org/officeDocument/2006/relationships/hyperlink" Target="https://upload.wikimedia.org/wikipedia/commons/thumb/f/f1/Yandex_logo_2021_Russian.svg/640px-Yandex_logo_2021_Russian.svg.png" TargetMode="External"/><Relationship Id="rId4" Type="http://schemas.openxmlformats.org/officeDocument/2006/relationships/hyperlink" Target="https://newtechaudit.ru/vozmozhnosti-fiddler" TargetMode="External"/><Relationship Id="rId5" Type="http://schemas.openxmlformats.org/officeDocument/2006/relationships/hyperlink" Target="https://www.youtube.com/watch?v=ILPJ653XXrY" TargetMode="External"/><Relationship Id="rId6"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ctrTitle"/>
          </p:nvPr>
        </p:nvSpPr>
        <p:spPr bwMode="auto"/>
        <p:txBody>
          <a:bodyPr>
            <a:normAutofit/>
          </a:bodyPr>
          <a:lstStyle/>
          <a:p>
            <a:pPr algn="ctr">
              <a:defRPr/>
            </a:pPr>
            <a:r>
              <a:rPr lang="ru-RU" b="1">
                <a:solidFill>
                  <a:srgbClr val="222222"/>
                </a:solidFill>
                <a:latin typeface="Times New Roman"/>
                <a:ea typeface="Arial"/>
                <a:cs typeface="Arial"/>
              </a:rPr>
              <a:t>Тестирование веб-сервисов</a:t>
            </a:r>
            <a:br>
              <a:rPr lang="ru-RU" b="1">
                <a:solidFill>
                  <a:srgbClr val="222222"/>
                </a:solidFill>
                <a:latin typeface="Times New Roman"/>
                <a:ea typeface="Arial"/>
                <a:cs typeface="Arial"/>
              </a:rPr>
            </a:br>
            <a:endParaRPr lang="ru-RU"/>
          </a:p>
        </p:txBody>
      </p:sp>
      <p:sp>
        <p:nvSpPr>
          <p:cNvPr id="3" name="Подзаголовок 2"/>
          <p:cNvSpPr>
            <a:spLocks noGrp="1"/>
          </p:cNvSpPr>
          <p:nvPr>
            <p:ph type="subTitle" idx="1"/>
          </p:nvPr>
        </p:nvSpPr>
        <p:spPr bwMode="auto"/>
        <p:txBody>
          <a:bodyPr/>
          <a:lstStyle/>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94115" y="624110"/>
            <a:ext cx="9610498" cy="1280890"/>
          </a:xfrm>
        </p:spPr>
        <p:txBody>
          <a:bodyPr>
            <a:normAutofit/>
          </a:bodyPr>
          <a:lstStyle/>
          <a:p>
            <a:pPr algn="ctr">
              <a:defRPr/>
            </a:pPr>
            <a:r>
              <a:rPr lang="ru-RU" sz="3200" b="1">
                <a:solidFill>
                  <a:srgbClr val="222222"/>
                </a:solidFill>
                <a:latin typeface="Times New Roman"/>
                <a:ea typeface="Arial"/>
                <a:cs typeface="Arial"/>
              </a:rPr>
              <a:t>Стратегия тестирования веб-приложений</a:t>
            </a:r>
            <a:endParaRPr lang="ru-RU" sz="3200" b="1"/>
          </a:p>
        </p:txBody>
      </p:sp>
      <p:sp>
        <p:nvSpPr>
          <p:cNvPr id="3" name="Объект 2"/>
          <p:cNvSpPr>
            <a:spLocks noGrp="1"/>
          </p:cNvSpPr>
          <p:nvPr>
            <p:ph idx="1"/>
          </p:nvPr>
        </p:nvSpPr>
        <p:spPr bwMode="auto">
          <a:xfrm>
            <a:off x="1894114" y="1227909"/>
            <a:ext cx="9610498" cy="5421085"/>
          </a:xfrm>
        </p:spPr>
        <p:txBody>
          <a:bodyPr/>
          <a:lstStyle/>
          <a:p>
            <a:pPr marL="0" indent="0" algn="just">
              <a:buNone/>
              <a:defRPr/>
            </a:pPr>
            <a:r>
              <a:rPr lang="ru-RU" b="0" i="0">
                <a:solidFill>
                  <a:srgbClr val="333333"/>
                </a:solidFill>
                <a:latin typeface="Times New Roman"/>
                <a:cs typeface="Times New Roman"/>
              </a:rPr>
              <a:t>Стратегия тестирования должна быть выстроена так, чтобы сайт в итоге отвечал всем бизнес-требованиям и соответствовал своему назначению:</a:t>
            </a:r>
            <a:endParaRPr/>
          </a:p>
          <a:p>
            <a:pPr marL="0" indent="0" algn="just">
              <a:buNone/>
              <a:defRPr/>
            </a:pPr>
            <a:endParaRPr lang="ru-RU" b="0" i="0">
              <a:solidFill>
                <a:srgbClr val="333333"/>
              </a:solidFill>
              <a:latin typeface="Times New Roman"/>
              <a:cs typeface="Times New Roman"/>
            </a:endParaRPr>
          </a:p>
          <a:p>
            <a:pPr algn="just">
              <a:defRPr/>
            </a:pPr>
            <a:r>
              <a:rPr lang="ru-RU" b="1" i="1">
                <a:solidFill>
                  <a:srgbClr val="333333"/>
                </a:solidFill>
                <a:latin typeface="-apple-system"/>
              </a:rPr>
              <a:t>Модульное тестирование</a:t>
            </a:r>
            <a:r>
              <a:rPr lang="ru-RU" b="0" i="0">
                <a:solidFill>
                  <a:srgbClr val="333333"/>
                </a:solidFill>
                <a:latin typeface="-apple-system"/>
              </a:rPr>
              <a:t>: проверка отдельных частей базы кода с помощью модульных тестов. </a:t>
            </a:r>
            <a:endParaRPr/>
          </a:p>
          <a:p>
            <a:pPr algn="just">
              <a:defRPr/>
            </a:pPr>
            <a:r>
              <a:rPr lang="ru-RU" b="1" i="1">
                <a:solidFill>
                  <a:srgbClr val="333333"/>
                </a:solidFill>
                <a:latin typeface="-apple-system"/>
              </a:rPr>
              <a:t>Интеграционное тестирование</a:t>
            </a:r>
            <a:r>
              <a:rPr lang="ru-RU" b="0" i="0">
                <a:solidFill>
                  <a:srgbClr val="333333"/>
                </a:solidFill>
                <a:latin typeface="-apple-system"/>
              </a:rPr>
              <a:t>: подразумевает проверку различных сегментов кода сайта в виде независимых функций или модулей с помощью тестовой программы или прочих инструментов, активируемых при слиянии кода с родительским репозиторием.</a:t>
            </a:r>
            <a:endParaRPr/>
          </a:p>
          <a:p>
            <a:pPr algn="just">
              <a:defRPr/>
            </a:pPr>
            <a:r>
              <a:rPr lang="ru-RU" b="1" i="1">
                <a:solidFill>
                  <a:srgbClr val="333333"/>
                </a:solidFill>
                <a:latin typeface="-apple-system"/>
              </a:rPr>
              <a:t>Системное тестирование</a:t>
            </a:r>
            <a:r>
              <a:rPr lang="ru-RU" b="0" i="0">
                <a:solidFill>
                  <a:srgbClr val="333333"/>
                </a:solidFill>
                <a:latin typeface="-apple-system"/>
              </a:rPr>
              <a:t>: тестирование сайта на уровне пользовательского интерфейса и функционала вроде авторизации, регистрации и прочих потоков.</a:t>
            </a:r>
            <a:endParaRPr/>
          </a:p>
          <a:p>
            <a:pPr algn="just">
              <a:defRPr/>
            </a:pPr>
            <a:r>
              <a:rPr lang="ru-RU" b="1" i="1">
                <a:solidFill>
                  <a:srgbClr val="333333"/>
                </a:solidFill>
                <a:latin typeface="-apple-system"/>
              </a:rPr>
              <a:t>Приёмочное тестирование</a:t>
            </a:r>
            <a:r>
              <a:rPr lang="ru-RU" b="0" i="0">
                <a:solidFill>
                  <a:srgbClr val="333333"/>
                </a:solidFill>
                <a:latin typeface="-apple-system"/>
              </a:rPr>
              <a:t>: как правило, это последняя стадия тестирования, на которой полностью собранное приложение с данными проверяется в среде интеграции.</a:t>
            </a:r>
            <a:endParaRPr/>
          </a:p>
          <a:p>
            <a:pPr algn="just">
              <a:defRPr/>
            </a:pPr>
            <a:r>
              <a:rPr lang="ru-RU" b="1" i="1">
                <a:solidFill>
                  <a:srgbClr val="333333"/>
                </a:solidFill>
                <a:latin typeface="-apple-system"/>
              </a:rPr>
              <a:t>Тестирование производительности</a:t>
            </a:r>
            <a:r>
              <a:rPr lang="ru-RU" b="0" i="0">
                <a:solidFill>
                  <a:srgbClr val="333333"/>
                </a:solidFill>
                <a:latin typeface="-apple-system"/>
              </a:rPr>
              <a:t>: при постепенном увеличении числа пользователей необходимо обеспечить, чтобы сервера справлялись с нагрузкой в пиковые часы использования приложения.</a:t>
            </a:r>
            <a:endParaRPr/>
          </a:p>
          <a:p>
            <a:pPr marL="0" indent="0" algn="r">
              <a:buNone/>
              <a:defRPr/>
            </a:pPr>
            <a:r>
              <a:rPr lang="en-US" sz="1400">
                <a:latin typeface="Times New Roman"/>
                <a:cs typeface="Times New Roman"/>
              </a:rPr>
              <a:t>https://habr.com/ru/companies/ruvds/articles/676752</a:t>
            </a:r>
            <a:endParaRPr lang="ru-RU" sz="1400">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933303" y="624110"/>
            <a:ext cx="9571309" cy="669113"/>
          </a:xfrm>
        </p:spPr>
        <p:txBody>
          <a:bodyPr>
            <a:normAutofit fontScale="90000"/>
          </a:bodyPr>
          <a:lstStyle/>
          <a:p>
            <a:pPr algn="ctr">
              <a:defRPr/>
            </a:pPr>
            <a:r>
              <a:rPr lang="ru-RU" b="1">
                <a:solidFill>
                  <a:srgbClr val="222222"/>
                </a:solidFill>
                <a:latin typeface="Times New Roman"/>
                <a:ea typeface="Arial"/>
                <a:cs typeface="Arial"/>
              </a:rPr>
              <a:t>Стратегия тестирования веб-</a:t>
            </a:r>
            <a:r>
              <a:rPr lang="ru-RU" b="1">
                <a:solidFill>
                  <a:srgbClr val="222222"/>
                </a:solidFill>
                <a:latin typeface="Times New Roman"/>
                <a:ea typeface="Arial"/>
                <a:cs typeface="Arial"/>
              </a:rPr>
              <a:t>сервисов</a:t>
            </a:r>
            <a:br>
              <a:rPr lang="ru-RU" sz="2800" b="1">
                <a:solidFill>
                  <a:srgbClr val="222222"/>
                </a:solidFill>
                <a:latin typeface="Times New Roman"/>
                <a:ea typeface="Arial"/>
                <a:cs typeface="Arial"/>
              </a:rPr>
            </a:br>
            <a:endParaRPr lang="ru-RU" sz="1800">
              <a:solidFill>
                <a:srgbClr val="333333"/>
              </a:solidFill>
              <a:latin typeface="Times New Roman"/>
              <a:ea typeface="+mn-ea"/>
              <a:cs typeface="Times New Roman"/>
            </a:endParaRPr>
          </a:p>
        </p:txBody>
      </p:sp>
      <p:sp>
        <p:nvSpPr>
          <p:cNvPr id="3" name="Объект 2"/>
          <p:cNvSpPr>
            <a:spLocks noGrp="1"/>
          </p:cNvSpPr>
          <p:nvPr>
            <p:ph idx="1"/>
          </p:nvPr>
        </p:nvSpPr>
        <p:spPr bwMode="auto">
          <a:xfrm>
            <a:off x="1933303" y="1293223"/>
            <a:ext cx="9571309" cy="5212080"/>
          </a:xfrm>
        </p:spPr>
        <p:txBody>
          <a:bodyPr/>
          <a:lstStyle/>
          <a:p>
            <a:pPr marL="0" indent="0">
              <a:buNone/>
              <a:defRPr/>
            </a:pPr>
            <a:r>
              <a:rPr lang="ru-RU" sz="1800">
                <a:solidFill>
                  <a:srgbClr val="333333"/>
                </a:solidFill>
                <a:latin typeface="Times New Roman"/>
                <a:ea typeface="+mn-ea"/>
                <a:cs typeface="Times New Roman"/>
              </a:rPr>
              <a:t>Основные </a:t>
            </a:r>
            <a:r>
              <a:rPr lang="ru-RU" b="1" i="1">
                <a:solidFill>
                  <a:srgbClr val="333333"/>
                </a:solidFill>
                <a:latin typeface="Times New Roman"/>
                <a:cs typeface="Times New Roman"/>
              </a:rPr>
              <a:t>типы</a:t>
            </a:r>
            <a:r>
              <a:rPr lang="ru-RU">
                <a:solidFill>
                  <a:srgbClr val="333333"/>
                </a:solidFill>
                <a:latin typeface="Times New Roman"/>
                <a:cs typeface="Times New Roman"/>
              </a:rPr>
              <a:t> т</a:t>
            </a:r>
            <a:r>
              <a:rPr lang="ru-RU" sz="1800">
                <a:solidFill>
                  <a:srgbClr val="333333"/>
                </a:solidFill>
                <a:latin typeface="Times New Roman"/>
                <a:ea typeface="+mn-ea"/>
                <a:cs typeface="Times New Roman"/>
              </a:rPr>
              <a:t>естирования веб-сервисов можно разделить на следующие:</a:t>
            </a:r>
            <a:endParaRPr/>
          </a:p>
          <a:p>
            <a:pPr marL="0" indent="0">
              <a:buNone/>
              <a:defRPr/>
            </a:pPr>
            <a:endParaRPr lang="ru-RU" sz="1800">
              <a:solidFill>
                <a:srgbClr val="333333"/>
              </a:solidFill>
              <a:latin typeface="Times New Roman"/>
              <a:ea typeface="+mn-ea"/>
              <a:cs typeface="Times New Roman"/>
            </a:endParaRPr>
          </a:p>
          <a:p>
            <a:pPr algn="just">
              <a:defRPr/>
            </a:pPr>
            <a:r>
              <a:rPr lang="ru-RU" sz="2000" b="1" i="0">
                <a:solidFill>
                  <a:srgbClr val="444444"/>
                </a:solidFill>
                <a:latin typeface="MuseoSansCyrl-300"/>
              </a:rPr>
              <a:t>Функциональное тестирование</a:t>
            </a:r>
            <a:r>
              <a:rPr lang="ru-RU" sz="2000" b="0" i="0">
                <a:solidFill>
                  <a:srgbClr val="444444"/>
                </a:solidFill>
                <a:latin typeface="MuseoSansCyrl-300"/>
              </a:rPr>
              <a:t>: проверка корректности работы функций веб-сервиса и соответствие требованиям.</a:t>
            </a:r>
            <a:endParaRPr/>
          </a:p>
          <a:p>
            <a:pPr algn="just">
              <a:defRPr/>
            </a:pPr>
            <a:endParaRPr lang="ru-RU" sz="2000" b="0" i="0">
              <a:solidFill>
                <a:srgbClr val="444444"/>
              </a:solidFill>
              <a:latin typeface="MuseoSansCyrl-300"/>
            </a:endParaRPr>
          </a:p>
          <a:p>
            <a:pPr algn="just">
              <a:defRPr/>
            </a:pPr>
            <a:r>
              <a:rPr lang="ru-RU" sz="2000" b="1" i="0">
                <a:solidFill>
                  <a:srgbClr val="444444"/>
                </a:solidFill>
                <a:latin typeface="MuseoSansCyrl-300"/>
              </a:rPr>
              <a:t>Нагрузочное тестирование</a:t>
            </a:r>
            <a:r>
              <a:rPr lang="ru-RU" sz="2000" b="0" i="0">
                <a:solidFill>
                  <a:srgbClr val="444444"/>
                </a:solidFill>
                <a:latin typeface="MuseoSansCyrl-300"/>
              </a:rPr>
              <a:t>: определение производительности веб-сервиса при различных уровнях нагрузки.</a:t>
            </a:r>
            <a:endParaRPr/>
          </a:p>
          <a:p>
            <a:pPr algn="just">
              <a:defRPr/>
            </a:pPr>
            <a:endParaRPr lang="ru-RU" sz="2000" b="0" i="0">
              <a:solidFill>
                <a:srgbClr val="444444"/>
              </a:solidFill>
              <a:latin typeface="MuseoSansCyrl-300"/>
            </a:endParaRPr>
          </a:p>
          <a:p>
            <a:pPr algn="just">
              <a:defRPr/>
            </a:pPr>
            <a:r>
              <a:rPr lang="ru-RU" sz="2000" b="1" i="0">
                <a:solidFill>
                  <a:srgbClr val="444444"/>
                </a:solidFill>
                <a:latin typeface="MuseoSansCyrl-300"/>
              </a:rPr>
              <a:t>Интеграционное тестирование</a:t>
            </a:r>
            <a:r>
              <a:rPr lang="ru-RU" sz="2000" b="0" i="0">
                <a:solidFill>
                  <a:srgbClr val="444444"/>
                </a:solidFill>
                <a:latin typeface="MuseoSansCyrl-300"/>
              </a:rPr>
              <a:t>: проверка взаимодействия веб-сервиса с другими системами и компонентами.</a:t>
            </a:r>
            <a:endParaRPr/>
          </a:p>
          <a:p>
            <a:pPr algn="just">
              <a:defRPr/>
            </a:pPr>
            <a:endParaRPr lang="ru-RU" sz="2000" b="0" i="0">
              <a:solidFill>
                <a:srgbClr val="444444"/>
              </a:solidFill>
              <a:latin typeface="MuseoSansCyrl-300"/>
            </a:endParaRPr>
          </a:p>
          <a:p>
            <a:pPr algn="just">
              <a:defRPr/>
            </a:pPr>
            <a:r>
              <a:rPr lang="ru-RU" sz="2000" b="1" i="0">
                <a:solidFill>
                  <a:srgbClr val="444444"/>
                </a:solidFill>
                <a:latin typeface="MuseoSansCyrl-300"/>
              </a:rPr>
              <a:t>Безопасность:</a:t>
            </a:r>
            <a:r>
              <a:rPr lang="ru-RU" sz="2000" b="0" i="0">
                <a:solidFill>
                  <a:srgbClr val="444444"/>
                </a:solidFill>
                <a:latin typeface="MuseoSansCyrl-300"/>
              </a:rPr>
              <a:t> проверка на наличие уязвимостей и защита от потенциальных атак.</a:t>
            </a:r>
            <a:endParaRPr/>
          </a:p>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907177" y="624110"/>
            <a:ext cx="9597435" cy="721364"/>
          </a:xfrm>
        </p:spPr>
        <p:txBody>
          <a:bodyPr>
            <a:normAutofit fontScale="90000"/>
          </a:bodyPr>
          <a:lstStyle/>
          <a:p>
            <a:pPr algn="ctr">
              <a:defRPr/>
            </a:pPr>
            <a:r>
              <a:rPr lang="ru-RU" b="1">
                <a:solidFill>
                  <a:srgbClr val="222222"/>
                </a:solidFill>
                <a:latin typeface="Times New Roman"/>
                <a:cs typeface="Arial"/>
              </a:rPr>
              <a:t>Инструменты для тестирования веб-сервисов</a:t>
            </a:r>
            <a:br>
              <a:rPr lang="ru-RU" b="1" i="0">
                <a:solidFill>
                  <a:srgbClr val="262626"/>
                </a:solidFill>
                <a:latin typeface="MuseoSansCyrl-700"/>
              </a:rPr>
            </a:br>
            <a:endParaRPr lang="ru-RU"/>
          </a:p>
        </p:txBody>
      </p:sp>
      <p:sp>
        <p:nvSpPr>
          <p:cNvPr id="3" name="Объект 2"/>
          <p:cNvSpPr>
            <a:spLocks noGrp="1"/>
          </p:cNvSpPr>
          <p:nvPr>
            <p:ph idx="1"/>
          </p:nvPr>
        </p:nvSpPr>
        <p:spPr bwMode="auto">
          <a:xfrm>
            <a:off x="1920240" y="1554480"/>
            <a:ext cx="9597435" cy="4565748"/>
          </a:xfrm>
        </p:spPr>
        <p:txBody>
          <a:bodyPr/>
          <a:lstStyle/>
          <a:p>
            <a:pPr marL="0" indent="0">
              <a:buNone/>
              <a:defRPr/>
            </a:pPr>
            <a:r>
              <a:rPr lang="ru-RU">
                <a:solidFill>
                  <a:srgbClr val="333333"/>
                </a:solidFill>
                <a:latin typeface="Times New Roman"/>
                <a:cs typeface="Times New Roman"/>
              </a:rPr>
              <a:t>Существует множество инструментов для тестирования веб-сервисов, например:</a:t>
            </a:r>
            <a:endParaRPr/>
          </a:p>
          <a:p>
            <a:pPr marL="0" indent="0">
              <a:buNone/>
              <a:defRPr/>
            </a:pPr>
            <a:endParaRPr lang="ru-RU">
              <a:solidFill>
                <a:srgbClr val="333333"/>
              </a:solidFill>
              <a:latin typeface="Times New Roman"/>
              <a:cs typeface="Times New Roman"/>
            </a:endParaRPr>
          </a:p>
          <a:p>
            <a:pPr algn="just">
              <a:defRPr/>
            </a:pPr>
            <a:r>
              <a:rPr lang="ru-RU" sz="2000" b="1">
                <a:solidFill>
                  <a:srgbClr val="444444"/>
                </a:solidFill>
                <a:latin typeface="MuseoSansCyrl-300"/>
              </a:rPr>
              <a:t>Postman: </a:t>
            </a:r>
            <a:r>
              <a:rPr lang="ru-RU" sz="2000">
                <a:solidFill>
                  <a:srgbClr val="444444"/>
                </a:solidFill>
                <a:latin typeface="MuseoSansCyrl-300"/>
              </a:rPr>
              <a:t>универсальный инструмент для тестирования API, позволяющий создавать запросы, отправлять их и анализировать ответы.</a:t>
            </a:r>
            <a:endParaRPr/>
          </a:p>
          <a:p>
            <a:pPr algn="just">
              <a:defRPr/>
            </a:pPr>
            <a:endParaRPr lang="ru-RU" sz="2000">
              <a:solidFill>
                <a:srgbClr val="444444"/>
              </a:solidFill>
              <a:latin typeface="MuseoSansCyrl-300"/>
            </a:endParaRPr>
          </a:p>
          <a:p>
            <a:pPr algn="just">
              <a:defRPr/>
            </a:pPr>
            <a:r>
              <a:rPr lang="ru-RU" sz="2000" b="1" i="0">
                <a:solidFill>
                  <a:srgbClr val="444444"/>
                </a:solidFill>
                <a:latin typeface="MuseoSansCyrl-300"/>
              </a:rPr>
              <a:t>SoapUI</a:t>
            </a:r>
            <a:r>
              <a:rPr lang="ru-RU" sz="2000" b="1" i="0">
                <a:solidFill>
                  <a:srgbClr val="444444"/>
                </a:solidFill>
                <a:latin typeface="MuseoSansCyrl-300"/>
              </a:rPr>
              <a:t>:</a:t>
            </a:r>
            <a:r>
              <a:rPr lang="ru-RU" sz="2000" b="0" i="0">
                <a:solidFill>
                  <a:srgbClr val="444444"/>
                </a:solidFill>
                <a:latin typeface="MuseoSansCyrl-300"/>
              </a:rPr>
              <a:t> популярный инструмент для тестирования веб-сервисов на базе SOAP и REST.</a:t>
            </a:r>
            <a:endParaRPr/>
          </a:p>
          <a:p>
            <a:pPr algn="just">
              <a:defRPr/>
            </a:pPr>
            <a:endParaRPr lang="ru-RU" sz="2000">
              <a:solidFill>
                <a:srgbClr val="444444"/>
              </a:solidFill>
              <a:latin typeface="MuseoSansCyrl-300"/>
            </a:endParaRPr>
          </a:p>
          <a:p>
            <a:pPr algn="just">
              <a:defRPr/>
            </a:pPr>
            <a:r>
              <a:rPr lang="ru-RU" sz="2000" b="1" i="0">
                <a:solidFill>
                  <a:srgbClr val="444444"/>
                </a:solidFill>
                <a:latin typeface="MuseoSansCyrl-300"/>
              </a:rPr>
              <a:t>JMeter</a:t>
            </a:r>
            <a:r>
              <a:rPr lang="ru-RU" sz="2000" b="1" i="0">
                <a:solidFill>
                  <a:srgbClr val="444444"/>
                </a:solidFill>
                <a:latin typeface="MuseoSansCyrl-300"/>
              </a:rPr>
              <a:t>:</a:t>
            </a:r>
            <a:r>
              <a:rPr lang="ru-RU" sz="2000" b="0" i="0">
                <a:solidFill>
                  <a:srgbClr val="444444"/>
                </a:solidFill>
                <a:latin typeface="MuseoSansCyrl-300"/>
              </a:rPr>
              <a:t> мощный инструмент для нагрузочного тестирования веб-сервисов и приложений.</a:t>
            </a:r>
            <a:endParaRPr/>
          </a:p>
          <a:p>
            <a:pPr algn="just">
              <a:defRPr/>
            </a:pPr>
            <a:endParaRPr lang="ru-RU" sz="2000" b="0" i="0">
              <a:solidFill>
                <a:srgbClr val="444444"/>
              </a:solidFill>
              <a:latin typeface="MuseoSansCyrl-300"/>
            </a:endParaRPr>
          </a:p>
          <a:p>
            <a:pPr algn="just">
              <a:defRPr/>
            </a:pPr>
            <a:endParaRPr lang="ru-RU" sz="2000">
              <a:solidFill>
                <a:srgbClr val="444444"/>
              </a:solidFill>
              <a:latin typeface="MuseoSansCyrl-300"/>
            </a:endParaRPr>
          </a:p>
          <a:p>
            <a:pPr marL="0" indent="0">
              <a:buNone/>
              <a:defRPr/>
            </a:pPr>
            <a:endParaRPr lang="ru-RU">
              <a:solidFill>
                <a:srgbClr val="333333"/>
              </a:solidFill>
              <a:latin typeface="Times New Roman"/>
              <a:cs typeface="Times New Roman"/>
            </a:endParaRPr>
          </a:p>
          <a:p>
            <a:pPr>
              <a:defRPr/>
            </a:pPr>
            <a:endParaRPr lang="ru-RU">
              <a:solidFill>
                <a:srgbClr val="333333"/>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789611" y="624110"/>
            <a:ext cx="9715001" cy="708301"/>
          </a:xfrm>
        </p:spPr>
        <p:txBody>
          <a:bodyPr>
            <a:normAutofit fontScale="90000"/>
          </a:bodyPr>
          <a:lstStyle/>
          <a:p>
            <a:pPr algn="just">
              <a:defRPr/>
            </a:pPr>
            <a:r>
              <a:rPr lang="ru-RU" b="1">
                <a:solidFill>
                  <a:srgbClr val="222222"/>
                </a:solidFill>
                <a:latin typeface="Times New Roman"/>
                <a:cs typeface="Arial"/>
              </a:rPr>
              <a:t>Основные этапы тестирования веб-сервисов</a:t>
            </a:r>
            <a:br>
              <a:rPr lang="ru-RU" b="1" i="0">
                <a:solidFill>
                  <a:srgbClr val="262626"/>
                </a:solidFill>
                <a:latin typeface="MuseoSansCyrl-700"/>
              </a:rPr>
            </a:br>
            <a:endParaRPr lang="ru-RU"/>
          </a:p>
        </p:txBody>
      </p:sp>
      <p:sp>
        <p:nvSpPr>
          <p:cNvPr id="3" name="Объект 2"/>
          <p:cNvSpPr>
            <a:spLocks noGrp="1"/>
          </p:cNvSpPr>
          <p:nvPr>
            <p:ph idx="1"/>
          </p:nvPr>
        </p:nvSpPr>
        <p:spPr bwMode="auto">
          <a:xfrm>
            <a:off x="1789611" y="1489165"/>
            <a:ext cx="9715001" cy="4990011"/>
          </a:xfrm>
        </p:spPr>
        <p:txBody>
          <a:bodyPr>
            <a:normAutofit fontScale="85000" lnSpcReduction="20000"/>
          </a:bodyPr>
          <a:lstStyle/>
          <a:p>
            <a:pPr algn="just">
              <a:defRPr/>
            </a:pPr>
            <a:r>
              <a:rPr lang="ru-RU" sz="2200" b="1" i="0">
                <a:solidFill>
                  <a:srgbClr val="444444"/>
                </a:solidFill>
                <a:latin typeface="Times New Roman"/>
                <a:cs typeface="Times New Roman"/>
              </a:rPr>
              <a:t>Подготовка тестовых сценариев:</a:t>
            </a:r>
            <a:r>
              <a:rPr lang="ru-RU" sz="2200" b="0" i="0">
                <a:solidFill>
                  <a:srgbClr val="444444"/>
                </a:solidFill>
                <a:latin typeface="Times New Roman"/>
                <a:cs typeface="Times New Roman"/>
              </a:rPr>
              <a:t> разработка тестовых случаев на основе требований и документации веб-сервиса.</a:t>
            </a:r>
            <a:endParaRPr/>
          </a:p>
          <a:p>
            <a:pPr algn="just">
              <a:defRPr/>
            </a:pPr>
            <a:endParaRPr lang="ru-RU" sz="2200">
              <a:latin typeface="Times New Roman"/>
              <a:cs typeface="Times New Roman"/>
            </a:endParaRPr>
          </a:p>
          <a:p>
            <a:pPr algn="just">
              <a:defRPr/>
            </a:pPr>
            <a:r>
              <a:rPr lang="ru-RU" sz="2200" b="1">
                <a:solidFill>
                  <a:srgbClr val="444444"/>
                </a:solidFill>
                <a:latin typeface="Times New Roman"/>
                <a:cs typeface="Times New Roman"/>
              </a:rPr>
              <a:t>Настройка тестового окружения:</a:t>
            </a:r>
            <a:r>
              <a:rPr lang="ru-RU" sz="2200">
                <a:solidFill>
                  <a:srgbClr val="444444"/>
                </a:solidFill>
                <a:latin typeface="Times New Roman"/>
                <a:cs typeface="Times New Roman"/>
              </a:rPr>
              <a:t> подготовка и настройка инструментов, данных и серверов для проведения тестирования.</a:t>
            </a:r>
            <a:endParaRPr/>
          </a:p>
          <a:p>
            <a:pPr algn="just">
              <a:defRPr/>
            </a:pPr>
            <a:endParaRPr lang="ru-RU" sz="2200">
              <a:latin typeface="Times New Roman"/>
              <a:cs typeface="Times New Roman"/>
            </a:endParaRPr>
          </a:p>
          <a:p>
            <a:pPr algn="just">
              <a:defRPr/>
            </a:pPr>
            <a:r>
              <a:rPr lang="ru-RU" sz="2200" b="1" i="0">
                <a:solidFill>
                  <a:srgbClr val="444444"/>
                </a:solidFill>
                <a:latin typeface="Times New Roman"/>
                <a:cs typeface="Times New Roman"/>
              </a:rPr>
              <a:t>Выполнение тестов:</a:t>
            </a:r>
            <a:r>
              <a:rPr lang="ru-RU" sz="2200" b="0" i="0">
                <a:solidFill>
                  <a:srgbClr val="444444"/>
                </a:solidFill>
                <a:latin typeface="Times New Roman"/>
                <a:cs typeface="Times New Roman"/>
              </a:rPr>
              <a:t> запуск тестовых сценариев и наблюдение за результатами.</a:t>
            </a:r>
            <a:endParaRPr/>
          </a:p>
          <a:p>
            <a:pPr algn="just">
              <a:defRPr/>
            </a:pPr>
            <a:endParaRPr lang="ru-RU" sz="2200">
              <a:latin typeface="Times New Roman"/>
              <a:cs typeface="Times New Roman"/>
            </a:endParaRPr>
          </a:p>
          <a:p>
            <a:pPr algn="just">
              <a:defRPr/>
            </a:pPr>
            <a:r>
              <a:rPr lang="ru-RU" sz="2200" b="1" i="0">
                <a:solidFill>
                  <a:srgbClr val="444444"/>
                </a:solidFill>
                <a:latin typeface="Times New Roman"/>
                <a:cs typeface="Times New Roman"/>
              </a:rPr>
              <a:t>Анализ результатов:</a:t>
            </a:r>
            <a:r>
              <a:rPr lang="ru-RU" sz="2200" b="0" i="0">
                <a:solidFill>
                  <a:srgbClr val="444444"/>
                </a:solidFill>
                <a:latin typeface="Times New Roman"/>
                <a:cs typeface="Times New Roman"/>
              </a:rPr>
              <a:t> оценка корректности работы веб-сервиса и выявление возможных проблем.</a:t>
            </a:r>
            <a:endParaRPr/>
          </a:p>
          <a:p>
            <a:pPr algn="just">
              <a:defRPr/>
            </a:pPr>
            <a:endParaRPr lang="ru-RU" sz="2200">
              <a:latin typeface="Times New Roman"/>
              <a:cs typeface="Times New Roman"/>
            </a:endParaRPr>
          </a:p>
          <a:p>
            <a:pPr algn="just">
              <a:defRPr/>
            </a:pPr>
            <a:r>
              <a:rPr lang="ru-RU" sz="2200" b="1" i="0">
                <a:solidFill>
                  <a:srgbClr val="444444"/>
                </a:solidFill>
                <a:latin typeface="Times New Roman"/>
                <a:cs typeface="Times New Roman"/>
              </a:rPr>
              <a:t>Создание отчетов:</a:t>
            </a:r>
            <a:r>
              <a:rPr lang="ru-RU" sz="2200" b="0" i="0">
                <a:solidFill>
                  <a:srgbClr val="444444"/>
                </a:solidFill>
                <a:latin typeface="Times New Roman"/>
                <a:cs typeface="Times New Roman"/>
              </a:rPr>
              <a:t> подготовка и предоставление отчётов о результатах тестирования.</a:t>
            </a:r>
            <a:endParaRPr/>
          </a:p>
          <a:p>
            <a:pPr>
              <a:defRPr/>
            </a:pPr>
            <a:endParaRPr lang="ru-RU"/>
          </a:p>
          <a:p>
            <a:pPr marL="0" indent="0" algn="just">
              <a:buNone/>
              <a:defRPr/>
            </a:pPr>
            <a:r>
              <a:rPr lang="ru-RU" b="1" i="1">
                <a:solidFill>
                  <a:srgbClr val="180620"/>
                </a:solidFill>
                <a:latin typeface="MuseoSansCyrl-300"/>
              </a:rPr>
              <a:t>Важно:</a:t>
            </a:r>
            <a:r>
              <a:rPr lang="ru-RU" b="0" i="0">
                <a:solidFill>
                  <a:srgbClr val="180620"/>
                </a:solidFill>
                <a:latin typeface="MuseoSansCyrl-300"/>
              </a:rPr>
              <a:t> не забывайте проводить регрессионное тестирование после внесения изменений в код веб-сервиса, чтобы убедиться, что новые изменения не повлияли на стабильность и корректность работы.</a:t>
            </a: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02675" y="300445"/>
            <a:ext cx="9701938" cy="718457"/>
          </a:xfrm>
        </p:spPr>
        <p:txBody>
          <a:bodyPr>
            <a:normAutofit fontScale="90000"/>
          </a:bodyPr>
          <a:lstStyle/>
          <a:p>
            <a:pPr algn="ctr">
              <a:defRPr/>
            </a:pPr>
            <a:r>
              <a:rPr lang="ru-RU" b="1">
                <a:solidFill>
                  <a:srgbClr val="222222"/>
                </a:solidFill>
                <a:latin typeface="Times New Roman"/>
                <a:cs typeface="Arial"/>
              </a:rPr>
              <a:t>Пример тестирования веб-сервиса</a:t>
            </a:r>
            <a:br>
              <a:rPr lang="ru-RU" b="1" i="0">
                <a:solidFill>
                  <a:srgbClr val="262626"/>
                </a:solidFill>
                <a:latin typeface="MuseoSansCyrl-700"/>
              </a:rPr>
            </a:br>
            <a:endParaRPr lang="ru-RU"/>
          </a:p>
        </p:txBody>
      </p:sp>
      <p:sp>
        <p:nvSpPr>
          <p:cNvPr id="3" name="Объект 2"/>
          <p:cNvSpPr>
            <a:spLocks noGrp="1"/>
          </p:cNvSpPr>
          <p:nvPr>
            <p:ph idx="1"/>
          </p:nvPr>
        </p:nvSpPr>
        <p:spPr bwMode="auto">
          <a:xfrm>
            <a:off x="1802674" y="1018903"/>
            <a:ext cx="9701938" cy="5630091"/>
          </a:xfrm>
        </p:spPr>
        <p:txBody>
          <a:bodyPr>
            <a:normAutofit fontScale="92500" lnSpcReduction="10000"/>
          </a:bodyPr>
          <a:lstStyle/>
          <a:p>
            <a:pPr marL="0" indent="0">
              <a:buNone/>
              <a:defRPr/>
            </a:pPr>
            <a:r>
              <a:rPr lang="ru-RU" b="0" i="0">
                <a:solidFill>
                  <a:srgbClr val="180620"/>
                </a:solidFill>
                <a:latin typeface="MuseoSansCyrl-300"/>
              </a:rPr>
              <a:t>Предположим, что у вас есть веб-сервис для получения информации о погоде. Для тестирования этого сервиса, вы можете создать следующие тестовые сценарии:</a:t>
            </a:r>
            <a:endParaRPr/>
          </a:p>
          <a:p>
            <a:pPr marL="0" indent="0">
              <a:buNone/>
              <a:defRPr/>
            </a:pPr>
            <a:endParaRPr lang="ru-RU" b="0" i="0">
              <a:solidFill>
                <a:srgbClr val="180620"/>
              </a:solidFill>
              <a:latin typeface="MuseoSansCyrl-300"/>
            </a:endParaRPr>
          </a:p>
          <a:p>
            <a:pPr>
              <a:defRPr/>
            </a:pPr>
            <a:r>
              <a:rPr lang="ru-RU" sz="2100" b="0" i="0">
                <a:solidFill>
                  <a:srgbClr val="444444"/>
                </a:solidFill>
                <a:latin typeface="Times New Roman"/>
                <a:cs typeface="Times New Roman"/>
              </a:rPr>
              <a:t>Проверка корректности получения данных о погоде для валидного города.</a:t>
            </a:r>
            <a:endParaRPr/>
          </a:p>
          <a:p>
            <a:pPr>
              <a:defRPr/>
            </a:pPr>
            <a:endParaRPr lang="ru-RU" sz="2100">
              <a:latin typeface="Times New Roman"/>
              <a:cs typeface="Times New Roman"/>
            </a:endParaRPr>
          </a:p>
          <a:p>
            <a:pPr>
              <a:defRPr/>
            </a:pPr>
            <a:endParaRPr lang="ru-RU" sz="2100">
              <a:latin typeface="Times New Roman"/>
              <a:cs typeface="Times New Roman"/>
            </a:endParaRPr>
          </a:p>
          <a:p>
            <a:pPr>
              <a:defRPr/>
            </a:pPr>
            <a:r>
              <a:rPr lang="ru-RU" sz="2100" b="0" i="0">
                <a:solidFill>
                  <a:srgbClr val="444444"/>
                </a:solidFill>
                <a:latin typeface="Times New Roman"/>
                <a:cs typeface="Times New Roman"/>
              </a:rPr>
              <a:t>Проверка обработки запросов с </a:t>
            </a:r>
            <a:r>
              <a:rPr lang="ru-RU" sz="2100" b="0" i="0">
                <a:solidFill>
                  <a:srgbClr val="444444"/>
                </a:solidFill>
                <a:latin typeface="Times New Roman"/>
                <a:cs typeface="Times New Roman"/>
              </a:rPr>
              <a:t>невалидными</a:t>
            </a:r>
            <a:r>
              <a:rPr lang="ru-RU" sz="2100" b="0" i="0">
                <a:solidFill>
                  <a:srgbClr val="444444"/>
                </a:solidFill>
                <a:latin typeface="Times New Roman"/>
                <a:cs typeface="Times New Roman"/>
              </a:rPr>
              <a:t> данными (несуществующий город, неверный формат данных).</a:t>
            </a:r>
            <a:endParaRPr/>
          </a:p>
          <a:p>
            <a:pPr>
              <a:defRPr/>
            </a:pPr>
            <a:endParaRPr lang="ru-RU" sz="2100">
              <a:latin typeface="Times New Roman"/>
              <a:cs typeface="Times New Roman"/>
            </a:endParaRPr>
          </a:p>
          <a:p>
            <a:pPr>
              <a:defRPr/>
            </a:pPr>
            <a:endParaRPr lang="ru-RU" sz="2100">
              <a:latin typeface="Times New Roman"/>
              <a:cs typeface="Times New Roman"/>
            </a:endParaRPr>
          </a:p>
          <a:p>
            <a:pPr>
              <a:defRPr/>
            </a:pPr>
            <a:r>
              <a:rPr lang="ru-RU" sz="2100" b="0" i="0">
                <a:solidFill>
                  <a:srgbClr val="444444"/>
                </a:solidFill>
                <a:latin typeface="Times New Roman"/>
                <a:cs typeface="Times New Roman"/>
              </a:rPr>
              <a:t>Проверка производительности веб-сервиса при высокой нагрузке (например, 1000 запросов в минуту).</a:t>
            </a:r>
            <a:endParaRPr/>
          </a:p>
          <a:p>
            <a:pPr>
              <a:defRPr/>
            </a:pPr>
            <a:endParaRPr lang="ru-RU" sz="2100">
              <a:latin typeface="Times New Roman"/>
              <a:cs typeface="Times New Roman"/>
            </a:endParaRPr>
          </a:p>
          <a:p>
            <a:pPr>
              <a:defRPr/>
            </a:pPr>
            <a:endParaRPr lang="ru-RU" sz="2100">
              <a:latin typeface="Times New Roman"/>
              <a:cs typeface="Times New Roman"/>
            </a:endParaRPr>
          </a:p>
          <a:p>
            <a:pPr>
              <a:defRPr/>
            </a:pPr>
            <a:r>
              <a:rPr lang="ru-RU" sz="2100" b="0" i="0">
                <a:solidFill>
                  <a:srgbClr val="444444"/>
                </a:solidFill>
                <a:latin typeface="Times New Roman"/>
                <a:cs typeface="Times New Roman"/>
              </a:rPr>
              <a:t>Проверка защиты веб-сервиса от попыток SQL-инъекции или XSS-атак.</a:t>
            </a:r>
            <a:endParaRPr/>
          </a:p>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789611" y="624110"/>
            <a:ext cx="9715001" cy="486233"/>
          </a:xfrm>
        </p:spPr>
        <p:txBody>
          <a:bodyPr>
            <a:normAutofit fontScale="90000"/>
          </a:bodyPr>
          <a:lstStyle/>
          <a:p>
            <a:pPr algn="ctr">
              <a:defRPr/>
            </a:pPr>
            <a:r>
              <a:rPr lang="ru-RU" sz="3200" b="1">
                <a:solidFill>
                  <a:srgbClr val="222222"/>
                </a:solidFill>
                <a:latin typeface="Times New Roman"/>
                <a:cs typeface="Arial"/>
              </a:rPr>
              <a:t>Тестирование сайта Спортмастер и сайта </a:t>
            </a:r>
            <a:r>
              <a:rPr lang="ru-RU" sz="3200" b="1">
                <a:solidFill>
                  <a:srgbClr val="222222"/>
                </a:solidFill>
                <a:latin typeface="Times New Roman"/>
                <a:cs typeface="Arial"/>
              </a:rPr>
              <a:t>КубГУ</a:t>
            </a: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763485" y="1325880"/>
            <a:ext cx="9715001" cy="5460274"/>
          </a:xfrm>
        </p:spPr>
        <p:txBody>
          <a:bodyPr/>
          <a:lstStyle/>
          <a:p>
            <a:pPr>
              <a:defRPr/>
            </a:pPr>
            <a:endParaRPr lang="en-US"/>
          </a:p>
          <a:p>
            <a:pPr>
              <a:defRPr/>
            </a:pPr>
            <a:endParaRPr lang="ru-RU"/>
          </a:p>
          <a:p>
            <a:pPr>
              <a:defRPr/>
            </a:pPr>
            <a:r>
              <a:rPr lang="ru-RU" sz="2400">
                <a:latin typeface="Times New Roman"/>
                <a:cs typeface="Times New Roman"/>
              </a:rPr>
              <a:t>Пример тестирование веб-сайта или веб-приложения:</a:t>
            </a:r>
            <a:endParaRPr/>
          </a:p>
          <a:p>
            <a:pPr marL="0" indent="0" algn="just">
              <a:buNone/>
              <a:defRPr/>
            </a:pPr>
            <a:r>
              <a:rPr lang="en-US" u="sng">
                <a:latin typeface="Times New Roman"/>
                <a:cs typeface="Times New Roman"/>
                <a:hlinkClick r:id="rId2" tooltip="https://vladislaveremeev.gitbook.io/qa_bible/testirovanie-v-raznykh-sferakh-oblastyakh-testing-different-domains/testirovanie-veb-saita-ili-veb-prilozheniya-web-application"/>
              </a:rPr>
              <a:t>https://vladislaveremeev.gitbook.io/qa_bible/testirovanie-v-raznykh-sferakh-oblastyakh-testing-different-domains/testirovanie-veb-saita-ili-veb-prilozheniya-web-application</a:t>
            </a:r>
            <a:endParaRPr lang="ru-RU">
              <a:latin typeface="Times New Roman"/>
              <a:cs typeface="Times New Roman"/>
            </a:endParaRPr>
          </a:p>
          <a:p>
            <a:pPr>
              <a:defRPr/>
            </a:pPr>
            <a:endParaRPr lang="en-US"/>
          </a:p>
          <a:p>
            <a:pPr>
              <a:defRPr/>
            </a:pPr>
            <a:r>
              <a:rPr lang="ru-RU" sz="2400">
                <a:latin typeface="Times New Roman"/>
                <a:cs typeface="Times New Roman"/>
              </a:rPr>
              <a:t>Обнаружение багов на сайте. Пример работы QA</a:t>
            </a:r>
            <a:r>
              <a:rPr lang="en-US" sz="2400">
                <a:latin typeface="Times New Roman"/>
                <a:cs typeface="Times New Roman"/>
              </a:rPr>
              <a:t>-</a:t>
            </a:r>
            <a:r>
              <a:rPr lang="ru-RU" sz="2400">
                <a:latin typeface="Times New Roman"/>
                <a:cs typeface="Times New Roman"/>
              </a:rPr>
              <a:t>тестировщика</a:t>
            </a:r>
            <a:r>
              <a:rPr lang="en-US" sz="2400">
                <a:latin typeface="Times New Roman"/>
                <a:cs typeface="Times New Roman"/>
              </a:rPr>
              <a:t>:</a:t>
            </a:r>
            <a:endParaRPr/>
          </a:p>
          <a:p>
            <a:pPr marL="0" indent="0" algn="just">
              <a:buNone/>
              <a:defRPr/>
            </a:pPr>
            <a:r>
              <a:rPr lang="en-US">
                <a:latin typeface="Times New Roman"/>
                <a:cs typeface="Times New Roman"/>
              </a:rPr>
              <a:t>https://www.youtube.com/watch?v=HdTZrw59aec</a:t>
            </a:r>
            <a:endParaRPr lang="ru-RU">
              <a:latin typeface="Times New Roman"/>
              <a:cs typeface="Times New Roman"/>
            </a:endParaRPr>
          </a:p>
          <a:p>
            <a:pPr marL="0" indent="0">
              <a:buNone/>
              <a:defRPr/>
            </a:pPr>
            <a:br>
              <a:rPr lang="en-US"/>
            </a:br>
            <a:endParaRPr lang="en-US"/>
          </a:p>
          <a:p>
            <a:pPr>
              <a:defRPr/>
            </a:pPr>
            <a:r>
              <a:rPr lang="ru-RU" sz="2200" b="1">
                <a:latin typeface="Times New Roman"/>
                <a:cs typeface="Times New Roman"/>
              </a:rPr>
              <a:t>Задание:</a:t>
            </a:r>
            <a:r>
              <a:rPr lang="ru-RU" sz="2200">
                <a:latin typeface="Times New Roman"/>
                <a:cs typeface="Times New Roman"/>
              </a:rPr>
              <a:t> протестировать сайты </a:t>
            </a:r>
            <a:r>
              <a:rPr lang="en-US" sz="2200" u="sng">
                <a:latin typeface="Times New Roman"/>
                <a:cs typeface="Times New Roman"/>
                <a:hlinkClick r:id="rId3" tooltip="https://www.sportmaster.ru/"/>
              </a:rPr>
              <a:t>https://www.sportmaster.ru</a:t>
            </a:r>
            <a:r>
              <a:rPr lang="en-US" sz="2200">
                <a:latin typeface="Times New Roman"/>
                <a:cs typeface="Times New Roman"/>
              </a:rPr>
              <a:t> </a:t>
            </a:r>
            <a:r>
              <a:rPr lang="ru-RU" sz="2200">
                <a:latin typeface="Times New Roman"/>
                <a:cs typeface="Times New Roman"/>
              </a:rPr>
              <a:t>и </a:t>
            </a:r>
            <a:r>
              <a:rPr lang="en-US" sz="2200" u="sng">
                <a:latin typeface="Times New Roman"/>
                <a:cs typeface="Times New Roman"/>
                <a:hlinkClick r:id="rId4" tooltip="https://kubsu.ru/"/>
              </a:rPr>
              <a:t>https://kubsu.ru</a:t>
            </a:r>
            <a:endParaRPr lang="en-US" sz="2200">
              <a:latin typeface="Times New Roman"/>
              <a:cs typeface="Times New Roman"/>
            </a:endParaRPr>
          </a:p>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ctrTitle"/>
          </p:nvPr>
        </p:nvSpPr>
        <p:spPr bwMode="auto">
          <a:xfrm>
            <a:off x="1972491" y="783770"/>
            <a:ext cx="9532121" cy="5159829"/>
          </a:xfrm>
        </p:spPr>
        <p:txBody>
          <a:bodyPr>
            <a:normAutofit/>
          </a:bodyPr>
          <a:lstStyle/>
          <a:p>
            <a:pPr algn="ctr">
              <a:defRPr/>
            </a:pPr>
            <a:r>
              <a:rPr lang="ru-RU" sz="5400" b="1">
                <a:solidFill>
                  <a:srgbClr val="222222"/>
                </a:solidFill>
                <a:latin typeface="Times New Roman"/>
                <a:cs typeface="Arial"/>
              </a:rPr>
              <a:t>Регистрация событий в </a:t>
            </a:r>
            <a:r>
              <a:rPr lang="en-US" sz="5400" b="1">
                <a:solidFill>
                  <a:srgbClr val="222222"/>
                </a:solidFill>
                <a:latin typeface="Times New Roman"/>
                <a:cs typeface="Arial"/>
              </a:rPr>
              <a:t>Google Analytics</a:t>
            </a:r>
            <a:r>
              <a:rPr lang="ru-RU" sz="5400" b="1">
                <a:solidFill>
                  <a:srgbClr val="222222"/>
                </a:solidFill>
                <a:latin typeface="Times New Roman"/>
                <a:cs typeface="Arial"/>
              </a:rPr>
              <a:t> и тестирование аналитики с помощью </a:t>
            </a:r>
            <a:r>
              <a:rPr lang="en-US" sz="5400" b="1">
                <a:solidFill>
                  <a:srgbClr val="222222"/>
                </a:solidFill>
                <a:latin typeface="Times New Roman"/>
                <a:cs typeface="Arial"/>
              </a:rPr>
              <a:t>JavaScript</a:t>
            </a:r>
            <a:br>
              <a:rPr lang="ru-RU" b="1">
                <a:solidFill>
                  <a:srgbClr val="222222"/>
                </a:solidFill>
                <a:latin typeface="Times New Roman"/>
                <a:ea typeface="Arial"/>
                <a:cs typeface="Arial"/>
              </a:rPr>
            </a:b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658984" y="248195"/>
            <a:ext cx="9845629" cy="627016"/>
          </a:xfrm>
        </p:spPr>
        <p:txBody>
          <a:bodyPr/>
          <a:lstStyle/>
          <a:p>
            <a:pPr algn="ctr">
              <a:defRPr/>
            </a:pPr>
            <a:r>
              <a:rPr lang="en-US" sz="3200" b="1">
                <a:solidFill>
                  <a:srgbClr val="222222"/>
                </a:solidFill>
                <a:latin typeface="Times New Roman"/>
                <a:cs typeface="Arial"/>
              </a:rPr>
              <a:t>Google Analytics 4</a:t>
            </a:r>
            <a:r>
              <a:rPr lang="ru-RU" sz="3200" b="1">
                <a:solidFill>
                  <a:srgbClr val="222222"/>
                </a:solidFill>
                <a:latin typeface="Times New Roman"/>
                <a:cs typeface="Arial"/>
              </a:rPr>
              <a:t> (</a:t>
            </a:r>
            <a:r>
              <a:rPr lang="en-US" sz="3200" b="1">
                <a:solidFill>
                  <a:srgbClr val="222222"/>
                </a:solidFill>
                <a:latin typeface="Times New Roman"/>
                <a:cs typeface="Arial"/>
              </a:rPr>
              <a:t>GA 4</a:t>
            </a:r>
            <a:r>
              <a:rPr lang="ru-RU" sz="3200" b="1">
                <a:solidFill>
                  <a:srgbClr val="222222"/>
                </a:solidFill>
                <a:latin typeface="Times New Roman"/>
                <a:cs typeface="Arial"/>
              </a:rPr>
              <a:t>)</a:t>
            </a: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658984" y="875211"/>
            <a:ext cx="10019210" cy="5865223"/>
          </a:xfrm>
        </p:spPr>
        <p:txBody>
          <a:bodyPr>
            <a:normAutofit lnSpcReduction="10000"/>
          </a:bodyPr>
          <a:lstStyle/>
          <a:p>
            <a:pPr>
              <a:defRPr/>
            </a:pPr>
            <a:endParaRPr lang="en-US" sz="2000">
              <a:latin typeface="Times New Roman"/>
              <a:cs typeface="Times New Roman"/>
            </a:endParaRPr>
          </a:p>
          <a:p>
            <a:pPr>
              <a:defRPr/>
            </a:pPr>
            <a:r>
              <a:rPr lang="ru-RU" sz="2000">
                <a:latin typeface="Times New Roman"/>
                <a:cs typeface="Times New Roman"/>
              </a:rPr>
              <a:t>Знакомство с </a:t>
            </a:r>
            <a:r>
              <a:rPr lang="en-US" sz="2000">
                <a:latin typeface="Times New Roman"/>
                <a:cs typeface="Times New Roman"/>
              </a:rPr>
              <a:t>Google Analytics 4</a:t>
            </a:r>
            <a:r>
              <a:rPr lang="ru-RU" sz="2000">
                <a:latin typeface="Times New Roman"/>
                <a:cs typeface="Times New Roman"/>
              </a:rPr>
              <a:t>:</a:t>
            </a:r>
            <a:endParaRPr lang="en-US" sz="2000">
              <a:latin typeface="Times New Roman"/>
              <a:cs typeface="Times New Roman"/>
            </a:endParaRPr>
          </a:p>
          <a:p>
            <a:pPr marL="0" indent="0">
              <a:buNone/>
              <a:defRPr/>
            </a:pPr>
            <a:r>
              <a:rPr lang="en-US" sz="2000">
                <a:latin typeface="Times New Roman"/>
                <a:cs typeface="Times New Roman"/>
              </a:rPr>
              <a:t>1) Google </a:t>
            </a:r>
            <a:r>
              <a:rPr lang="ru-RU" sz="2000">
                <a:latin typeface="Times New Roman"/>
                <a:cs typeface="Times New Roman"/>
              </a:rPr>
              <a:t>Аналитика </a:t>
            </a:r>
            <a:r>
              <a:rPr lang="en-US" u="sng">
                <a:hlinkClick r:id="rId2" tooltip="https://support.google.com/analytics/topic/14089939?hl=ru-RU&amp;ref_topic=14090456"/>
              </a:rPr>
              <a:t>https://support.google.com/analytics/topic/14089939?hl=ru-RU&amp;ref_topic=14090456</a:t>
            </a:r>
            <a:endParaRPr lang="en-US"/>
          </a:p>
          <a:p>
            <a:pPr marL="0" indent="0">
              <a:buNone/>
              <a:defRPr/>
            </a:pPr>
            <a:r>
              <a:rPr lang="en-US" sz="2000">
                <a:latin typeface="Times New Roman"/>
                <a:cs typeface="Times New Roman"/>
              </a:rPr>
              <a:t>2)</a:t>
            </a:r>
            <a:r>
              <a:rPr lang="ru-RU" sz="2000">
                <a:latin typeface="Times New Roman"/>
                <a:cs typeface="Times New Roman"/>
              </a:rPr>
              <a:t> Регистрация в </a:t>
            </a:r>
            <a:r>
              <a:rPr lang="en-US" sz="2000">
                <a:latin typeface="Times New Roman"/>
                <a:cs typeface="Times New Roman"/>
              </a:rPr>
              <a:t>Google Analytics </a:t>
            </a:r>
            <a:r>
              <a:rPr lang="en-US" u="sng">
                <a:hlinkClick r:id="rId3" tooltip="https://timeweb.com/ru/community/articles/google-analytics-dlya-nachinayushchih"/>
              </a:rPr>
              <a:t>https://timeweb.com/ru/community/articles/google-analytics-dlya-nachinayushchih</a:t>
            </a:r>
            <a:endParaRPr lang="en-US"/>
          </a:p>
          <a:p>
            <a:pPr marL="0" indent="0">
              <a:buNone/>
              <a:defRPr/>
            </a:pPr>
            <a:r>
              <a:rPr lang="en-US"/>
              <a:t>3) </a:t>
            </a:r>
            <a:r>
              <a:rPr lang="ru-RU" sz="2000">
                <a:latin typeface="Times New Roman"/>
                <a:cs typeface="Times New Roman"/>
              </a:rPr>
              <a:t>Настройка тега  Google Аналитики при помощи </a:t>
            </a:r>
            <a:r>
              <a:rPr lang="en-US" sz="2000">
                <a:latin typeface="Times New Roman"/>
                <a:cs typeface="Times New Roman"/>
              </a:rPr>
              <a:t>JavaScript</a:t>
            </a:r>
            <a:r>
              <a:rPr lang="ru-RU" sz="2000">
                <a:latin typeface="+mj-lt"/>
                <a:cs typeface="Times New Roman"/>
              </a:rPr>
              <a:t> </a:t>
            </a:r>
            <a:r>
              <a:rPr lang="en-US" b="0" i="0" u="sng">
                <a:solidFill>
                  <a:srgbClr val="1F1F1F"/>
                </a:solidFill>
                <a:latin typeface="+mj-lt"/>
                <a:hlinkClick r:id="rId4" tooltip="https://support.google.com/analytics/answer/12002338?hl=ru&amp;ref_topic=14598735#install&amp;zippy=%2C%D0%BA%D0%B0%D0%BA-%D0%BD%D0%B0%D1%81%D1%82%D1%80%D0%BE%D0%B8%D1%82%D1%8C-%D1%82%D0%B5%D0%B3-google-%D0%B2-google-%D0%B0%D0%BD%D0%B0%D0%BB%D0%B8%D1%82%D0%B8%D0%BA%D0%B5"/>
              </a:rPr>
              <a:t>https://support.google.com/analytics/answer/12002338?hl=ru&amp;ref_topic=14598735</a:t>
            </a:r>
            <a:endParaRPr lang="ru-RU" b="0" i="0">
              <a:solidFill>
                <a:srgbClr val="1F1F1F"/>
              </a:solidFill>
              <a:latin typeface="+mj-lt"/>
            </a:endParaRPr>
          </a:p>
          <a:p>
            <a:pPr marL="0" indent="0" algn="just">
              <a:buNone/>
              <a:defRPr/>
            </a:pPr>
            <a:r>
              <a:rPr lang="ru-RU" b="0" i="0">
                <a:solidFill>
                  <a:srgbClr val="1F1F1F"/>
                </a:solidFill>
                <a:latin typeface="+mj-lt"/>
              </a:rPr>
              <a:t>4) </a:t>
            </a:r>
            <a:r>
              <a:rPr lang="ru-RU" sz="2100">
                <a:latin typeface="Times New Roman"/>
                <a:cs typeface="Times New Roman"/>
              </a:rPr>
              <a:t>Как связать тег с сервисами Google и настроить отправку данных о событиях </a:t>
            </a:r>
            <a:endParaRPr/>
          </a:p>
          <a:p>
            <a:pPr marL="0" indent="0">
              <a:buNone/>
              <a:defRPr/>
            </a:pPr>
            <a:r>
              <a:rPr lang="en-US" b="0" i="0" u="sng">
                <a:solidFill>
                  <a:srgbClr val="1F1F1F"/>
                </a:solidFill>
                <a:latin typeface="+mj-lt"/>
                <a:hlinkClick r:id="rId5" tooltip="https://developers.google.com/tag-platform/gtagjs/configure?hl=ru"/>
              </a:rPr>
              <a:t>https://developers.google.com/tag-platform/gtagjs/configure?hl=ru</a:t>
            </a:r>
            <a:endParaRPr lang="ru-RU" b="0" i="0">
              <a:solidFill>
                <a:srgbClr val="1F1F1F"/>
              </a:solidFill>
              <a:latin typeface="+mj-lt"/>
            </a:endParaRPr>
          </a:p>
          <a:p>
            <a:pPr marL="0" indent="0">
              <a:buNone/>
              <a:defRPr/>
            </a:pPr>
            <a:r>
              <a:rPr lang="ru-RU"/>
              <a:t>5</a:t>
            </a:r>
            <a:r>
              <a:rPr lang="en-US"/>
              <a:t>) </a:t>
            </a:r>
            <a:r>
              <a:rPr lang="ru-RU" sz="2000">
                <a:latin typeface="Times New Roman"/>
                <a:cs typeface="Times New Roman"/>
              </a:rPr>
              <a:t>Расширение для </a:t>
            </a:r>
            <a:r>
              <a:rPr lang="en-US" sz="2000">
                <a:latin typeface="Times New Roman"/>
                <a:cs typeface="Times New Roman"/>
              </a:rPr>
              <a:t>Google Chrome </a:t>
            </a:r>
            <a:r>
              <a:rPr lang="en-US" sz="2000" u="sng">
                <a:latin typeface="Times New Roman"/>
                <a:cs typeface="Times New Roman"/>
                <a:hlinkClick r:id="rId6" tooltip="https://chromewebstore.google.com/detail/jmekfmbnaedfebfnmakmokmlfpblbfdm"/>
              </a:rPr>
              <a:t>Tag Assistant Companion</a:t>
            </a:r>
            <a:endParaRPr/>
          </a:p>
          <a:p>
            <a:pPr marL="0" indent="0">
              <a:buNone/>
              <a:defRPr/>
            </a:pPr>
            <a:endParaRPr lang="ru-RU" sz="2000">
              <a:latin typeface="Times New Roman"/>
              <a:cs typeface="Times New Roman"/>
            </a:endParaRPr>
          </a:p>
          <a:p>
            <a:pPr>
              <a:defRPr/>
            </a:pPr>
            <a:r>
              <a:rPr lang="ru-RU" sz="2000">
                <a:latin typeface="Times New Roman"/>
                <a:cs typeface="Times New Roman"/>
              </a:rPr>
              <a:t>Автоматическое тестирование аналитики в браузере:</a:t>
            </a:r>
            <a:endParaRPr/>
          </a:p>
          <a:p>
            <a:pPr marL="0" indent="0" algn="just">
              <a:buNone/>
              <a:defRPr/>
            </a:pPr>
            <a:r>
              <a:rPr lang="ru-RU" sz="2000">
                <a:latin typeface="Times New Roman"/>
                <a:cs typeface="Times New Roman"/>
              </a:rPr>
              <a:t>Пример тестирования аналитики для сайта </a:t>
            </a:r>
            <a:r>
              <a:rPr lang="en-US" sz="2000">
                <a:latin typeface="Times New Roman"/>
                <a:cs typeface="Times New Roman"/>
              </a:rPr>
              <a:t>https://www.ozon.ru</a:t>
            </a:r>
            <a:r>
              <a:rPr lang="ru-RU" sz="2000">
                <a:latin typeface="Times New Roman"/>
                <a:cs typeface="Times New Roman"/>
              </a:rPr>
              <a:t> </a:t>
            </a:r>
            <a:r>
              <a:rPr lang="en-US" sz="2000" u="sng">
                <a:latin typeface="+mj-lt"/>
                <a:cs typeface="Times New Roman"/>
                <a:hlinkClick r:id="rId7" tooltip="https://habr.com/ru/companies/ozontech/articles/592295"/>
              </a:rPr>
              <a:t>https://habr.com/ru/companies/ozontech/articles/592295</a:t>
            </a:r>
            <a:endParaRPr lang="ru-RU" sz="2000">
              <a:latin typeface="+mj-lt"/>
              <a:cs typeface="Times New Roman"/>
            </a:endParaRPr>
          </a:p>
          <a:p>
            <a:pPr marL="0" indent="0">
              <a:buNone/>
              <a:defRPr/>
            </a:pPr>
            <a:endParaRPr lang="ru-RU" sz="2000">
              <a:latin typeface="Times New Roman"/>
              <a:cs typeface="Times New Roman"/>
            </a:endParaRPr>
          </a:p>
          <a:p>
            <a:pPr marL="0" indent="0">
              <a:buNone/>
              <a:defRPr/>
            </a:pPr>
            <a:endParaRPr lang="en-US" sz="2000">
              <a:latin typeface="Times New Roman"/>
              <a:cs typeface="Times New Roman"/>
            </a:endParaRPr>
          </a:p>
          <a:p>
            <a:pPr marL="0" indent="0">
              <a:buNone/>
              <a:defRPr/>
            </a:pPr>
            <a:endParaRPr lang="ru-RU"/>
          </a:p>
          <a:p>
            <a:pPr>
              <a:defRPr/>
            </a:pPr>
            <a:endParaRPr lang="ru-RU"/>
          </a:p>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724297" y="313510"/>
            <a:ext cx="9780315" cy="653141"/>
          </a:xfrm>
        </p:spPr>
        <p:txBody>
          <a:bodyPr/>
          <a:lstStyle/>
          <a:p>
            <a:pPr algn="ctr">
              <a:defRPr/>
            </a:pPr>
            <a:r>
              <a:rPr lang="ru-RU" sz="3200" b="1">
                <a:solidFill>
                  <a:srgbClr val="222222"/>
                </a:solidFill>
                <a:latin typeface="Times New Roman"/>
                <a:cs typeface="Arial"/>
              </a:rPr>
              <a:t>Тестовый аккаунт </a:t>
            </a:r>
            <a:r>
              <a:rPr lang="en-US" sz="3200" b="1">
                <a:solidFill>
                  <a:srgbClr val="222222"/>
                </a:solidFill>
                <a:latin typeface="Times New Roman"/>
                <a:cs typeface="Arial"/>
              </a:rPr>
              <a:t>Google </a:t>
            </a:r>
            <a:r>
              <a:rPr lang="ru-RU" sz="3200" b="1">
                <a:solidFill>
                  <a:srgbClr val="222222"/>
                </a:solidFill>
                <a:latin typeface="Times New Roman"/>
                <a:cs typeface="Arial"/>
              </a:rPr>
              <a:t>Аналитики</a:t>
            </a:r>
            <a:r>
              <a:rPr lang="en-US" sz="3200" b="1">
                <a:solidFill>
                  <a:srgbClr val="222222"/>
                </a:solidFill>
                <a:latin typeface="Times New Roman"/>
                <a:cs typeface="Arial"/>
              </a:rPr>
              <a:t> (GA4)</a:t>
            </a: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724297" y="1071155"/>
            <a:ext cx="9780315" cy="5473336"/>
          </a:xfrm>
        </p:spPr>
        <p:txBody>
          <a:bodyPr/>
          <a:lstStyle/>
          <a:p>
            <a:pPr>
              <a:defRPr/>
            </a:pPr>
            <a:endParaRPr lang="ru-RU" sz="2000">
              <a:latin typeface="Times New Roman"/>
              <a:cs typeface="Times New Roman"/>
            </a:endParaRPr>
          </a:p>
          <a:p>
            <a:pPr algn="just">
              <a:defRPr/>
            </a:pPr>
            <a:r>
              <a:rPr lang="ru-RU" sz="2000" b="0" i="0">
                <a:solidFill>
                  <a:srgbClr val="1F1F1F"/>
                </a:solidFill>
                <a:latin typeface="Google Sans Text"/>
              </a:rPr>
              <a:t>Тестовый аккаунт Google Аналитики – это полнофункциональный аккаунт, доступный любому пользователю Google. Он содержит один ресурс Universal Analytics и два ресурса Google Аналитики 4. В тестовом аккаунте можно просматривать реальные коммерческие данные и экспериментировать с функциями Google Аналитики. </a:t>
            </a:r>
            <a:r>
              <a:rPr lang="en-US" u="sng">
                <a:hlinkClick r:id="rId2" tooltip="https://support.google.com/analytics/answer/6367342"/>
              </a:rPr>
              <a:t>https://support.google.com/analytics/answer/6367342</a:t>
            </a:r>
            <a:endParaRPr lang="en-US"/>
          </a:p>
          <a:p>
            <a:pPr algn="just">
              <a:defRPr/>
            </a:pPr>
            <a:endParaRPr lang="en-US"/>
          </a:p>
          <a:p>
            <a:pPr algn="just">
              <a:defRPr/>
            </a:pPr>
            <a:endParaRPr lang="ru-RU"/>
          </a:p>
          <a:p>
            <a:pPr algn="just">
              <a:defRPr/>
            </a:pPr>
            <a:r>
              <a:rPr lang="ru-RU" sz="2000">
                <a:solidFill>
                  <a:srgbClr val="1F1F1F"/>
                </a:solidFill>
                <a:latin typeface="Google Sans Text"/>
              </a:rPr>
              <a:t>Тестовый аккаунт содержит </a:t>
            </a:r>
            <a:r>
              <a:rPr lang="ru-RU" sz="2000" b="1">
                <a:solidFill>
                  <a:srgbClr val="1F1F1F"/>
                </a:solidFill>
                <a:latin typeface="Google Sans Text"/>
              </a:rPr>
              <a:t>три</a:t>
            </a:r>
            <a:r>
              <a:rPr lang="ru-RU" sz="2000">
                <a:solidFill>
                  <a:srgbClr val="1F1F1F"/>
                </a:solidFill>
                <a:latin typeface="Google Sans Text"/>
              </a:rPr>
              <a:t> </a:t>
            </a:r>
            <a:r>
              <a:rPr lang="ru-RU" sz="2000" b="1">
                <a:solidFill>
                  <a:srgbClr val="1F1F1F"/>
                </a:solidFill>
                <a:latin typeface="Google Sans Text"/>
              </a:rPr>
              <a:t>ресурса</a:t>
            </a:r>
            <a:r>
              <a:rPr lang="ru-RU" sz="2000">
                <a:solidFill>
                  <a:srgbClr val="1F1F1F"/>
                </a:solidFill>
                <a:latin typeface="Google Sans Text"/>
              </a:rPr>
              <a:t>. Вы можете в любой момент выбрать другой ресурс с помощью</a:t>
            </a:r>
            <a:r>
              <a:rPr lang="ru-RU" sz="2000" b="0" i="0">
                <a:solidFill>
                  <a:srgbClr val="1F1F1F"/>
                </a:solidFill>
                <a:latin typeface="Google Sans Text"/>
              </a:rPr>
              <a:t> </a:t>
            </a:r>
            <a:r>
              <a:rPr lang="ru-RU" sz="2000" b="0" i="0" u="sng" strike="noStrike">
                <a:solidFill>
                  <a:srgbClr val="0B57D0"/>
                </a:solidFill>
                <a:latin typeface="Google Sans Text"/>
                <a:hlinkClick r:id="rId3" tooltip="https://support.google.com/analytics/answer/10253796"/>
              </a:rPr>
              <a:t>селектора аккаунтов</a:t>
            </a:r>
            <a:r>
              <a:rPr lang="ru-RU" sz="2000" b="0" i="0">
                <a:solidFill>
                  <a:srgbClr val="1F1F1F"/>
                </a:solidFill>
                <a:latin typeface="Google Sans Text"/>
              </a:rPr>
              <a:t>.</a:t>
            </a:r>
            <a:endParaRPr/>
          </a:p>
          <a:p>
            <a:pPr algn="l">
              <a:buFont typeface="+mj-lt"/>
              <a:buAutoNum type="arabicParenR"/>
              <a:defRPr/>
            </a:pPr>
            <a:r>
              <a:rPr lang="ru-RU" b="0" i="0" u="sng" strike="noStrike">
                <a:solidFill>
                  <a:srgbClr val="0B57D0"/>
                </a:solidFill>
                <a:latin typeface="Google Sans Text"/>
                <a:hlinkClick r:id="rId4" tooltip="https://analytics.google.com/analytics/web/?utm_source=demoaccount&amp;utm_medium=demoaccount&amp;utm_campaign=demoaccount#/p213025502/reports/intelligenthome"/>
              </a:rPr>
              <a:t>Ресурс Google Аналитики 4: Google </a:t>
            </a:r>
            <a:r>
              <a:rPr lang="ru-RU" b="0" i="0" u="sng" strike="noStrike">
                <a:solidFill>
                  <a:srgbClr val="0B57D0"/>
                </a:solidFill>
                <a:latin typeface="Google Sans Text"/>
                <a:hlinkClick r:id="rId4" tooltip="https://analytics.google.com/analytics/web/?utm_source=demoaccount&amp;utm_medium=demoaccount&amp;utm_campaign=demoaccount#/p213025502/reports/intelligenthome"/>
              </a:rPr>
              <a:t>Merchandise</a:t>
            </a:r>
            <a:r>
              <a:rPr lang="ru-RU" b="0" i="0" u="sng" strike="noStrike">
                <a:solidFill>
                  <a:srgbClr val="0B57D0"/>
                </a:solidFill>
                <a:latin typeface="Google Sans Text"/>
                <a:hlinkClick r:id="rId4" tooltip="https://analytics.google.com/analytics/web/?utm_source=demoaccount&amp;utm_medium=demoaccount&amp;utm_campaign=demoaccount#/p213025502/reports/intelligenthome"/>
              </a:rPr>
              <a:t> Store (данные сайтов)</a:t>
            </a:r>
            <a:endParaRPr lang="ru-RU" b="0" i="0">
              <a:solidFill>
                <a:srgbClr val="1F1F1F"/>
              </a:solidFill>
              <a:latin typeface="Google Sans Text"/>
            </a:endParaRPr>
          </a:p>
          <a:p>
            <a:pPr algn="l">
              <a:buFont typeface="+mj-lt"/>
              <a:buAutoNum type="arabicParenR"/>
              <a:defRPr/>
            </a:pPr>
            <a:r>
              <a:rPr lang="ru-RU" b="0" i="0" u="sng" strike="noStrike">
                <a:solidFill>
                  <a:srgbClr val="0B57D0"/>
                </a:solidFill>
                <a:latin typeface="Google Sans Text"/>
                <a:hlinkClick r:id="rId5" tooltip="https://analytics.google.com/analytics/web/?utm_source=demoaccount&amp;utm_medium=demoaccount&amp;utm_campaign=demoaccount#/p153293282/reports/intelligenthome"/>
              </a:rPr>
              <a:t>Ресурс Google Аналитики 4: </a:t>
            </a:r>
            <a:r>
              <a:rPr lang="ru-RU" b="0" i="0" u="sng" strike="noStrike">
                <a:solidFill>
                  <a:srgbClr val="0B57D0"/>
                </a:solidFill>
                <a:latin typeface="Google Sans Text"/>
                <a:hlinkClick r:id="rId5" tooltip="https://analytics.google.com/analytics/web/?utm_source=demoaccount&amp;utm_medium=demoaccount&amp;utm_campaign=demoaccount#/p153293282/reports/intelligenthome"/>
              </a:rPr>
              <a:t>Flood</a:t>
            </a:r>
            <a:r>
              <a:rPr lang="ru-RU" b="0" i="0" u="sng" strike="noStrike">
                <a:solidFill>
                  <a:srgbClr val="0B57D0"/>
                </a:solidFill>
                <a:latin typeface="Google Sans Text"/>
                <a:hlinkClick r:id="rId5" tooltip="https://analytics.google.com/analytics/web/?utm_source=demoaccount&amp;utm_medium=demoaccount&amp;utm_campaign=demoaccount#/p153293282/reports/intelligenthome"/>
              </a:rPr>
              <a:t>-It! (данные сайтов и приложений)</a:t>
            </a:r>
            <a:endParaRPr lang="ru-RU" b="0" i="0">
              <a:solidFill>
                <a:srgbClr val="1F1F1F"/>
              </a:solidFill>
              <a:latin typeface="Google Sans Text"/>
            </a:endParaRPr>
          </a:p>
          <a:p>
            <a:pPr algn="l">
              <a:buFont typeface="+mj-lt"/>
              <a:buAutoNum type="arabicParenR"/>
              <a:defRPr/>
            </a:pPr>
            <a:r>
              <a:rPr lang="ru-RU" b="0" i="0" u="sng" strike="noStrike">
                <a:solidFill>
                  <a:srgbClr val="0B57D0"/>
                </a:solidFill>
                <a:latin typeface="Google Sans Text"/>
                <a:hlinkClick r:id="rId6" tooltip="https://analytics.google.com/analytics/web/?utm_source=demoaccount&amp;utm_medium=demoaccount&amp;utm_campaign=demoaccount#/report/visitors-overview/a54516992w87479473p92320289/"/>
              </a:rPr>
              <a:t>Ресурс Universal Analytics: Google </a:t>
            </a:r>
            <a:r>
              <a:rPr lang="ru-RU" b="0" i="0" u="sng" strike="noStrike">
                <a:solidFill>
                  <a:srgbClr val="0B57D0"/>
                </a:solidFill>
                <a:latin typeface="Google Sans Text"/>
                <a:hlinkClick r:id="rId6" tooltip="https://analytics.google.com/analytics/web/?utm_source=demoaccount&amp;utm_medium=demoaccount&amp;utm_campaign=demoaccount#/report/visitors-overview/a54516992w87479473p92320289/"/>
              </a:rPr>
              <a:t>Merchandise</a:t>
            </a:r>
            <a:r>
              <a:rPr lang="ru-RU" b="0" i="0" u="sng" strike="noStrike">
                <a:solidFill>
                  <a:srgbClr val="0B57D0"/>
                </a:solidFill>
                <a:latin typeface="Google Sans Text"/>
                <a:hlinkClick r:id="rId6" tooltip="https://analytics.google.com/analytics/web/?utm_source=demoaccount&amp;utm_medium=demoaccount&amp;utm_campaign=demoaccount#/report/visitors-overview/a54516992w87479473p92320289/"/>
              </a:rPr>
              <a:t> Store (данные сайтов)</a:t>
            </a:r>
            <a:endParaRPr lang="ru-RU" b="0" i="0">
              <a:solidFill>
                <a:srgbClr val="1F1F1F"/>
              </a:solidFill>
              <a:latin typeface="Google Sans Text"/>
            </a:endParaRPr>
          </a:p>
          <a:p>
            <a:pPr marL="0" indent="0">
              <a:buNone/>
              <a:defRPr/>
            </a:pPr>
            <a:endParaRPr lang="ru-RU"/>
          </a:p>
          <a:p>
            <a:pPr marL="0" indent="0">
              <a:buNone/>
              <a:defRPr/>
            </a:pPr>
            <a:endParaRPr lang="ru-RU"/>
          </a:p>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724297" y="313510"/>
            <a:ext cx="9780315" cy="627016"/>
          </a:xfrm>
        </p:spPr>
        <p:txBody>
          <a:bodyPr/>
          <a:lstStyle/>
          <a:p>
            <a:pPr algn="ctr">
              <a:defRPr/>
            </a:pPr>
            <a:r>
              <a:rPr lang="ru-RU" sz="3200" b="1">
                <a:latin typeface="Times New Roman"/>
                <a:cs typeface="Times New Roman"/>
              </a:rPr>
              <a:t>Примеры работы с Google Analytics</a:t>
            </a: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724297" y="1097281"/>
            <a:ext cx="9780315" cy="5447210"/>
          </a:xfrm>
        </p:spPr>
        <p:txBody>
          <a:bodyPr>
            <a:normAutofit lnSpcReduction="10000"/>
          </a:bodyPr>
          <a:lstStyle/>
          <a:p>
            <a:pPr>
              <a:defRPr/>
            </a:pPr>
            <a:endParaRPr lang="ru-RU" sz="2000">
              <a:latin typeface="Times New Roman"/>
              <a:cs typeface="Times New Roman"/>
            </a:endParaRPr>
          </a:p>
          <a:p>
            <a:pPr algn="just">
              <a:buFont typeface="Wingdings 3"/>
              <a:buAutoNum type="arabicParenR"/>
              <a:defRPr/>
            </a:pPr>
            <a:r>
              <a:rPr lang="ru-RU" sz="2800">
                <a:latin typeface="Times New Roman"/>
                <a:cs typeface="Times New Roman"/>
              </a:rPr>
              <a:t>Как подключить к сайту Google Analytics </a:t>
            </a:r>
            <a:r>
              <a:rPr lang="en-US" u="sng">
                <a:hlinkClick r:id="rId2" tooltip="https://help-ru.tilda.cc/statistics/google-analytics"/>
              </a:rPr>
              <a:t>https://help-ru.tilda.cc/statistics/google-analytics</a:t>
            </a:r>
            <a:endParaRPr lang="ru-RU"/>
          </a:p>
          <a:p>
            <a:pPr algn="just">
              <a:buFont typeface="Wingdings 3"/>
              <a:buAutoNum type="arabicParenR"/>
              <a:defRPr/>
            </a:pPr>
            <a:endParaRPr lang="ru-RU"/>
          </a:p>
          <a:p>
            <a:pPr algn="just">
              <a:buFont typeface="Wingdings 3"/>
              <a:buAutoNum type="arabicParenR"/>
              <a:defRPr/>
            </a:pPr>
            <a:r>
              <a:rPr lang="ru-RU" sz="2800">
                <a:latin typeface="Times New Roman"/>
                <a:cs typeface="Times New Roman"/>
              </a:rPr>
              <a:t>Как настроить сервис Google Analytics</a:t>
            </a:r>
            <a:r>
              <a:rPr lang="en-US" sz="2800">
                <a:latin typeface="Times New Roman"/>
                <a:cs typeface="Times New Roman"/>
              </a:rPr>
              <a:t> </a:t>
            </a:r>
            <a:r>
              <a:rPr lang="ru-RU" sz="2800">
                <a:latin typeface="Times New Roman"/>
                <a:cs typeface="Times New Roman"/>
              </a:rPr>
              <a:t>и работать с отчётами </a:t>
            </a:r>
            <a:r>
              <a:rPr lang="en-US" u="sng">
                <a:hlinkClick r:id="rId3" tooltip="https://skillbox.ru/media/marketing/gaydvvedenie-v-google-analytics-4-kak-nastroit-servis-i-rabotat-s-otchyetami"/>
              </a:rPr>
              <a:t>https://skillbox.ru/media/marketing/gaydvvedenie-v-google-analytics-4-kak-nastroit-servis-i-rabotat-s-otchyetami</a:t>
            </a:r>
            <a:endParaRPr lang="ru-RU"/>
          </a:p>
          <a:p>
            <a:pPr algn="just">
              <a:buFont typeface="Wingdings 3"/>
              <a:buAutoNum type="arabicParenR"/>
              <a:defRPr/>
            </a:pPr>
            <a:endParaRPr lang="ru-RU"/>
          </a:p>
          <a:p>
            <a:pPr algn="just">
              <a:buFont typeface="Wingdings 3"/>
              <a:buAutoNum type="arabicParenR"/>
              <a:defRPr/>
            </a:pPr>
            <a:r>
              <a:rPr lang="ru-RU" sz="2800">
                <a:latin typeface="Times New Roman"/>
                <a:cs typeface="Times New Roman"/>
              </a:rPr>
              <a:t>Создание и установка счетчика Google Analytics 4 </a:t>
            </a:r>
            <a:r>
              <a:rPr lang="en-US" u="sng">
                <a:hlinkClick r:id="rId4" tooltip="https://osipenkov.ru/add-google-analytics-4"/>
              </a:rPr>
              <a:t>https://osipenkov.ru/add-google-analytics-4</a:t>
            </a:r>
            <a:endParaRPr lang="ru-RU"/>
          </a:p>
          <a:p>
            <a:pPr algn="just">
              <a:buFont typeface="Wingdings 3"/>
              <a:buAutoNum type="arabicParenR"/>
              <a:defRPr/>
            </a:pPr>
            <a:endParaRPr lang="ru-RU"/>
          </a:p>
          <a:p>
            <a:pPr algn="just">
              <a:buFont typeface="Wingdings 3"/>
              <a:buAutoNum type="arabicParenR"/>
              <a:defRPr/>
            </a:pPr>
            <a:r>
              <a:rPr lang="ru-RU" sz="2800">
                <a:latin typeface="Times New Roman"/>
                <a:cs typeface="Times New Roman"/>
              </a:rPr>
              <a:t>Настройка </a:t>
            </a:r>
            <a:r>
              <a:rPr lang="en-US" sz="2800">
                <a:latin typeface="Times New Roman"/>
                <a:cs typeface="Times New Roman"/>
              </a:rPr>
              <a:t>Google Analytics 4 (GA4) </a:t>
            </a:r>
            <a:r>
              <a:rPr lang="ru-RU" sz="2800">
                <a:latin typeface="Times New Roman"/>
                <a:cs typeface="Times New Roman"/>
              </a:rPr>
              <a:t>через </a:t>
            </a:r>
            <a:r>
              <a:rPr lang="en-US" sz="2800">
                <a:latin typeface="Times New Roman"/>
                <a:cs typeface="Times New Roman"/>
              </a:rPr>
              <a:t>Google Tag Manager</a:t>
            </a:r>
            <a:r>
              <a:rPr lang="ru-RU" sz="2800">
                <a:latin typeface="Times New Roman"/>
                <a:cs typeface="Times New Roman"/>
              </a:rPr>
              <a:t> </a:t>
            </a:r>
            <a:r>
              <a:rPr lang="en-US" sz="2000" u="sng">
                <a:latin typeface="Times New Roman"/>
                <a:cs typeface="Times New Roman"/>
                <a:hlinkClick r:id="rId5" tooltip="https://youtu.be/3bDRngxxZ3o"/>
              </a:rPr>
              <a:t>https://youtu.be/3bDRngxxZ3o</a:t>
            </a:r>
            <a:endParaRPr lang="ru-RU" sz="2000">
              <a:latin typeface="Times New Roman"/>
              <a:cs typeface="Times New Roman"/>
            </a:endParaRPr>
          </a:p>
          <a:p>
            <a:pPr marL="0" indent="0">
              <a:buNone/>
              <a:defRPr/>
            </a:pPr>
            <a:endParaRPr lang="ru-RU"/>
          </a:p>
          <a:p>
            <a:pPr marL="0" indent="0">
              <a:buNone/>
              <a:defRPr/>
            </a:pPr>
            <a:endParaRPr lang="ru-RU"/>
          </a:p>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724297" y="624110"/>
            <a:ext cx="9780315" cy="1280890"/>
          </a:xfrm>
        </p:spPr>
        <p:txBody>
          <a:bodyPr/>
          <a:lstStyle/>
          <a:p>
            <a:pPr algn="ctr">
              <a:defRPr/>
            </a:pPr>
            <a:r>
              <a:rPr lang="ru-RU" b="1">
                <a:solidFill>
                  <a:srgbClr val="222222"/>
                </a:solidFill>
                <a:latin typeface="Times New Roman"/>
                <a:cs typeface="Arial"/>
              </a:rPr>
              <a:t>Т</a:t>
            </a:r>
            <a:r>
              <a:rPr lang="ru-RU" sz="3600" b="1">
                <a:solidFill>
                  <a:srgbClr val="222222"/>
                </a:solidFill>
                <a:latin typeface="Times New Roman"/>
                <a:cs typeface="Arial"/>
              </a:rPr>
              <a:t>естирование аналитики с помощью </a:t>
            </a:r>
            <a:r>
              <a:rPr lang="en-US" sz="3600" b="1">
                <a:solidFill>
                  <a:srgbClr val="222222"/>
                </a:solidFill>
                <a:latin typeface="Times New Roman"/>
                <a:cs typeface="Arial"/>
              </a:rPr>
              <a:t>JavaScript</a:t>
            </a:r>
            <a:endParaRPr lang="ru-RU"/>
          </a:p>
        </p:txBody>
      </p:sp>
      <p:sp>
        <p:nvSpPr>
          <p:cNvPr id="3" name="Объект 2"/>
          <p:cNvSpPr>
            <a:spLocks noGrp="1"/>
          </p:cNvSpPr>
          <p:nvPr>
            <p:ph idx="1"/>
          </p:nvPr>
        </p:nvSpPr>
        <p:spPr bwMode="auto">
          <a:xfrm>
            <a:off x="1724297" y="2133599"/>
            <a:ext cx="9780315" cy="4410891"/>
          </a:xfrm>
        </p:spPr>
        <p:txBody>
          <a:bodyPr/>
          <a:lstStyle/>
          <a:p>
            <a:pPr>
              <a:defRPr/>
            </a:pPr>
            <a:endParaRPr lang="ru-RU" sz="2000">
              <a:latin typeface="Times New Roman"/>
              <a:cs typeface="Times New Roman"/>
            </a:endParaRPr>
          </a:p>
          <a:p>
            <a:pPr algn="just">
              <a:defRPr/>
            </a:pPr>
            <a:r>
              <a:rPr lang="ru-RU" sz="2800">
                <a:latin typeface="Times New Roman"/>
                <a:cs typeface="Times New Roman"/>
              </a:rPr>
              <a:t>Знакомство с разработкой через тестирование в JavaScript:</a:t>
            </a:r>
            <a:endParaRPr/>
          </a:p>
          <a:p>
            <a:pPr marL="0" indent="0">
              <a:buNone/>
              <a:defRPr/>
            </a:pPr>
            <a:r>
              <a:rPr lang="en-US" u="sng">
                <a:hlinkClick r:id="rId2" tooltip="https://tproger.ru/translations/unit-testing-in-javascript"/>
              </a:rPr>
              <a:t>https://tproger.ru/translations/unit-testing-in-javascript</a:t>
            </a:r>
            <a:endParaRPr lang="en-US"/>
          </a:p>
          <a:p>
            <a:pPr marL="0" indent="0">
              <a:buNone/>
              <a:defRPr/>
            </a:pPr>
            <a:endParaRPr lang="ru-RU"/>
          </a:p>
          <a:p>
            <a:pPr marL="0" indent="0">
              <a:buNone/>
              <a:defRPr/>
            </a:pPr>
            <a:endParaRPr lang="en-US"/>
          </a:p>
          <a:p>
            <a:pPr algn="just">
              <a:defRPr/>
            </a:pPr>
            <a:r>
              <a:rPr lang="ru-RU" sz="2800">
                <a:latin typeface="Times New Roman"/>
                <a:cs typeface="Times New Roman"/>
              </a:rPr>
              <a:t>Программируемый тест на </a:t>
            </a:r>
            <a:r>
              <a:rPr lang="en-US" sz="2800">
                <a:latin typeface="Times New Roman"/>
                <a:cs typeface="Times New Roman"/>
              </a:rPr>
              <a:t>JavaScript</a:t>
            </a:r>
            <a:r>
              <a:rPr lang="ru-RU" sz="2800">
                <a:latin typeface="Times New Roman"/>
                <a:cs typeface="Times New Roman"/>
              </a:rPr>
              <a:t>:</a:t>
            </a:r>
            <a:endParaRPr/>
          </a:p>
          <a:p>
            <a:pPr marL="0" indent="0">
              <a:buNone/>
              <a:defRPr/>
            </a:pPr>
            <a:r>
              <a:rPr lang="en-US" u="sng">
                <a:hlinkClick r:id="rId3" tooltip="https://help-ru.roistat.com/features/Split-testirovanie/test_js"/>
              </a:rPr>
              <a:t>https://help-ru.roistat.com/features/Split-testirovanie/test_js</a:t>
            </a:r>
            <a:endParaRPr lang="en-US"/>
          </a:p>
          <a:p>
            <a:pPr marL="0" indent="0">
              <a:buNone/>
              <a:defRPr/>
            </a:pPr>
            <a:endParaRPr lang="ru-RU"/>
          </a:p>
          <a:p>
            <a:pPr marL="0" indent="0">
              <a:buNone/>
              <a:defRPr/>
            </a:pPr>
            <a:endParaRPr lang="ru-RU"/>
          </a:p>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ctrTitle"/>
          </p:nvPr>
        </p:nvSpPr>
        <p:spPr bwMode="auto">
          <a:xfrm>
            <a:off x="1972491" y="783770"/>
            <a:ext cx="9532121" cy="5159829"/>
          </a:xfrm>
        </p:spPr>
        <p:txBody>
          <a:bodyPr>
            <a:normAutofit/>
          </a:bodyPr>
          <a:lstStyle/>
          <a:p>
            <a:pPr algn="ctr">
              <a:defRPr/>
            </a:pPr>
            <a:r>
              <a:rPr lang="ru-RU" b="1">
                <a:solidFill>
                  <a:srgbClr val="222222"/>
                </a:solidFill>
                <a:latin typeface="Times New Roman"/>
                <a:cs typeface="Arial"/>
              </a:rPr>
              <a:t>Виды </a:t>
            </a:r>
            <a:r>
              <a:rPr lang="en-US" b="1">
                <a:solidFill>
                  <a:srgbClr val="222222"/>
                </a:solidFill>
                <a:latin typeface="Times New Roman"/>
                <a:cs typeface="Arial"/>
              </a:rPr>
              <a:t>API</a:t>
            </a:r>
            <a:r>
              <a:rPr lang="ru-RU" b="1">
                <a:solidFill>
                  <a:srgbClr val="222222"/>
                </a:solidFill>
                <a:latin typeface="Times New Roman"/>
                <a:cs typeface="Arial"/>
              </a:rPr>
              <a:t>: </a:t>
            </a:r>
            <a:r>
              <a:rPr lang="en-US" b="1">
                <a:solidFill>
                  <a:srgbClr val="222222"/>
                </a:solidFill>
                <a:latin typeface="Times New Roman"/>
                <a:cs typeface="Arial"/>
              </a:rPr>
              <a:t>REST</a:t>
            </a:r>
            <a:r>
              <a:rPr lang="ru-RU" b="1">
                <a:solidFill>
                  <a:srgbClr val="222222"/>
                </a:solidFill>
                <a:latin typeface="Times New Roman"/>
                <a:cs typeface="Arial"/>
              </a:rPr>
              <a:t>, </a:t>
            </a:r>
            <a:r>
              <a:rPr lang="en-US" b="1">
                <a:solidFill>
                  <a:srgbClr val="222222"/>
                </a:solidFill>
                <a:latin typeface="Times New Roman"/>
                <a:cs typeface="Arial"/>
              </a:rPr>
              <a:t>SOAP</a:t>
            </a:r>
            <a:r>
              <a:rPr lang="ru-RU" b="1">
                <a:solidFill>
                  <a:srgbClr val="222222"/>
                </a:solidFill>
                <a:latin typeface="Times New Roman"/>
                <a:cs typeface="Arial"/>
              </a:rPr>
              <a:t>. Спецификация </a:t>
            </a:r>
            <a:r>
              <a:rPr lang="en-US" b="1">
                <a:solidFill>
                  <a:srgbClr val="222222"/>
                </a:solidFill>
                <a:latin typeface="Times New Roman"/>
                <a:cs typeface="Arial"/>
              </a:rPr>
              <a:t>API</a:t>
            </a:r>
            <a:r>
              <a:rPr lang="ru-RU" b="1">
                <a:solidFill>
                  <a:srgbClr val="222222"/>
                </a:solidFill>
                <a:latin typeface="Times New Roman"/>
                <a:cs typeface="Arial"/>
              </a:rPr>
              <a:t>. </a:t>
            </a:r>
            <a:r>
              <a:rPr lang="en-US" b="1">
                <a:solidFill>
                  <a:srgbClr val="222222"/>
                </a:solidFill>
                <a:latin typeface="Times New Roman"/>
                <a:cs typeface="Arial"/>
              </a:rPr>
              <a:t>Swagger</a:t>
            </a:r>
            <a:r>
              <a:rPr lang="ru-RU" b="1">
                <a:solidFill>
                  <a:srgbClr val="222222"/>
                </a:solidFill>
                <a:latin typeface="Times New Roman"/>
                <a:cs typeface="Arial"/>
              </a:rPr>
              <a:t>. Форматы данных JSON, XML и их структура </a:t>
            </a:r>
            <a:br>
              <a:rPr lang="ru-RU" b="1">
                <a:solidFill>
                  <a:srgbClr val="222222"/>
                </a:solidFill>
                <a:latin typeface="Times New Roman"/>
                <a:ea typeface="Arial"/>
                <a:cs typeface="Arial"/>
              </a:rPr>
            </a:b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711234" y="169818"/>
            <a:ext cx="10149838" cy="822960"/>
          </a:xfrm>
        </p:spPr>
        <p:txBody>
          <a:bodyPr>
            <a:normAutofit/>
          </a:bodyPr>
          <a:lstStyle/>
          <a:p>
            <a:pPr algn="ctr">
              <a:defRPr/>
            </a:pPr>
            <a:r>
              <a:rPr lang="en-US" b="1">
                <a:solidFill>
                  <a:srgbClr val="222222"/>
                </a:solidFill>
                <a:latin typeface="Times New Roman"/>
                <a:cs typeface="Arial"/>
              </a:rPr>
              <a:t>REST API</a:t>
            </a:r>
            <a:endParaRPr lang="ru-RU" b="1">
              <a:solidFill>
                <a:srgbClr val="222222"/>
              </a:solidFill>
              <a:latin typeface="Times New Roman"/>
              <a:cs typeface="Arial"/>
            </a:endParaRPr>
          </a:p>
        </p:txBody>
      </p:sp>
      <p:sp>
        <p:nvSpPr>
          <p:cNvPr id="3" name="Объект 2"/>
          <p:cNvSpPr>
            <a:spLocks noGrp="1"/>
          </p:cNvSpPr>
          <p:nvPr>
            <p:ph idx="1"/>
          </p:nvPr>
        </p:nvSpPr>
        <p:spPr bwMode="auto">
          <a:xfrm>
            <a:off x="1711233" y="992779"/>
            <a:ext cx="10149838" cy="5695404"/>
          </a:xfrm>
        </p:spPr>
        <p:txBody>
          <a:bodyPr>
            <a:normAutofit fontScale="85000" lnSpcReduction="10000"/>
          </a:bodyPr>
          <a:lstStyle/>
          <a:p>
            <a:pPr algn="just">
              <a:defRPr/>
            </a:pPr>
            <a:r>
              <a:rPr lang="ru-RU" sz="2800" b="1">
                <a:latin typeface="Times New Roman"/>
                <a:cs typeface="Times New Roman"/>
              </a:rPr>
              <a:t>REST API </a:t>
            </a:r>
            <a:r>
              <a:rPr lang="ru-RU" sz="2800">
                <a:latin typeface="Times New Roman"/>
                <a:cs typeface="Times New Roman"/>
              </a:rPr>
              <a:t>— это архитектурный подход, который устанавливает ограничения для API: как они должны быть устроены и какие функции поддерживать. Это позволяет стандартизировать работу программных интерфейсов, сделать их более удобными и производительными.</a:t>
            </a:r>
            <a:endParaRPr/>
          </a:p>
          <a:p>
            <a:pPr marL="0" indent="0" algn="just">
              <a:buNone/>
              <a:defRPr/>
            </a:pPr>
            <a:r>
              <a:rPr lang="ru-RU" sz="2800">
                <a:latin typeface="Times New Roman"/>
                <a:cs typeface="Times New Roman"/>
              </a:rPr>
              <a:t>Слово REST — акроним от Representational State Transfer, что переводится на русский как «передача состояния представления», «передача репрезентативного состояния.</a:t>
            </a:r>
            <a:endParaRPr/>
          </a:p>
          <a:p>
            <a:pPr marL="0" indent="0" algn="just">
              <a:buNone/>
              <a:defRPr/>
            </a:pPr>
            <a:r>
              <a:rPr lang="ru-RU" sz="2800">
                <a:latin typeface="Times New Roman"/>
                <a:cs typeface="Times New Roman"/>
              </a:rPr>
              <a:t>В отличие от, например, SOAP API, </a:t>
            </a:r>
            <a:r>
              <a:rPr lang="ru-RU" sz="2800" b="1">
                <a:latin typeface="Times New Roman"/>
                <a:cs typeface="Times New Roman"/>
              </a:rPr>
              <a:t>REST API </a:t>
            </a:r>
            <a:r>
              <a:rPr lang="ru-RU" sz="2800">
                <a:latin typeface="Times New Roman"/>
                <a:cs typeface="Times New Roman"/>
              </a:rPr>
              <a:t>— </a:t>
            </a:r>
            <a:r>
              <a:rPr lang="ru-RU" sz="2800" b="1">
                <a:latin typeface="Times New Roman"/>
                <a:cs typeface="Times New Roman"/>
              </a:rPr>
              <a:t>не протокол</a:t>
            </a:r>
            <a:r>
              <a:rPr lang="ru-RU" sz="2800">
                <a:latin typeface="Times New Roman"/>
                <a:cs typeface="Times New Roman"/>
              </a:rPr>
              <a:t>, а простой список рекомендаций, которым можно следовать или не следовать. Поэтому у него нет собственных методов. С другой стороны, его автор Рой Филдинг создал ещё и </a:t>
            </a:r>
            <a:r>
              <a:rPr lang="ru-RU" sz="2800" u="sng">
                <a:latin typeface="Times New Roman"/>
                <a:cs typeface="Times New Roman"/>
                <a:hlinkClick r:id="rId2" tooltip="https://skillbox.ru/media/code/chto-takoe-http-i-zachem-on-nuzhen/?utm_source=media&amp;utm_medium=link&amp;utm_campaign=all_all_media_links_links_articles_all_all_skillbox"/>
              </a:rPr>
              <a:t>протокол HTTP</a:t>
            </a:r>
            <a:r>
              <a:rPr lang="ru-RU" sz="2800">
                <a:latin typeface="Times New Roman"/>
                <a:cs typeface="Times New Roman"/>
              </a:rPr>
              <a:t>, так что они очень хорошо сочетаются, и REST обычно используют в связке с HTTP. </a:t>
            </a:r>
            <a:endParaRPr/>
          </a:p>
          <a:p>
            <a:pPr marL="0" indent="0" algn="just">
              <a:buNone/>
              <a:defRPr/>
            </a:pPr>
            <a:r>
              <a:rPr lang="ru-RU" sz="2800">
                <a:latin typeface="Times New Roman"/>
                <a:cs typeface="Times New Roman"/>
              </a:rPr>
              <a:t>Иногда, помимо акронима REST, можно встретить слово </a:t>
            </a:r>
            <a:r>
              <a:rPr lang="ru-RU" sz="2800" b="1">
                <a:latin typeface="Times New Roman"/>
                <a:cs typeface="Times New Roman"/>
              </a:rPr>
              <a:t>RESTful</a:t>
            </a:r>
            <a:r>
              <a:rPr lang="ru-RU" sz="2800">
                <a:latin typeface="Times New Roman"/>
                <a:cs typeface="Times New Roman"/>
              </a:rPr>
              <a:t>. Это не термин, но в сообществе его применяют к веб-сервисам, которые соответствуют REST-архитектуре. </a:t>
            </a:r>
            <a:r>
              <a:rPr lang="ru-RU" sz="2800" i="1">
                <a:latin typeface="Times New Roman"/>
                <a:cs typeface="Times New Roman"/>
              </a:rPr>
              <a:t>RESTful используют как прилагательное</a:t>
            </a:r>
            <a:r>
              <a:rPr lang="ru-RU" sz="2800">
                <a:latin typeface="Times New Roman"/>
                <a:cs typeface="Times New Roman"/>
              </a:rPr>
              <a:t>.</a:t>
            </a:r>
            <a:endParaRPr/>
          </a:p>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711234" y="169818"/>
            <a:ext cx="10149838" cy="731520"/>
          </a:xfrm>
        </p:spPr>
        <p:txBody>
          <a:bodyPr>
            <a:normAutofit/>
          </a:bodyPr>
          <a:lstStyle/>
          <a:p>
            <a:pPr algn="ctr">
              <a:defRPr/>
            </a:pPr>
            <a:r>
              <a:rPr lang="ru-RU" b="1">
                <a:solidFill>
                  <a:srgbClr val="222222"/>
                </a:solidFill>
                <a:latin typeface="Times New Roman"/>
                <a:cs typeface="Arial"/>
              </a:rPr>
              <a:t>Принципы архитектуры </a:t>
            </a:r>
            <a:r>
              <a:rPr lang="en-US" b="1">
                <a:solidFill>
                  <a:srgbClr val="222222"/>
                </a:solidFill>
                <a:latin typeface="Times New Roman"/>
                <a:cs typeface="Arial"/>
              </a:rPr>
              <a:t>REST</a:t>
            </a:r>
            <a:r>
              <a:rPr lang="ru-RU" b="1">
                <a:solidFill>
                  <a:srgbClr val="222222"/>
                </a:solidFill>
                <a:latin typeface="Times New Roman"/>
                <a:cs typeface="Arial"/>
              </a:rPr>
              <a:t> </a:t>
            </a:r>
            <a:r>
              <a:rPr lang="en-US" b="1">
                <a:solidFill>
                  <a:srgbClr val="222222"/>
                </a:solidFill>
                <a:latin typeface="Times New Roman"/>
                <a:cs typeface="Arial"/>
              </a:rPr>
              <a:t>API</a:t>
            </a:r>
            <a:endParaRPr lang="ru-RU" b="1">
              <a:solidFill>
                <a:srgbClr val="222222"/>
              </a:solidFill>
              <a:latin typeface="Times New Roman"/>
              <a:cs typeface="Arial"/>
            </a:endParaRPr>
          </a:p>
        </p:txBody>
      </p:sp>
      <p:sp>
        <p:nvSpPr>
          <p:cNvPr id="6" name="Объект 2"/>
          <p:cNvSpPr>
            <a:spLocks noGrp="1"/>
          </p:cNvSpPr>
          <p:nvPr>
            <p:ph idx="1"/>
          </p:nvPr>
        </p:nvSpPr>
        <p:spPr bwMode="auto">
          <a:xfrm>
            <a:off x="1711233" y="992779"/>
            <a:ext cx="10149838" cy="5695404"/>
          </a:xfrm>
        </p:spPr>
        <p:txBody>
          <a:bodyPr>
            <a:normAutofit fontScale="92500" lnSpcReduction="10000"/>
          </a:bodyPr>
          <a:lstStyle/>
          <a:p>
            <a:pPr algn="just">
              <a:defRPr/>
            </a:pPr>
            <a:r>
              <a:rPr lang="ru-RU" sz="2800">
                <a:latin typeface="Times New Roman"/>
                <a:cs typeface="Times New Roman"/>
              </a:rPr>
              <a:t>Основные требования к проектированию </a:t>
            </a:r>
            <a:r>
              <a:rPr lang="en-US" sz="2800">
                <a:latin typeface="Times New Roman"/>
                <a:cs typeface="Times New Roman"/>
              </a:rPr>
              <a:t>API</a:t>
            </a:r>
            <a:r>
              <a:rPr lang="ru-RU" sz="2800">
                <a:latin typeface="Times New Roman"/>
                <a:cs typeface="Times New Roman"/>
              </a:rPr>
              <a:t>:</a:t>
            </a:r>
            <a:endParaRPr/>
          </a:p>
          <a:p>
            <a:pPr marL="0" indent="0" algn="just">
              <a:buNone/>
              <a:defRPr/>
            </a:pPr>
            <a:r>
              <a:rPr lang="ru-RU" sz="2400">
                <a:latin typeface="Times New Roman"/>
                <a:cs typeface="Times New Roman"/>
              </a:rPr>
              <a:t>1) Клиент-серверная модель (</a:t>
            </a:r>
            <a:r>
              <a:rPr lang="en-US" sz="2400">
                <a:latin typeface="Times New Roman"/>
                <a:cs typeface="Times New Roman"/>
              </a:rPr>
              <a:t>client-server model).</a:t>
            </a:r>
            <a:endParaRPr lang="ru-RU" sz="2400">
              <a:latin typeface="Times New Roman"/>
              <a:cs typeface="Times New Roman"/>
            </a:endParaRPr>
          </a:p>
          <a:p>
            <a:pPr marL="0" indent="0" algn="just">
              <a:buNone/>
              <a:defRPr/>
            </a:pPr>
            <a:endParaRPr lang="en-US" sz="2400">
              <a:latin typeface="Times New Roman"/>
              <a:cs typeface="Times New Roman"/>
            </a:endParaRPr>
          </a:p>
          <a:p>
            <a:pPr marL="0" indent="0" algn="just">
              <a:buNone/>
              <a:defRPr/>
            </a:pPr>
            <a:r>
              <a:rPr lang="ru-RU" sz="2400">
                <a:latin typeface="Times New Roman"/>
                <a:cs typeface="Times New Roman"/>
              </a:rPr>
              <a:t>2) Отсутствие состояния (</a:t>
            </a:r>
            <a:r>
              <a:rPr lang="en-US" sz="2400">
                <a:latin typeface="Times New Roman"/>
                <a:cs typeface="Times New Roman"/>
              </a:rPr>
              <a:t>statelessness).</a:t>
            </a:r>
            <a:endParaRPr lang="ru-RU" sz="2400">
              <a:latin typeface="Times New Roman"/>
              <a:cs typeface="Times New Roman"/>
            </a:endParaRPr>
          </a:p>
          <a:p>
            <a:pPr marL="0" indent="0" algn="just">
              <a:buNone/>
              <a:defRPr/>
            </a:pPr>
            <a:endParaRPr lang="en-US" sz="2400">
              <a:latin typeface="Times New Roman"/>
              <a:cs typeface="Times New Roman"/>
            </a:endParaRPr>
          </a:p>
          <a:p>
            <a:pPr marL="0" indent="0" algn="just">
              <a:buNone/>
              <a:defRPr/>
            </a:pPr>
            <a:r>
              <a:rPr lang="ru-RU" sz="2400">
                <a:latin typeface="Times New Roman"/>
                <a:cs typeface="Times New Roman"/>
              </a:rPr>
              <a:t>3) Кэширование (</a:t>
            </a:r>
            <a:r>
              <a:rPr lang="en-US" sz="2400">
                <a:latin typeface="Times New Roman"/>
                <a:cs typeface="Times New Roman"/>
              </a:rPr>
              <a:t>cacheability).</a:t>
            </a:r>
            <a:endParaRPr lang="ru-RU" sz="2400">
              <a:latin typeface="Times New Roman"/>
              <a:cs typeface="Times New Roman"/>
            </a:endParaRPr>
          </a:p>
          <a:p>
            <a:pPr marL="0" indent="0" algn="just">
              <a:buNone/>
              <a:defRPr/>
            </a:pPr>
            <a:endParaRPr lang="en-US" sz="2400">
              <a:latin typeface="Times New Roman"/>
              <a:cs typeface="Times New Roman"/>
            </a:endParaRPr>
          </a:p>
          <a:p>
            <a:pPr marL="0" indent="0" algn="just">
              <a:buNone/>
              <a:defRPr/>
            </a:pPr>
            <a:r>
              <a:rPr lang="ru-RU" sz="2400">
                <a:latin typeface="Times New Roman"/>
                <a:cs typeface="Times New Roman"/>
              </a:rPr>
              <a:t>4) Единообразие интерфейса (</a:t>
            </a:r>
            <a:r>
              <a:rPr lang="en-US" sz="2400">
                <a:latin typeface="Times New Roman"/>
                <a:cs typeface="Times New Roman"/>
              </a:rPr>
              <a:t>uniform interface).</a:t>
            </a:r>
            <a:endParaRPr lang="ru-RU" sz="2400">
              <a:latin typeface="Times New Roman"/>
              <a:cs typeface="Times New Roman"/>
            </a:endParaRPr>
          </a:p>
          <a:p>
            <a:pPr marL="0" indent="0" algn="just">
              <a:buNone/>
              <a:defRPr/>
            </a:pPr>
            <a:endParaRPr lang="en-US" sz="2400">
              <a:latin typeface="Times New Roman"/>
              <a:cs typeface="Times New Roman"/>
            </a:endParaRPr>
          </a:p>
          <a:p>
            <a:pPr marL="0" indent="0" algn="just">
              <a:buNone/>
              <a:defRPr/>
            </a:pPr>
            <a:r>
              <a:rPr lang="ru-RU" sz="2400">
                <a:latin typeface="Times New Roman"/>
                <a:cs typeface="Times New Roman"/>
              </a:rPr>
              <a:t>5) Многоуровневая система (</a:t>
            </a:r>
            <a:r>
              <a:rPr lang="en-US" sz="2400">
                <a:latin typeface="Times New Roman"/>
                <a:cs typeface="Times New Roman"/>
              </a:rPr>
              <a:t>layered system).</a:t>
            </a:r>
            <a:endParaRPr lang="ru-RU" sz="2400">
              <a:latin typeface="Times New Roman"/>
              <a:cs typeface="Times New Roman"/>
            </a:endParaRPr>
          </a:p>
          <a:p>
            <a:pPr marL="0" indent="0" algn="just">
              <a:buNone/>
              <a:defRPr/>
            </a:pPr>
            <a:endParaRPr lang="en-US" sz="2400">
              <a:latin typeface="Times New Roman"/>
              <a:cs typeface="Times New Roman"/>
            </a:endParaRPr>
          </a:p>
          <a:p>
            <a:pPr marL="0" indent="0" algn="just">
              <a:buNone/>
              <a:defRPr/>
            </a:pPr>
            <a:r>
              <a:rPr lang="ru-RU" sz="2400">
                <a:latin typeface="Times New Roman"/>
                <a:cs typeface="Times New Roman"/>
              </a:rPr>
              <a:t>6) Код по требованию (code on demand) — необязательно.</a:t>
            </a:r>
            <a:endParaRPr/>
          </a:p>
          <a:p>
            <a:pPr marL="0" indent="0" algn="r">
              <a:buNone/>
              <a:defRPr/>
            </a:pPr>
            <a:r>
              <a:rPr lang="en-US" sz="2200" u="sng">
                <a:latin typeface="Times New Roman"/>
                <a:cs typeface="Times New Roman"/>
                <a:hlinkClick r:id="rId2" tooltip="https://skillbox.ru/media/code/rest-api-chto-eto-takoe-i-kak-rabotaet"/>
              </a:rPr>
              <a:t>https://skillbox.ru/media/code/rest-api-chto-eto-takoe-i-kak-rabotaet</a:t>
            </a:r>
            <a:endParaRPr lang="ru-RU" sz="2200">
              <a:latin typeface="Times New Roman"/>
              <a:cs typeface="Times New Roman"/>
            </a:endParaRPr>
          </a:p>
          <a:p>
            <a:pPr marL="0" indent="0" algn="r">
              <a:buNone/>
              <a:defRPr/>
            </a:pPr>
            <a:endParaRPr lang="ru-RU" sz="2400">
              <a:latin typeface="Times New Roman"/>
              <a:cs typeface="Times New Roman"/>
            </a:endParaRPr>
          </a:p>
          <a:p>
            <a:pPr marL="0" indent="0" algn="just">
              <a:buNone/>
              <a:defRPr/>
            </a:pPr>
            <a:endParaRPr lang="ru-RU">
              <a:solidFill>
                <a:srgbClr val="000000"/>
              </a:solidFill>
              <a:latin typeface="GraphikLCG-Regular"/>
            </a:endParaRPr>
          </a:p>
          <a:p>
            <a:pPr algn="just">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711234" y="169818"/>
            <a:ext cx="10149838" cy="731520"/>
          </a:xfrm>
        </p:spPr>
        <p:txBody>
          <a:bodyPr>
            <a:normAutofit fontScale="90000"/>
          </a:bodyPr>
          <a:lstStyle/>
          <a:p>
            <a:pPr algn="ctr">
              <a:defRPr/>
            </a:pPr>
            <a:r>
              <a:rPr lang="ru-RU" b="1">
                <a:solidFill>
                  <a:srgbClr val="222222"/>
                </a:solidFill>
                <a:latin typeface="Times New Roman"/>
                <a:cs typeface="Arial"/>
              </a:rPr>
              <a:t>Клиент-серверная модель</a:t>
            </a:r>
            <a:br>
              <a:rPr lang="ru-RU" b="1" i="0" u="none" strike="noStrike">
                <a:solidFill>
                  <a:srgbClr val="000000"/>
                </a:solidFill>
                <a:latin typeface="var(--stk-f_family)"/>
              </a:rPr>
            </a:br>
            <a:endParaRPr lang="ru-RU" b="1">
              <a:solidFill>
                <a:srgbClr val="222222"/>
              </a:solidFill>
              <a:latin typeface="Times New Roman"/>
              <a:cs typeface="Arial"/>
            </a:endParaRPr>
          </a:p>
        </p:txBody>
      </p:sp>
      <p:sp>
        <p:nvSpPr>
          <p:cNvPr id="6" name="Объект 2"/>
          <p:cNvSpPr>
            <a:spLocks noGrp="1"/>
          </p:cNvSpPr>
          <p:nvPr>
            <p:ph idx="1"/>
          </p:nvPr>
        </p:nvSpPr>
        <p:spPr bwMode="auto">
          <a:xfrm>
            <a:off x="1776547" y="783774"/>
            <a:ext cx="10149838" cy="5695404"/>
          </a:xfrm>
        </p:spPr>
        <p:txBody>
          <a:bodyPr>
            <a:normAutofit/>
          </a:bodyPr>
          <a:lstStyle/>
          <a:p>
            <a:pPr algn="just">
              <a:defRPr/>
            </a:pPr>
            <a:r>
              <a:rPr lang="ru-RU" sz="2600" b="1">
                <a:latin typeface="Times New Roman"/>
                <a:cs typeface="Times New Roman"/>
              </a:rPr>
              <a:t>Сервер</a:t>
            </a:r>
            <a:r>
              <a:rPr lang="ru-RU" sz="2600">
                <a:latin typeface="Times New Roman"/>
                <a:cs typeface="Times New Roman"/>
              </a:rPr>
              <a:t> — программа, в которой хранятся и обрабатываются ресурсы. Сервер может располагаться на одном или нескольких компьютерах, но даже в одном компьютере может быть несколько виртуальных серверов. </a:t>
            </a:r>
            <a:endParaRPr/>
          </a:p>
          <a:p>
            <a:pPr algn="just">
              <a:defRPr/>
            </a:pPr>
            <a:r>
              <a:rPr lang="ru-RU" sz="2600" b="1">
                <a:latin typeface="Times New Roman"/>
                <a:cs typeface="Times New Roman"/>
              </a:rPr>
              <a:t>Клиент</a:t>
            </a:r>
            <a:r>
              <a:rPr lang="ru-RU" sz="2600">
                <a:latin typeface="Times New Roman"/>
                <a:cs typeface="Times New Roman"/>
              </a:rPr>
              <a:t> — программа, которая запрашивает у сервера доступ к ресурсам. Для этого она использует API.</a:t>
            </a:r>
            <a:endParaRPr/>
          </a:p>
          <a:p>
            <a:pPr algn="just">
              <a:defRPr/>
            </a:pPr>
            <a:endParaRPr lang="ru-RU" sz="2600">
              <a:latin typeface="Times New Roman"/>
              <a:cs typeface="Times New Roman"/>
            </a:endParaRPr>
          </a:p>
          <a:p>
            <a:pPr marL="0" indent="0" algn="just">
              <a:buNone/>
              <a:defRPr/>
            </a:pPr>
            <a:endParaRPr lang="ru-RU">
              <a:solidFill>
                <a:srgbClr val="000000"/>
              </a:solidFill>
              <a:latin typeface="GraphikLCG-Regular"/>
            </a:endParaRPr>
          </a:p>
          <a:p>
            <a:pPr algn="just">
              <a:defRPr/>
            </a:pPr>
            <a:endParaRPr lang="ru-RU"/>
          </a:p>
        </p:txBody>
      </p:sp>
      <p:pic>
        <p:nvPicPr>
          <p:cNvPr id="5" name="Picture 2"/>
          <p:cNvPicPr>
            <a:picLocks noChangeAspect="1" noChangeArrowheads="1"/>
          </p:cNvPicPr>
          <p:nvPr/>
        </p:nvPicPr>
        <p:blipFill>
          <a:blip r:embed="rId2"/>
          <a:stretch/>
        </p:blipFill>
        <p:spPr bwMode="auto">
          <a:xfrm>
            <a:off x="1645917" y="4049035"/>
            <a:ext cx="10280472" cy="2323120"/>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907177" y="120085"/>
            <a:ext cx="10149838" cy="731520"/>
          </a:xfrm>
        </p:spPr>
        <p:txBody>
          <a:bodyPr>
            <a:normAutofit fontScale="90000"/>
          </a:bodyPr>
          <a:lstStyle/>
          <a:p>
            <a:pPr algn="ctr">
              <a:defRPr/>
            </a:pPr>
            <a:r>
              <a:rPr lang="ru-RU" b="1">
                <a:solidFill>
                  <a:srgbClr val="222222"/>
                </a:solidFill>
                <a:latin typeface="Times New Roman"/>
                <a:cs typeface="Arial"/>
              </a:rPr>
              <a:t>Отсутствие состояния</a:t>
            </a:r>
            <a:br>
              <a:rPr lang="ru-RU" b="1" i="0" u="none" strike="noStrike">
                <a:solidFill>
                  <a:srgbClr val="000000"/>
                </a:solidFill>
                <a:latin typeface="var(--stk-f_family)"/>
              </a:rPr>
            </a:br>
            <a:endParaRPr lang="ru-RU" b="1">
              <a:solidFill>
                <a:srgbClr val="222222"/>
              </a:solidFill>
              <a:latin typeface="Times New Roman"/>
              <a:cs typeface="Arial"/>
            </a:endParaRPr>
          </a:p>
        </p:txBody>
      </p:sp>
      <p:sp>
        <p:nvSpPr>
          <p:cNvPr id="6" name="Объект 2"/>
          <p:cNvSpPr>
            <a:spLocks noGrp="1"/>
          </p:cNvSpPr>
          <p:nvPr>
            <p:ph idx="1"/>
          </p:nvPr>
        </p:nvSpPr>
        <p:spPr bwMode="auto">
          <a:xfrm>
            <a:off x="1776547" y="783774"/>
            <a:ext cx="10149838" cy="5695404"/>
          </a:xfrm>
        </p:spPr>
        <p:txBody>
          <a:bodyPr>
            <a:normAutofit fontScale="92500" lnSpcReduction="10000"/>
          </a:bodyPr>
          <a:lstStyle/>
          <a:p>
            <a:pPr algn="just">
              <a:defRPr/>
            </a:pPr>
            <a:r>
              <a:rPr lang="ru-RU" sz="2600">
                <a:latin typeface="Times New Roman"/>
                <a:cs typeface="Times New Roman"/>
              </a:rPr>
              <a:t>Этот принцип означает, что на сервере не хранится никаких данных о прошлых взаимодействиях с клиентом — каждый запрос должен содержать всю информацию для его обработки.</a:t>
            </a:r>
            <a:endParaRPr/>
          </a:p>
          <a:p>
            <a:pPr marL="0" indent="0" algn="just">
              <a:buNone/>
              <a:defRPr/>
            </a:pPr>
            <a:endParaRPr lang="ru-RU">
              <a:solidFill>
                <a:srgbClr val="000000"/>
              </a:solidFill>
              <a:latin typeface="GraphikLCG-Regular"/>
            </a:endParaRPr>
          </a:p>
          <a:p>
            <a:pPr marL="0" indent="0" algn="just">
              <a:buNone/>
              <a:defRPr/>
            </a:pPr>
            <a:r>
              <a:rPr lang="ru-RU" sz="2600">
                <a:latin typeface="Times New Roman"/>
                <a:cs typeface="Times New Roman"/>
              </a:rPr>
              <a:t>Например, кто-то запросил последнее сообщение от ООО «Рога и копыта». В этом запросе содержится вся информация, которая нужна серверу, чтобы дать корректный ответ.</a:t>
            </a:r>
            <a:endParaRPr/>
          </a:p>
          <a:p>
            <a:pPr marL="0" indent="0" algn="just">
              <a:buNone/>
              <a:defRPr/>
            </a:pPr>
            <a:r>
              <a:rPr lang="ru-RU" sz="2600">
                <a:latin typeface="Times New Roman"/>
                <a:cs typeface="Times New Roman"/>
              </a:rPr>
              <a:t>Если клиент потом хочет получить предпоследнее сообщение, то он не может просто сказать: «Дай мне соседний ресурс» — ему нужно заново составить полный запрос по всем правилам.</a:t>
            </a:r>
            <a:endParaRPr/>
          </a:p>
          <a:p>
            <a:pPr marL="0" indent="0" algn="just">
              <a:buNone/>
              <a:defRPr/>
            </a:pPr>
            <a:endParaRPr lang="ru-RU" sz="2600">
              <a:latin typeface="Times New Roman"/>
              <a:cs typeface="Times New Roman"/>
            </a:endParaRPr>
          </a:p>
          <a:p>
            <a:pPr marL="0" indent="0" algn="just">
              <a:buNone/>
              <a:defRPr/>
            </a:pPr>
            <a:r>
              <a:rPr lang="ru-RU" sz="2600" i="1">
                <a:latin typeface="Times New Roman"/>
                <a:cs typeface="Times New Roman"/>
              </a:rPr>
              <a:t>Это снижает нагрузку на сервер, что особенно полезно, если к нему подключено одновременно много клиентов. Не нужно хранить дополнительную информацию о прошлых обращениях каждого из них. Достаточно обработать каждый запрос в отдельности.</a:t>
            </a:r>
            <a:endParaRPr/>
          </a:p>
          <a:p>
            <a:pPr algn="just">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907177" y="120085"/>
            <a:ext cx="10149838" cy="731520"/>
          </a:xfrm>
        </p:spPr>
        <p:txBody>
          <a:bodyPr>
            <a:normAutofit fontScale="90000"/>
          </a:bodyPr>
          <a:lstStyle/>
          <a:p>
            <a:pPr algn="ctr">
              <a:defRPr/>
            </a:pPr>
            <a:r>
              <a:rPr lang="ru-RU" b="1">
                <a:solidFill>
                  <a:srgbClr val="222222"/>
                </a:solidFill>
                <a:latin typeface="Times New Roman"/>
                <a:cs typeface="Arial"/>
              </a:rPr>
              <a:t>Кэширование</a:t>
            </a:r>
            <a:br>
              <a:rPr lang="ru-RU" b="1" i="0" u="none" strike="noStrike">
                <a:solidFill>
                  <a:srgbClr val="000000"/>
                </a:solidFill>
                <a:latin typeface="var(--stk-f_family)"/>
              </a:rPr>
            </a:br>
            <a:br>
              <a:rPr lang="ru-RU" b="1" i="0" u="none" strike="noStrike">
                <a:solidFill>
                  <a:srgbClr val="000000"/>
                </a:solidFill>
                <a:latin typeface="var(--stk-f_family)"/>
              </a:rPr>
            </a:br>
            <a:endParaRPr lang="ru-RU" b="1">
              <a:solidFill>
                <a:srgbClr val="222222"/>
              </a:solidFill>
              <a:latin typeface="Times New Roman"/>
              <a:cs typeface="Arial"/>
            </a:endParaRPr>
          </a:p>
        </p:txBody>
      </p:sp>
      <p:sp>
        <p:nvSpPr>
          <p:cNvPr id="6" name="Объект 2"/>
          <p:cNvSpPr>
            <a:spLocks noGrp="1"/>
          </p:cNvSpPr>
          <p:nvPr>
            <p:ph idx="1"/>
          </p:nvPr>
        </p:nvSpPr>
        <p:spPr bwMode="auto">
          <a:xfrm>
            <a:off x="1776547" y="783774"/>
            <a:ext cx="10149838" cy="5695404"/>
          </a:xfrm>
        </p:spPr>
        <p:txBody>
          <a:bodyPr>
            <a:normAutofit lnSpcReduction="10000"/>
          </a:bodyPr>
          <a:lstStyle/>
          <a:p>
            <a:pPr algn="just">
              <a:defRPr/>
            </a:pPr>
            <a:r>
              <a:rPr lang="ru-RU" sz="2400">
                <a:latin typeface="Times New Roman"/>
                <a:cs typeface="Times New Roman"/>
              </a:rPr>
              <a:t>Иногда клиент запрашивает с сервера одни и те же данные по несколько раз — например, вы постоянно обращаетесь к какому-нибудь важному письму в сервисе для учёта деловых переписок.</a:t>
            </a:r>
            <a:endParaRPr/>
          </a:p>
          <a:p>
            <a:pPr algn="just">
              <a:defRPr/>
            </a:pPr>
            <a:endParaRPr lang="ru-RU" sz="2400">
              <a:latin typeface="Times New Roman"/>
              <a:cs typeface="Times New Roman"/>
            </a:endParaRPr>
          </a:p>
          <a:p>
            <a:pPr marL="0" indent="0" algn="just">
              <a:buNone/>
              <a:defRPr/>
            </a:pPr>
            <a:r>
              <a:rPr lang="ru-RU" sz="2400">
                <a:latin typeface="Times New Roman"/>
                <a:cs typeface="Times New Roman"/>
              </a:rPr>
              <a:t>Если при каждом таком запросе сервер будет с нуля собирать нужные данные и отправлять их клиенту, нагрузка на систему повысится — особенно когда таких повторов много. Решением проблемы в REST API стало кэширование, то есть сохранение части данных у клиента или на промежуточных серверах.</a:t>
            </a:r>
            <a:endParaRPr/>
          </a:p>
          <a:p>
            <a:pPr marL="0" indent="0" algn="just">
              <a:buNone/>
              <a:defRPr/>
            </a:pPr>
            <a:r>
              <a:rPr lang="ru-RU" sz="2400">
                <a:latin typeface="Times New Roman"/>
                <a:cs typeface="Times New Roman"/>
              </a:rPr>
              <a:t>Здесь важно подойти к делу без излишнего фанатизма и не кэшировать всю информацию подряд. Во-первых, для этого потребовались бы слишком большие объёмы памяти. Во-вторых, какие-то данные (скажем, количество исходящих писем) со временем могут устаревать.</a:t>
            </a:r>
            <a:endParaRPr/>
          </a:p>
          <a:p>
            <a:pPr marL="0" indent="0" algn="just">
              <a:buNone/>
              <a:defRPr/>
            </a:pPr>
            <a:r>
              <a:rPr lang="ru-RU" sz="2400">
                <a:latin typeface="Times New Roman"/>
                <a:cs typeface="Times New Roman"/>
              </a:rPr>
              <a:t>Именно поэтому в каждом ответе сервера на запрос есть пометка о том, можно ли его </a:t>
            </a:r>
            <a:r>
              <a:rPr lang="ru-RU" sz="2400" b="1">
                <a:latin typeface="Times New Roman"/>
                <a:cs typeface="Times New Roman"/>
              </a:rPr>
              <a:t>кэшировать</a:t>
            </a:r>
            <a:r>
              <a:rPr lang="ru-RU" sz="2400">
                <a:latin typeface="Times New Roman"/>
                <a:cs typeface="Times New Roman"/>
              </a:rPr>
              <a:t>.</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Единообразие интерфейса</a:t>
            </a:r>
            <a:br>
              <a:rPr lang="ru-RU" b="1" i="0" u="none" strike="noStrike">
                <a:solidFill>
                  <a:srgbClr val="000000"/>
                </a:solidFill>
                <a:latin typeface="var(--stk-f_family)"/>
              </a:rPr>
            </a:br>
            <a:endParaRPr lang="ru-RU"/>
          </a:p>
        </p:txBody>
      </p:sp>
      <p:sp>
        <p:nvSpPr>
          <p:cNvPr id="3" name="Объект 2"/>
          <p:cNvSpPr>
            <a:spLocks noGrp="1"/>
          </p:cNvSpPr>
          <p:nvPr>
            <p:ph idx="1"/>
          </p:nvPr>
        </p:nvSpPr>
        <p:spPr bwMode="auto">
          <a:xfrm>
            <a:off x="1841863" y="946779"/>
            <a:ext cx="10071463" cy="5610776"/>
          </a:xfrm>
        </p:spPr>
        <p:txBody>
          <a:bodyPr/>
          <a:lstStyle/>
          <a:p>
            <a:pPr algn="just">
              <a:defRPr/>
            </a:pPr>
            <a:r>
              <a:rPr lang="ru-RU" sz="2400">
                <a:latin typeface="Times New Roman"/>
                <a:cs typeface="Times New Roman"/>
              </a:rPr>
              <a:t>Должен быть единый способ обращения к каждому ресурсу. Например, мы хотим добавить в наш сервис новую функциональность для просмотра данных о денежных переводах. Понятно, что логика интерфейса для обращения к ним должна быть такой же, как и для всего, что было в сервисе раньше.</a:t>
            </a:r>
            <a:endParaRPr/>
          </a:p>
          <a:p>
            <a:pPr marL="0" indent="0" algn="just">
              <a:buNone/>
              <a:defRPr/>
            </a:pPr>
            <a:r>
              <a:rPr lang="ru-RU" sz="2400">
                <a:latin typeface="Times New Roman"/>
                <a:cs typeface="Times New Roman"/>
              </a:rPr>
              <a:t>Файлы обычно передаются клиенту не в том виде, в котором хранятся на сервере. В вебе их часто преобразуют в JSON или XML и только потом отправляют клиенту. Ответ на запросы к новому ресурсу должен приходить в том же формате, что и к старым, и сразу же содержать дополнительную информацию: что разрешается делать с ресурсом, можно ли его изменять и удалять на сервере и так далее.</a:t>
            </a:r>
            <a:endParaRPr/>
          </a:p>
          <a:p>
            <a:pPr marL="0" indent="0" algn="just">
              <a:buNone/>
              <a:defRPr/>
            </a:pPr>
            <a:r>
              <a:rPr lang="ru-RU" sz="2400">
                <a:latin typeface="Times New Roman"/>
                <a:cs typeface="Times New Roman"/>
              </a:rPr>
              <a:t>Для реализации единообразного интерфейса в REST API используется принцип HATEOAS (Hypermedia as the Engine of Application State).</a:t>
            </a:r>
            <a:endParaRPr/>
          </a:p>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Многоуровневая система</a:t>
            </a:r>
            <a:br>
              <a:rPr lang="ru-RU" sz="3200" b="1">
                <a:solidFill>
                  <a:srgbClr val="222222"/>
                </a:solidFill>
                <a:latin typeface="Times New Roman"/>
                <a:cs typeface="Arial"/>
              </a:rPr>
            </a:br>
            <a:br>
              <a:rPr lang="ru-RU" b="1" i="0" u="none" strike="noStrike">
                <a:solidFill>
                  <a:srgbClr val="000000"/>
                </a:solidFill>
                <a:latin typeface="var(--stk-f_family)"/>
              </a:rPr>
            </a:br>
            <a:endParaRPr lang="ru-RU"/>
          </a:p>
        </p:txBody>
      </p:sp>
      <p:sp>
        <p:nvSpPr>
          <p:cNvPr id="3" name="Объект 2"/>
          <p:cNvSpPr>
            <a:spLocks noGrp="1"/>
          </p:cNvSpPr>
          <p:nvPr>
            <p:ph idx="1"/>
          </p:nvPr>
        </p:nvSpPr>
        <p:spPr bwMode="auto">
          <a:xfrm>
            <a:off x="1841863" y="946779"/>
            <a:ext cx="10071463" cy="5610776"/>
          </a:xfrm>
        </p:spPr>
        <p:txBody>
          <a:bodyPr/>
          <a:lstStyle/>
          <a:p>
            <a:pPr algn="just">
              <a:defRPr/>
            </a:pPr>
            <a:r>
              <a:rPr lang="ru-RU" sz="2400">
                <a:latin typeface="Times New Roman"/>
                <a:cs typeface="Times New Roman"/>
              </a:rPr>
              <a:t>До сих пор мы рассматривали сервер как единую сущность. Но его структура куда сложнее. Между ним и клиентом есть несколько промежуточных узлов, выполняющих вспомогательные функции, —прокси-серверы.</a:t>
            </a:r>
            <a:endParaRPr/>
          </a:p>
          <a:p>
            <a:pPr marL="0" indent="0" algn="just">
              <a:buNone/>
              <a:defRPr/>
            </a:pPr>
            <a:r>
              <a:rPr lang="ru-RU" sz="2400">
                <a:latin typeface="Times New Roman"/>
                <a:cs typeface="Times New Roman"/>
              </a:rPr>
              <a:t>Они используются для кэширования</a:t>
            </a:r>
            <a:r>
              <a:rPr lang="ru-RU" b="0" i="0" u="none" strike="noStrike">
                <a:solidFill>
                  <a:srgbClr val="000000"/>
                </a:solidFill>
                <a:latin typeface="var(--stk-f_family)"/>
              </a:rPr>
              <a:t>, </a:t>
            </a:r>
            <a:r>
              <a:rPr lang="ru-RU" sz="2400">
                <a:latin typeface="Times New Roman"/>
                <a:cs typeface="Times New Roman"/>
              </a:rPr>
              <a:t>обеспечения безопасности, дополнительной обработки данных. Если основных серверов несколько, то дополнительные серверы-балансировщики могут распределять нагрузку между ними и решать, в какой из них направлять запрос.</a:t>
            </a:r>
            <a:endParaRPr/>
          </a:p>
          <a:p>
            <a:pPr marL="0" indent="0" algn="just">
              <a:buNone/>
              <a:defRPr/>
            </a:pPr>
            <a:r>
              <a:rPr lang="ru-RU" sz="2400">
                <a:latin typeface="Times New Roman"/>
                <a:cs typeface="Times New Roman"/>
              </a:rPr>
              <a:t>Никто из участников цепочки не знает всего пути, который проходит запрос, — только своих «соседей» справа и слева. Ни клиент, ни один из прокси-серверов не знает, к кому он обращается — к основному сервису или к другому прокси. В REST API это работает в обе стороны: никакие серверы (ни основные, ни прокси) не знают, кому отправляют ответ и уходит ли он куда-то дальше.</a:t>
            </a:r>
            <a:endParaRPr/>
          </a:p>
          <a:p>
            <a:pP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Код по требованию (необязательно)</a:t>
            </a:r>
            <a:br>
              <a:rPr lang="ru-RU" sz="3200" b="1">
                <a:solidFill>
                  <a:srgbClr val="222222"/>
                </a:solidFill>
                <a:latin typeface="Times New Roman"/>
                <a:cs typeface="Arial"/>
              </a:rPr>
            </a:br>
            <a:br>
              <a:rPr lang="ru-RU" sz="3200" b="1">
                <a:solidFill>
                  <a:srgbClr val="222222"/>
                </a:solidFill>
                <a:latin typeface="Times New Roman"/>
                <a:cs typeface="Arial"/>
              </a:rPr>
            </a:br>
            <a:br>
              <a:rPr lang="ru-RU" b="1" i="0" u="none" strike="noStrike">
                <a:solidFill>
                  <a:srgbClr val="000000"/>
                </a:solidFill>
                <a:latin typeface="var(--stk-f_family)"/>
              </a:rPr>
            </a:br>
            <a:endParaRPr lang="ru-RU"/>
          </a:p>
        </p:txBody>
      </p:sp>
      <p:sp>
        <p:nvSpPr>
          <p:cNvPr id="3" name="Объект 2"/>
          <p:cNvSpPr>
            <a:spLocks noGrp="1"/>
          </p:cNvSpPr>
          <p:nvPr>
            <p:ph idx="1"/>
          </p:nvPr>
        </p:nvSpPr>
        <p:spPr bwMode="auto">
          <a:xfrm>
            <a:off x="1841863" y="1397725"/>
            <a:ext cx="10071463" cy="5159829"/>
          </a:xfrm>
        </p:spPr>
        <p:txBody>
          <a:bodyPr/>
          <a:lstStyle/>
          <a:p>
            <a:pPr algn="just">
              <a:defRPr/>
            </a:pPr>
            <a:r>
              <a:rPr lang="ru-RU" sz="2400">
                <a:latin typeface="Times New Roman"/>
                <a:cs typeface="Times New Roman"/>
              </a:rPr>
              <a:t>Этот принцип означает, что сервер в ответ на запрос может отправить исходный код, который выполняется уже на стороне клиента. Благодаря этому можно передавать целые сценарии. Например, динамические элементы пользовательского интерфейса, написанные на JavaScript.</a:t>
            </a:r>
            <a:endParaRPr/>
          </a:p>
          <a:p>
            <a:pPr algn="just">
              <a:defRPr/>
            </a:pPr>
            <a:endParaRPr lang="ru-RU" sz="2400">
              <a:latin typeface="Times New Roman"/>
              <a:cs typeface="Times New Roman"/>
            </a:endParaRPr>
          </a:p>
          <a:p>
            <a:pPr marL="0" indent="0" algn="just">
              <a:buNone/>
              <a:defRPr/>
            </a:pPr>
            <a:r>
              <a:rPr lang="ru-RU" sz="2400">
                <a:latin typeface="Times New Roman"/>
                <a:cs typeface="Times New Roman"/>
              </a:rPr>
              <a:t>В REST API требование необязательно, потому что не всем сайтам и сервисам нужно умение работать с готовыми скриптами.</a:t>
            </a:r>
            <a:endParaRPr lang="en-US" sz="2400">
              <a:latin typeface="Times New Roman"/>
              <a:cs typeface="Times New Roman"/>
            </a:endParaRPr>
          </a:p>
          <a:p>
            <a:pPr marL="0" indent="0" algn="just">
              <a:buNone/>
              <a:defRPr/>
            </a:pPr>
            <a:endParaRPr lang="en-US" sz="2400">
              <a:latin typeface="Times New Roman"/>
              <a:cs typeface="Times New Roman"/>
            </a:endParaRPr>
          </a:p>
          <a:p>
            <a:pPr marL="0" indent="0" algn="just">
              <a:buNone/>
              <a:defRPr/>
            </a:pPr>
            <a:r>
              <a:rPr lang="ru-RU" sz="2400" b="1">
                <a:latin typeface="Times New Roman"/>
                <a:cs typeface="Times New Roman"/>
              </a:rPr>
              <a:t>Пример </a:t>
            </a:r>
            <a:r>
              <a:rPr lang="en-US" sz="2400" b="1">
                <a:latin typeface="Times New Roman"/>
                <a:cs typeface="Times New Roman"/>
              </a:rPr>
              <a:t>REST API:</a:t>
            </a:r>
            <a:endParaRPr/>
          </a:p>
          <a:p>
            <a:pPr marL="0" indent="0" algn="just">
              <a:buNone/>
              <a:defRPr/>
            </a:pPr>
            <a:r>
              <a:rPr lang="en-US" sz="2000">
                <a:latin typeface="Times New Roman"/>
                <a:cs typeface="Times New Roman"/>
              </a:rPr>
              <a:t>GET /</a:t>
            </a:r>
            <a:r>
              <a:rPr lang="en-US" sz="2000">
                <a:latin typeface="Times New Roman"/>
                <a:cs typeface="Times New Roman"/>
              </a:rPr>
              <a:t>api</a:t>
            </a:r>
            <a:r>
              <a:rPr lang="en-US" sz="2000">
                <a:latin typeface="Times New Roman"/>
                <a:cs typeface="Times New Roman"/>
              </a:rPr>
              <a:t>/stocks/IBM HTTP/1.1</a:t>
            </a:r>
            <a:endParaRPr/>
          </a:p>
          <a:p>
            <a:pPr marL="0" indent="0" algn="just">
              <a:buNone/>
              <a:defRPr/>
            </a:pPr>
            <a:r>
              <a:rPr lang="en-US" sz="2000">
                <a:latin typeface="Times New Roman"/>
                <a:cs typeface="Times New Roman"/>
              </a:rPr>
              <a:t>Host: example.com</a:t>
            </a:r>
            <a:endParaRPr/>
          </a:p>
          <a:p>
            <a:pPr marL="0" indent="0" algn="just">
              <a:buNone/>
              <a:defRPr/>
            </a:pPr>
            <a:endParaRPr lang="en-US" sz="2400">
              <a:latin typeface="Times New Roman"/>
              <a:cs typeface="Times New Roman"/>
            </a:endParaRPr>
          </a:p>
          <a:p>
            <a:pPr marL="0" indent="0" algn="just">
              <a:buNone/>
              <a:defRPr/>
            </a:pPr>
            <a:endParaRPr lang="ru-RU" sz="2400">
              <a:latin typeface="Times New Roman"/>
              <a:cs typeface="Times New Roman"/>
            </a:endParaRPr>
          </a:p>
          <a:p>
            <a:pPr marL="0" indent="0">
              <a:buNone/>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Методы </a:t>
            </a:r>
            <a:r>
              <a:rPr lang="en-US" sz="3200" b="1">
                <a:solidFill>
                  <a:srgbClr val="222222"/>
                </a:solidFill>
                <a:latin typeface="Times New Roman"/>
                <a:cs typeface="Arial"/>
              </a:rPr>
              <a:t>REST API</a:t>
            </a:r>
            <a:br>
              <a:rPr lang="en-US" sz="3200" b="1">
                <a:solidFill>
                  <a:srgbClr val="222222"/>
                </a:solidFill>
                <a:latin typeface="Times New Roman"/>
                <a:cs typeface="Arial"/>
              </a:rPr>
            </a:br>
            <a:br>
              <a:rPr lang="ru-RU" b="1" i="0" u="none" strike="noStrike">
                <a:solidFill>
                  <a:srgbClr val="000000"/>
                </a:solidFill>
                <a:latin typeface="var(--stk-f_family)"/>
              </a:rPr>
            </a:br>
            <a:endParaRPr lang="ru-RU"/>
          </a:p>
        </p:txBody>
      </p:sp>
      <p:sp>
        <p:nvSpPr>
          <p:cNvPr id="3" name="Объект 2"/>
          <p:cNvSpPr>
            <a:spLocks noGrp="1"/>
          </p:cNvSpPr>
          <p:nvPr>
            <p:ph idx="1"/>
          </p:nvPr>
        </p:nvSpPr>
        <p:spPr bwMode="auto">
          <a:xfrm>
            <a:off x="1841863" y="946779"/>
            <a:ext cx="10071463" cy="5610776"/>
          </a:xfrm>
        </p:spPr>
        <p:txBody>
          <a:bodyPr>
            <a:normAutofit/>
          </a:bodyPr>
          <a:lstStyle/>
          <a:p>
            <a:pPr marL="0" indent="0" algn="just">
              <a:buNone/>
              <a:defRPr/>
            </a:pPr>
            <a:r>
              <a:rPr lang="ru-RU" sz="2400">
                <a:latin typeface="Times New Roman"/>
                <a:cs typeface="Times New Roman"/>
              </a:rPr>
              <a:t>Так как REST — архитектурный подход, а не протокол, в нём не заложено </a:t>
            </a:r>
            <a:r>
              <a:rPr lang="ru-RU" sz="2400" b="1">
                <a:latin typeface="Times New Roman"/>
                <a:cs typeface="Times New Roman"/>
              </a:rPr>
              <a:t>никаких конкретных методов.</a:t>
            </a:r>
            <a:r>
              <a:rPr lang="ru-RU" sz="2400">
                <a:latin typeface="Times New Roman"/>
                <a:cs typeface="Times New Roman"/>
              </a:rPr>
              <a:t> Но чаще всего его применяют вместе со стандартом </a:t>
            </a:r>
            <a:r>
              <a:rPr lang="ru-RU" sz="2400" b="1">
                <a:latin typeface="Times New Roman"/>
                <a:cs typeface="Times New Roman"/>
              </a:rPr>
              <a:t>HTTP</a:t>
            </a:r>
            <a:r>
              <a:rPr lang="ru-RU" sz="2400">
                <a:latin typeface="Times New Roman"/>
                <a:cs typeface="Times New Roman"/>
              </a:rPr>
              <a:t>, в котором заложены собственные методы.</a:t>
            </a:r>
            <a:endParaRPr/>
          </a:p>
          <a:p>
            <a:pPr marL="0" indent="0" algn="just">
              <a:buNone/>
              <a:defRPr/>
            </a:pPr>
            <a:endParaRPr lang="ru-RU" sz="2400">
              <a:latin typeface="Times New Roman"/>
              <a:cs typeface="Times New Roman"/>
            </a:endParaRPr>
          </a:p>
          <a:p>
            <a:pPr marL="0" indent="0" algn="just">
              <a:buNone/>
              <a:defRPr/>
            </a:pPr>
            <a:r>
              <a:rPr lang="ru-RU" sz="2400">
                <a:latin typeface="Times New Roman"/>
                <a:cs typeface="Times New Roman"/>
              </a:rPr>
              <a:t>Если кратко, то в HTTP прописан набор действий, который можно описать аббревиатурой </a:t>
            </a:r>
            <a:r>
              <a:rPr lang="ru-RU" sz="2400" b="1">
                <a:latin typeface="Times New Roman"/>
                <a:cs typeface="Times New Roman"/>
              </a:rPr>
              <a:t>CRUD</a:t>
            </a:r>
            <a:r>
              <a:rPr lang="ru-RU" sz="2400">
                <a:latin typeface="Times New Roman"/>
                <a:cs typeface="Times New Roman"/>
              </a:rPr>
              <a:t>: </a:t>
            </a:r>
            <a:r>
              <a:rPr lang="ru-RU" sz="2400">
                <a:latin typeface="Times New Roman"/>
                <a:cs typeface="Times New Roman"/>
              </a:rPr>
              <a:t>create</a:t>
            </a:r>
            <a:r>
              <a:rPr lang="ru-RU" sz="2400">
                <a:latin typeface="Times New Roman"/>
                <a:cs typeface="Times New Roman"/>
              </a:rPr>
              <a:t> — «создать», </a:t>
            </a:r>
            <a:r>
              <a:rPr lang="ru-RU" sz="2400">
                <a:latin typeface="Times New Roman"/>
                <a:cs typeface="Times New Roman"/>
              </a:rPr>
              <a:t>read</a:t>
            </a:r>
            <a:r>
              <a:rPr lang="ru-RU" sz="2400">
                <a:latin typeface="Times New Roman"/>
                <a:cs typeface="Times New Roman"/>
              </a:rPr>
              <a:t> — «прочитать», </a:t>
            </a:r>
            <a:r>
              <a:rPr lang="ru-RU" sz="2400">
                <a:latin typeface="Times New Roman"/>
                <a:cs typeface="Times New Roman"/>
              </a:rPr>
              <a:t>update</a:t>
            </a:r>
            <a:r>
              <a:rPr lang="ru-RU" sz="2400">
                <a:latin typeface="Times New Roman"/>
                <a:cs typeface="Times New Roman"/>
              </a:rPr>
              <a:t> — «обновить», </a:t>
            </a:r>
            <a:r>
              <a:rPr lang="ru-RU" sz="2400">
                <a:latin typeface="Times New Roman"/>
                <a:cs typeface="Times New Roman"/>
              </a:rPr>
              <a:t>delete</a:t>
            </a:r>
            <a:r>
              <a:rPr lang="ru-RU" sz="2400">
                <a:latin typeface="Times New Roman"/>
                <a:cs typeface="Times New Roman"/>
              </a:rPr>
              <a:t> — «удалить».</a:t>
            </a:r>
            <a:endParaRPr/>
          </a:p>
          <a:p>
            <a:pPr marL="0" indent="0" algn="just">
              <a:buNone/>
              <a:defRPr/>
            </a:pPr>
            <a:endParaRPr lang="ru-RU" sz="2400">
              <a:latin typeface="Times New Roman"/>
              <a:cs typeface="Times New Roman"/>
            </a:endParaRPr>
          </a:p>
          <a:p>
            <a:pPr marL="0" indent="0" algn="just">
              <a:buNone/>
              <a:defRPr/>
            </a:pPr>
            <a:r>
              <a:rPr lang="ru-RU" sz="2400">
                <a:latin typeface="Times New Roman"/>
                <a:cs typeface="Times New Roman"/>
              </a:rPr>
              <a:t>Для каждого такого действия существуют один или несколько глаголов — </a:t>
            </a:r>
            <a:r>
              <a:rPr lang="ru-RU" sz="2400" b="1">
                <a:latin typeface="Times New Roman"/>
                <a:cs typeface="Times New Roman"/>
              </a:rPr>
              <a:t>это и есть методы. </a:t>
            </a:r>
            <a:r>
              <a:rPr lang="ru-RU" sz="2400">
                <a:latin typeface="Times New Roman"/>
                <a:cs typeface="Times New Roman"/>
              </a:rPr>
              <a:t>Например, GET для чтения, а PUT и PATCH — для разных видов обновления. Глагол-метод применяется к URL-адресу нужного ресурса, который в «предложении» выполняет роль существительного.</a:t>
            </a:r>
            <a:endParaRPr/>
          </a:p>
          <a:p>
            <a:pPr marL="0" indent="0">
              <a:buNone/>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Методы </a:t>
            </a:r>
            <a:r>
              <a:rPr lang="en-US" sz="3200" b="1">
                <a:solidFill>
                  <a:srgbClr val="222222"/>
                </a:solidFill>
                <a:latin typeface="Times New Roman"/>
                <a:cs typeface="Arial"/>
              </a:rPr>
              <a:t>REST API</a:t>
            </a:r>
            <a:br>
              <a:rPr lang="en-US" sz="3200" b="1">
                <a:solidFill>
                  <a:srgbClr val="222222"/>
                </a:solidFill>
                <a:latin typeface="Times New Roman"/>
                <a:cs typeface="Arial"/>
              </a:rPr>
            </a:br>
            <a:br>
              <a:rPr lang="ru-RU" b="1" i="0" u="none" strike="noStrike">
                <a:solidFill>
                  <a:srgbClr val="000000"/>
                </a:solidFill>
                <a:latin typeface="var(--stk-f_family)"/>
              </a:rPr>
            </a:br>
            <a:endParaRPr lang="ru-RU"/>
          </a:p>
        </p:txBody>
      </p:sp>
      <p:sp>
        <p:nvSpPr>
          <p:cNvPr id="3" name="Объект 2"/>
          <p:cNvSpPr>
            <a:spLocks noGrp="1"/>
          </p:cNvSpPr>
          <p:nvPr>
            <p:ph idx="1"/>
          </p:nvPr>
        </p:nvSpPr>
        <p:spPr bwMode="auto">
          <a:xfrm>
            <a:off x="1841863" y="946779"/>
            <a:ext cx="10071463" cy="5610776"/>
          </a:xfrm>
        </p:spPr>
        <p:txBody>
          <a:bodyPr>
            <a:normAutofit/>
          </a:bodyPr>
          <a:lstStyle/>
          <a:p>
            <a:pPr marL="0" indent="0" algn="just">
              <a:buNone/>
              <a:defRPr/>
            </a:pPr>
            <a:r>
              <a:rPr lang="ru-RU" sz="2400">
                <a:latin typeface="Times New Roman"/>
                <a:cs typeface="Times New Roman"/>
              </a:rPr>
              <a:t>Так как REST — архитектурный подход, а не протокол, в нём не заложено </a:t>
            </a:r>
            <a:r>
              <a:rPr lang="ru-RU" sz="2400" b="1">
                <a:latin typeface="Times New Roman"/>
                <a:cs typeface="Times New Roman"/>
              </a:rPr>
              <a:t>никаких конкретных методов.</a:t>
            </a:r>
            <a:r>
              <a:rPr lang="ru-RU" sz="2400">
                <a:latin typeface="Times New Roman"/>
                <a:cs typeface="Times New Roman"/>
              </a:rPr>
              <a:t> </a:t>
            </a:r>
            <a:endParaRPr/>
          </a:p>
          <a:p>
            <a:pPr marL="0" indent="0" algn="just">
              <a:buNone/>
              <a:defRPr/>
            </a:pPr>
            <a:r>
              <a:rPr lang="ru-RU" sz="2400" b="1">
                <a:latin typeface="Times New Roman"/>
                <a:cs typeface="Times New Roman"/>
              </a:rPr>
              <a:t>CRUD</a:t>
            </a:r>
            <a:r>
              <a:rPr lang="ru-RU" sz="2400">
                <a:latin typeface="Times New Roman"/>
                <a:cs typeface="Times New Roman"/>
              </a:rPr>
              <a:t>: </a:t>
            </a:r>
            <a:r>
              <a:rPr lang="ru-RU" sz="2400">
                <a:latin typeface="Times New Roman"/>
                <a:cs typeface="Times New Roman"/>
              </a:rPr>
              <a:t>create</a:t>
            </a:r>
            <a:r>
              <a:rPr lang="ru-RU" sz="2400">
                <a:latin typeface="Times New Roman"/>
                <a:cs typeface="Times New Roman"/>
              </a:rPr>
              <a:t> — «создать», </a:t>
            </a:r>
            <a:r>
              <a:rPr lang="ru-RU" sz="2400">
                <a:latin typeface="Times New Roman"/>
                <a:cs typeface="Times New Roman"/>
              </a:rPr>
              <a:t>read</a:t>
            </a:r>
            <a:r>
              <a:rPr lang="ru-RU" sz="2400">
                <a:latin typeface="Times New Roman"/>
                <a:cs typeface="Times New Roman"/>
              </a:rPr>
              <a:t> — «прочитать», </a:t>
            </a:r>
            <a:r>
              <a:rPr lang="ru-RU" sz="2400">
                <a:latin typeface="Times New Roman"/>
                <a:cs typeface="Times New Roman"/>
              </a:rPr>
              <a:t>update</a:t>
            </a:r>
            <a:r>
              <a:rPr lang="ru-RU" sz="2400">
                <a:latin typeface="Times New Roman"/>
                <a:cs typeface="Times New Roman"/>
              </a:rPr>
              <a:t> — «обновить», </a:t>
            </a:r>
            <a:r>
              <a:rPr lang="ru-RU" sz="2400">
                <a:latin typeface="Times New Roman"/>
                <a:cs typeface="Times New Roman"/>
              </a:rPr>
              <a:t>delete</a:t>
            </a:r>
            <a:r>
              <a:rPr lang="ru-RU" sz="2400">
                <a:latin typeface="Times New Roman"/>
                <a:cs typeface="Times New Roman"/>
              </a:rPr>
              <a:t> — «удалить».</a:t>
            </a:r>
            <a:endParaRPr/>
          </a:p>
          <a:p>
            <a:pPr marL="0" indent="0" algn="just">
              <a:buNone/>
              <a:defRPr/>
            </a:pPr>
            <a:endParaRPr lang="ru-RU" sz="2400">
              <a:latin typeface="Times New Roman"/>
              <a:cs typeface="Times New Roman"/>
            </a:endParaRPr>
          </a:p>
          <a:p>
            <a:pPr marL="0" indent="0">
              <a:buNone/>
              <a:defRPr/>
            </a:pPr>
            <a:endParaRPr lang="ru-RU"/>
          </a:p>
        </p:txBody>
      </p:sp>
      <p:pic>
        <p:nvPicPr>
          <p:cNvPr id="5" name="Picture 2"/>
          <p:cNvPicPr>
            <a:picLocks noChangeAspect="1" noChangeArrowheads="1"/>
          </p:cNvPicPr>
          <p:nvPr/>
        </p:nvPicPr>
        <p:blipFill>
          <a:blip r:embed="rId2"/>
          <a:stretch/>
        </p:blipFill>
        <p:spPr bwMode="auto">
          <a:xfrm>
            <a:off x="2739660" y="2965719"/>
            <a:ext cx="7958819" cy="3332756"/>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Для чего используют REST API</a:t>
            </a:r>
            <a:br>
              <a:rPr lang="en-US" sz="3200" b="1">
                <a:solidFill>
                  <a:srgbClr val="222222"/>
                </a:solidFill>
                <a:latin typeface="Times New Roman"/>
                <a:cs typeface="Arial"/>
              </a:rPr>
            </a:br>
            <a:br>
              <a:rPr lang="ru-RU" sz="3200" b="1">
                <a:solidFill>
                  <a:srgbClr val="222222"/>
                </a:solidFill>
                <a:latin typeface="Times New Roman"/>
                <a:cs typeface="Arial"/>
              </a:rPr>
            </a:b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841863" y="946779"/>
            <a:ext cx="10071463" cy="5610776"/>
          </a:xfrm>
        </p:spPr>
        <p:txBody>
          <a:bodyPr>
            <a:normAutofit/>
          </a:bodyPr>
          <a:lstStyle/>
          <a:p>
            <a:pPr algn="just">
              <a:defRPr/>
            </a:pPr>
            <a:r>
              <a:rPr lang="ru-RU" sz="2400">
                <a:latin typeface="Times New Roman"/>
                <a:cs typeface="Times New Roman"/>
              </a:rPr>
              <a:t>Архитектурный стиль REST — самый распространённый подход к проектированию API.</a:t>
            </a:r>
            <a:endParaRPr/>
          </a:p>
          <a:p>
            <a:pPr algn="just">
              <a:defRPr/>
            </a:pPr>
            <a:endParaRPr lang="ru-RU" sz="2400">
              <a:latin typeface="Times New Roman"/>
              <a:cs typeface="Times New Roman"/>
            </a:endParaRPr>
          </a:p>
          <a:p>
            <a:pPr marL="0" indent="0" algn="l">
              <a:buNone/>
              <a:defRPr/>
            </a:pPr>
            <a:r>
              <a:rPr lang="ru-RU" sz="2400">
                <a:latin typeface="Times New Roman"/>
                <a:cs typeface="Times New Roman"/>
              </a:rPr>
              <a:t>1) Когда пропускная способность соединения с сервером ограничена;</a:t>
            </a:r>
            <a:endParaRPr/>
          </a:p>
          <a:p>
            <a:pPr marL="0" indent="0" algn="l">
              <a:buNone/>
              <a:defRPr/>
            </a:pPr>
            <a:r>
              <a:rPr lang="ru-RU" sz="2400">
                <a:latin typeface="Times New Roman"/>
                <a:cs typeface="Times New Roman"/>
              </a:rPr>
              <a:t>2) когда нужно соединить мобильные приложения с серверными;</a:t>
            </a:r>
            <a:endParaRPr/>
          </a:p>
          <a:p>
            <a:pPr marL="0" indent="0" algn="l">
              <a:buNone/>
              <a:defRPr/>
            </a:pPr>
            <a:r>
              <a:rPr lang="ru-RU" sz="2400">
                <a:latin typeface="Times New Roman"/>
                <a:cs typeface="Times New Roman"/>
              </a:rPr>
              <a:t>3) когда проект разбит на микросервисы;</a:t>
            </a:r>
            <a:endParaRPr/>
          </a:p>
          <a:p>
            <a:pPr marL="0" indent="0" algn="l">
              <a:buNone/>
              <a:defRPr/>
            </a:pPr>
            <a:r>
              <a:rPr lang="ru-RU" sz="2400">
                <a:latin typeface="Times New Roman"/>
                <a:cs typeface="Times New Roman"/>
              </a:rPr>
              <a:t>4) когда сервис предоставляет свои возможности другим разработчикам;</a:t>
            </a:r>
            <a:endParaRPr/>
          </a:p>
          <a:p>
            <a:pPr marL="0" indent="0" algn="l">
              <a:buNone/>
              <a:defRPr/>
            </a:pPr>
            <a:r>
              <a:rPr lang="ru-RU" sz="2400">
                <a:latin typeface="Times New Roman"/>
                <a:cs typeface="Times New Roman"/>
              </a:rPr>
              <a:t>5) когда используется AJAX;</a:t>
            </a:r>
            <a:endParaRPr/>
          </a:p>
          <a:p>
            <a:pPr marL="0" indent="0" algn="l">
              <a:buNone/>
              <a:defRPr/>
            </a:pPr>
            <a:r>
              <a:rPr lang="ru-RU" sz="2400">
                <a:latin typeface="Times New Roman"/>
                <a:cs typeface="Times New Roman"/>
              </a:rPr>
              <a:t>6) когда известно, что систему нужно будет масштабировать.</a:t>
            </a:r>
            <a:endParaRPr/>
          </a:p>
          <a:p>
            <a:pPr marL="0" indent="0">
              <a:buNone/>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Итоги по REST API</a:t>
            </a:r>
            <a:br>
              <a:rPr lang="en-US" sz="3200" b="1">
                <a:solidFill>
                  <a:srgbClr val="222222"/>
                </a:solidFill>
                <a:latin typeface="Times New Roman"/>
                <a:cs typeface="Arial"/>
              </a:rPr>
            </a:br>
            <a:br>
              <a:rPr lang="ru-RU" sz="3200" b="1">
                <a:solidFill>
                  <a:srgbClr val="222222"/>
                </a:solidFill>
                <a:latin typeface="Times New Roman"/>
                <a:cs typeface="Arial"/>
              </a:rPr>
            </a:b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841863" y="946779"/>
            <a:ext cx="10071463" cy="5610776"/>
          </a:xfrm>
        </p:spPr>
        <p:txBody>
          <a:bodyPr>
            <a:normAutofit lnSpcReduction="10000"/>
          </a:bodyPr>
          <a:lstStyle/>
          <a:p>
            <a:pPr algn="just">
              <a:defRPr/>
            </a:pPr>
            <a:r>
              <a:rPr lang="ru-RU" sz="2400" b="1">
                <a:latin typeface="Times New Roman"/>
                <a:cs typeface="Times New Roman"/>
              </a:rPr>
              <a:t>REST — это архитектурный стиль API. </a:t>
            </a:r>
            <a:r>
              <a:rPr lang="ru-RU" sz="2400">
                <a:latin typeface="Times New Roman"/>
                <a:cs typeface="Times New Roman"/>
              </a:rPr>
              <a:t>Он не ограничивается никакими протоколами и не имеет собственных методов. Но обычно в RESTful-сервисах используют стандарт HTTP, а файлы передают в формате JSON или XML.</a:t>
            </a:r>
            <a:endParaRPr/>
          </a:p>
          <a:p>
            <a:pPr algn="just">
              <a:defRPr/>
            </a:pPr>
            <a:endParaRPr lang="ru-RU" sz="2400">
              <a:latin typeface="Times New Roman"/>
              <a:cs typeface="Times New Roman"/>
            </a:endParaRPr>
          </a:p>
          <a:p>
            <a:pPr algn="just">
              <a:defRPr/>
            </a:pPr>
            <a:r>
              <a:rPr lang="ru-RU" sz="2400">
                <a:latin typeface="Times New Roman"/>
                <a:cs typeface="Times New Roman"/>
              </a:rPr>
              <a:t>Есть </a:t>
            </a:r>
            <a:r>
              <a:rPr lang="ru-RU" sz="2400" b="1">
                <a:latin typeface="Times New Roman"/>
                <a:cs typeface="Times New Roman"/>
              </a:rPr>
              <a:t>шесть принципов</a:t>
            </a:r>
            <a:r>
              <a:rPr lang="ru-RU" sz="2400">
                <a:latin typeface="Times New Roman"/>
                <a:cs typeface="Times New Roman"/>
              </a:rPr>
              <a:t>, на которых строится REST: клиент-серверная модель, отсутствие состояния, кэширование, единообразие интерфейса, многоуровневая система, код по требованию. Последний из них необязателен.</a:t>
            </a:r>
            <a:endParaRPr/>
          </a:p>
          <a:p>
            <a:pPr algn="just">
              <a:defRPr/>
            </a:pPr>
            <a:endParaRPr lang="ru-RU" sz="2400">
              <a:latin typeface="Times New Roman"/>
              <a:cs typeface="Times New Roman"/>
            </a:endParaRPr>
          </a:p>
          <a:p>
            <a:pPr algn="just">
              <a:defRPr/>
            </a:pPr>
            <a:r>
              <a:rPr lang="ru-RU" sz="2400" b="1">
                <a:latin typeface="Times New Roman"/>
                <a:cs typeface="Times New Roman"/>
              </a:rPr>
              <a:t>REST-подход к архитектуре </a:t>
            </a:r>
            <a:r>
              <a:rPr lang="ru-RU" sz="2400">
                <a:latin typeface="Times New Roman"/>
                <a:cs typeface="Times New Roman"/>
              </a:rPr>
              <a:t>позволяет сделать сервисы отказоустойчивыми, гибкими и производительными, а при их масштабировании и внесении изменений не возникает больших сложностей.</a:t>
            </a:r>
            <a:endParaRPr/>
          </a:p>
          <a:p>
            <a:pPr marL="0" indent="0">
              <a:buNone/>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en-US" sz="3200" b="1">
                <a:solidFill>
                  <a:srgbClr val="222222"/>
                </a:solidFill>
                <a:latin typeface="Times New Roman"/>
                <a:cs typeface="Arial"/>
              </a:rPr>
              <a:t>SOAP </a:t>
            </a:r>
            <a:r>
              <a:rPr lang="ru-RU" sz="3200" b="1">
                <a:solidFill>
                  <a:srgbClr val="222222"/>
                </a:solidFill>
                <a:latin typeface="Times New Roman"/>
                <a:cs typeface="Arial"/>
              </a:rPr>
              <a:t>API</a:t>
            </a:r>
            <a:br>
              <a:rPr lang="en-US" sz="3200" b="1">
                <a:solidFill>
                  <a:srgbClr val="222222"/>
                </a:solidFill>
                <a:latin typeface="Times New Roman"/>
                <a:cs typeface="Arial"/>
              </a:rPr>
            </a:br>
            <a:br>
              <a:rPr lang="ru-RU" sz="3200" b="1">
                <a:solidFill>
                  <a:srgbClr val="222222"/>
                </a:solidFill>
                <a:latin typeface="Times New Roman"/>
                <a:cs typeface="Arial"/>
              </a:rPr>
            </a:b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632857" y="946779"/>
            <a:ext cx="10280469" cy="5610776"/>
          </a:xfrm>
        </p:spPr>
        <p:txBody>
          <a:bodyPr>
            <a:normAutofit fontScale="92500" lnSpcReduction="20000"/>
          </a:bodyPr>
          <a:lstStyle/>
          <a:p>
            <a:pPr algn="just">
              <a:defRPr/>
            </a:pPr>
            <a:r>
              <a:rPr lang="ru-RU" sz="2400" b="1">
                <a:latin typeface="Times New Roman"/>
                <a:cs typeface="Times New Roman"/>
              </a:rPr>
              <a:t>SOAP API </a:t>
            </a:r>
            <a:r>
              <a:rPr lang="ru-RU" sz="2400">
                <a:latin typeface="Times New Roman"/>
                <a:cs typeface="Times New Roman"/>
              </a:rPr>
              <a:t>— это веб-сервис, использующий протокол SOAP для обмена сообщениями между серверами и клиентами.</a:t>
            </a:r>
            <a:endParaRPr lang="en-US" sz="2400">
              <a:latin typeface="Times New Roman"/>
              <a:cs typeface="Times New Roman"/>
            </a:endParaRPr>
          </a:p>
          <a:p>
            <a:pPr marL="0" indent="0" algn="just">
              <a:buNone/>
              <a:defRPr/>
            </a:pPr>
            <a:r>
              <a:rPr lang="ru-RU" sz="2400" b="1">
                <a:latin typeface="Times New Roman"/>
                <a:cs typeface="Times New Roman"/>
              </a:rPr>
              <a:t>SOAP</a:t>
            </a:r>
            <a:r>
              <a:rPr lang="ru-RU" sz="2400">
                <a:latin typeface="Times New Roman"/>
                <a:cs typeface="Times New Roman"/>
              </a:rPr>
              <a:t> — это протокол, по которому веб-сервисы взаимодействуют друг с другом или с клиентами. Название происходит от сокращения Simple Object Access Protocol («простой протокол доступа к объектам»).</a:t>
            </a:r>
            <a:endParaRPr lang="en-US" sz="2400">
              <a:latin typeface="Times New Roman"/>
              <a:cs typeface="Times New Roman"/>
            </a:endParaRPr>
          </a:p>
          <a:p>
            <a:pPr marL="0" indent="0" algn="just">
              <a:buNone/>
              <a:defRPr/>
            </a:pPr>
            <a:r>
              <a:rPr lang="ru-RU" sz="2400" b="1">
                <a:latin typeface="Times New Roman"/>
                <a:cs typeface="Times New Roman"/>
              </a:rPr>
              <a:t>Пример </a:t>
            </a:r>
            <a:r>
              <a:rPr lang="en-US" sz="2400" b="1">
                <a:latin typeface="Times New Roman"/>
                <a:cs typeface="Times New Roman"/>
              </a:rPr>
              <a:t>SOAP API:</a:t>
            </a:r>
            <a:endParaRPr/>
          </a:p>
          <a:p>
            <a:pPr marL="0" indent="0">
              <a:buNone/>
              <a:defRPr/>
            </a:pPr>
            <a:r>
              <a:rPr lang="en-US" sz="2000">
                <a:latin typeface="Times New Roman"/>
                <a:cs typeface="Times New Roman"/>
              </a:rPr>
              <a:t>&lt;</a:t>
            </a:r>
            <a:r>
              <a:rPr lang="en-US" sz="2000">
                <a:latin typeface="Times New Roman"/>
                <a:cs typeface="Times New Roman"/>
              </a:rPr>
              <a:t>soap:Envelope</a:t>
            </a:r>
            <a:r>
              <a:rPr lang="en-US" sz="2000">
                <a:latin typeface="Times New Roman"/>
                <a:cs typeface="Times New Roman"/>
              </a:rPr>
              <a:t> </a:t>
            </a:r>
            <a:r>
              <a:rPr lang="en-US" sz="2000">
                <a:latin typeface="Times New Roman"/>
                <a:cs typeface="Times New Roman"/>
              </a:rPr>
              <a:t>xmlns:soap</a:t>
            </a:r>
            <a:r>
              <a:rPr lang="en-US" sz="2000">
                <a:latin typeface="Times New Roman"/>
                <a:cs typeface="Times New Roman"/>
              </a:rPr>
              <a:t>="http://www.w3.org/2003/05/soap-envelope" </a:t>
            </a:r>
            <a:r>
              <a:rPr lang="en-US" sz="2000">
                <a:latin typeface="Times New Roman"/>
                <a:cs typeface="Times New Roman"/>
              </a:rPr>
              <a:t>xmlns:m</a:t>
            </a:r>
            <a:r>
              <a:rPr lang="en-US" sz="2000">
                <a:latin typeface="Times New Roman"/>
                <a:cs typeface="Times New Roman"/>
              </a:rPr>
              <a:t>="http://www.example.com/stock"&gt;</a:t>
            </a:r>
            <a:endParaRPr/>
          </a:p>
          <a:p>
            <a:pPr marL="0" indent="0" algn="just">
              <a:buNone/>
              <a:defRPr/>
            </a:pPr>
            <a:r>
              <a:rPr lang="en-US" sz="2000">
                <a:latin typeface="Times New Roman"/>
                <a:cs typeface="Times New Roman"/>
              </a:rPr>
              <a:t>&lt;</a:t>
            </a:r>
            <a:r>
              <a:rPr lang="en-US" sz="2000">
                <a:latin typeface="Times New Roman"/>
                <a:cs typeface="Times New Roman"/>
              </a:rPr>
              <a:t>soap:Header</a:t>
            </a:r>
            <a:r>
              <a:rPr lang="en-US" sz="2000">
                <a:latin typeface="Times New Roman"/>
                <a:cs typeface="Times New Roman"/>
              </a:rPr>
              <a:t>/&gt;</a:t>
            </a:r>
            <a:endParaRPr/>
          </a:p>
          <a:p>
            <a:pPr marL="0" indent="0" algn="just">
              <a:buNone/>
              <a:defRPr/>
            </a:pPr>
            <a:r>
              <a:rPr lang="en-US" sz="2000">
                <a:latin typeface="Times New Roman"/>
                <a:cs typeface="Times New Roman"/>
              </a:rPr>
              <a:t>&lt;</a:t>
            </a:r>
            <a:r>
              <a:rPr lang="en-US" sz="2000">
                <a:latin typeface="Times New Roman"/>
                <a:cs typeface="Times New Roman"/>
              </a:rPr>
              <a:t>soap:Body</a:t>
            </a:r>
            <a:r>
              <a:rPr lang="en-US" sz="2000">
                <a:latin typeface="Times New Roman"/>
                <a:cs typeface="Times New Roman"/>
              </a:rPr>
              <a:t>&gt;</a:t>
            </a:r>
            <a:endParaRPr/>
          </a:p>
          <a:p>
            <a:pPr marL="0" indent="0" algn="just">
              <a:buNone/>
              <a:defRPr/>
            </a:pPr>
            <a:r>
              <a:rPr lang="en-US" sz="2000">
                <a:latin typeface="Times New Roman"/>
                <a:cs typeface="Times New Roman"/>
              </a:rPr>
              <a:t>&lt;</a:t>
            </a:r>
            <a:r>
              <a:rPr lang="en-US" sz="2000">
                <a:latin typeface="Times New Roman"/>
                <a:cs typeface="Times New Roman"/>
              </a:rPr>
              <a:t>m:GetStockPrice</a:t>
            </a:r>
            <a:r>
              <a:rPr lang="en-US" sz="2000">
                <a:latin typeface="Times New Roman"/>
                <a:cs typeface="Times New Roman"/>
              </a:rPr>
              <a:t>&gt;</a:t>
            </a:r>
            <a:endParaRPr/>
          </a:p>
          <a:p>
            <a:pPr marL="0" indent="0" algn="just">
              <a:buNone/>
              <a:defRPr/>
            </a:pPr>
            <a:r>
              <a:rPr lang="en-US" sz="2000">
                <a:latin typeface="Times New Roman"/>
                <a:cs typeface="Times New Roman"/>
              </a:rPr>
              <a:t>&lt;</a:t>
            </a:r>
            <a:r>
              <a:rPr lang="en-US" sz="2000">
                <a:latin typeface="Times New Roman"/>
                <a:cs typeface="Times New Roman"/>
              </a:rPr>
              <a:t>m:StockName</a:t>
            </a:r>
            <a:r>
              <a:rPr lang="en-US" sz="2000">
                <a:latin typeface="Times New Roman"/>
                <a:cs typeface="Times New Roman"/>
              </a:rPr>
              <a:t>&gt;IBM&lt;/</a:t>
            </a:r>
            <a:r>
              <a:rPr lang="en-US" sz="2000">
                <a:latin typeface="Times New Roman"/>
                <a:cs typeface="Times New Roman"/>
              </a:rPr>
              <a:t>m:StockName</a:t>
            </a:r>
            <a:r>
              <a:rPr lang="en-US" sz="2000">
                <a:latin typeface="Times New Roman"/>
                <a:cs typeface="Times New Roman"/>
              </a:rPr>
              <a:t>&gt;</a:t>
            </a:r>
            <a:endParaRPr/>
          </a:p>
          <a:p>
            <a:pPr marL="0" indent="0" algn="just">
              <a:buNone/>
              <a:defRPr/>
            </a:pPr>
            <a:r>
              <a:rPr lang="en-US" sz="2000">
                <a:latin typeface="Times New Roman"/>
                <a:cs typeface="Times New Roman"/>
              </a:rPr>
              <a:t>&lt;/</a:t>
            </a:r>
            <a:r>
              <a:rPr lang="en-US" sz="2000">
                <a:latin typeface="Times New Roman"/>
                <a:cs typeface="Times New Roman"/>
              </a:rPr>
              <a:t>m:GetStockPrice</a:t>
            </a:r>
            <a:r>
              <a:rPr lang="en-US" sz="2000">
                <a:latin typeface="Times New Roman"/>
                <a:cs typeface="Times New Roman"/>
              </a:rPr>
              <a:t>&gt;</a:t>
            </a:r>
            <a:endParaRPr/>
          </a:p>
          <a:p>
            <a:pPr marL="0" indent="0" algn="just">
              <a:buNone/>
              <a:defRPr/>
            </a:pPr>
            <a:r>
              <a:rPr lang="en-US" sz="2000">
                <a:latin typeface="Times New Roman"/>
                <a:cs typeface="Times New Roman"/>
              </a:rPr>
              <a:t>&lt;/</a:t>
            </a:r>
            <a:r>
              <a:rPr lang="en-US" sz="2000">
                <a:latin typeface="Times New Roman"/>
                <a:cs typeface="Times New Roman"/>
              </a:rPr>
              <a:t>soap:Body</a:t>
            </a:r>
            <a:r>
              <a:rPr lang="en-US" sz="2000">
                <a:latin typeface="Times New Roman"/>
                <a:cs typeface="Times New Roman"/>
              </a:rPr>
              <a:t>&gt;</a:t>
            </a:r>
            <a:endParaRPr/>
          </a:p>
          <a:p>
            <a:pPr marL="0" indent="0" algn="just">
              <a:buNone/>
              <a:defRPr/>
            </a:pPr>
            <a:r>
              <a:rPr lang="en-US" sz="2000">
                <a:latin typeface="Times New Roman"/>
                <a:cs typeface="Times New Roman"/>
              </a:rPr>
              <a:t>&lt;/</a:t>
            </a:r>
            <a:r>
              <a:rPr lang="en-US" sz="2000">
                <a:latin typeface="Times New Roman"/>
                <a:cs typeface="Times New Roman"/>
              </a:rPr>
              <a:t>soap:Envelope</a:t>
            </a:r>
            <a:r>
              <a:rPr lang="en-US" sz="2000">
                <a:latin typeface="Times New Roman"/>
                <a:cs typeface="Times New Roman"/>
              </a:rPr>
              <a:t>&gt;</a:t>
            </a:r>
            <a:endParaRPr/>
          </a:p>
          <a:p>
            <a:pPr marL="0" indent="0" algn="r">
              <a:buNone/>
              <a:defRPr/>
            </a:pPr>
            <a:r>
              <a:rPr lang="en-US" sz="2000" u="sng">
                <a:latin typeface="Times New Roman"/>
                <a:cs typeface="Times New Roman"/>
                <a:hlinkClick r:id="rId2" tooltip="https://elbrusboot.camp/blog/soap-api"/>
              </a:rPr>
              <a:t>https://elbrusboot.camp/blog/soap-api</a:t>
            </a:r>
            <a:endParaRPr lang="en-US" sz="2000">
              <a:latin typeface="Times New Roman"/>
              <a:cs typeface="Times New Roman"/>
            </a:endParaRPr>
          </a:p>
          <a:p>
            <a:pPr marL="0" indent="0" algn="r">
              <a:buNone/>
              <a:defRPr/>
            </a:pPr>
            <a:endParaRPr lang="ru-RU" sz="2000">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Модель данных </a:t>
            </a:r>
            <a:r>
              <a:rPr lang="en-US" sz="3200" b="1">
                <a:solidFill>
                  <a:srgbClr val="222222"/>
                </a:solidFill>
                <a:latin typeface="Times New Roman"/>
                <a:cs typeface="Arial"/>
              </a:rPr>
              <a:t>SOAP</a:t>
            </a:r>
            <a:br>
              <a:rPr lang="en-US" sz="3200" b="1">
                <a:solidFill>
                  <a:srgbClr val="222222"/>
                </a:solidFill>
                <a:latin typeface="Times New Roman"/>
                <a:cs typeface="Arial"/>
              </a:rPr>
            </a:br>
            <a:br>
              <a:rPr lang="en-US" sz="3200" b="1">
                <a:solidFill>
                  <a:srgbClr val="222222"/>
                </a:solidFill>
                <a:latin typeface="Times New Roman"/>
                <a:cs typeface="Arial"/>
              </a:rPr>
            </a:br>
            <a:br>
              <a:rPr lang="ru-RU" sz="3200" b="1">
                <a:solidFill>
                  <a:srgbClr val="222222"/>
                </a:solidFill>
                <a:latin typeface="Times New Roman"/>
                <a:cs typeface="Arial"/>
              </a:rPr>
            </a:b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632857" y="946779"/>
            <a:ext cx="10280469" cy="5610776"/>
          </a:xfrm>
        </p:spPr>
        <p:txBody>
          <a:bodyPr>
            <a:normAutofit fontScale="92500"/>
          </a:bodyPr>
          <a:lstStyle/>
          <a:p>
            <a:pPr marL="0" indent="0" algn="just">
              <a:buNone/>
              <a:defRPr/>
            </a:pPr>
            <a:r>
              <a:rPr lang="ru-RU" sz="2200">
                <a:latin typeface="Times New Roman"/>
                <a:cs typeface="Times New Roman"/>
              </a:rPr>
              <a:t>Модель данных SOAP определяет типы данных, которые могут быть переданы и позволяет определять пользовательские типы данных и их структуру.</a:t>
            </a:r>
            <a:endParaRPr lang="en-US" sz="2200">
              <a:latin typeface="Times New Roman"/>
              <a:cs typeface="Times New Roman"/>
            </a:endParaRPr>
          </a:p>
          <a:p>
            <a:pPr marL="0" indent="0" algn="just">
              <a:buNone/>
              <a:defRPr/>
            </a:pPr>
            <a:r>
              <a:rPr lang="ru-RU" sz="2200" b="1">
                <a:latin typeface="Times New Roman"/>
                <a:cs typeface="Times New Roman"/>
              </a:rPr>
              <a:t>Элементы модели данных </a:t>
            </a:r>
            <a:r>
              <a:rPr lang="en-US" sz="2200" b="1">
                <a:latin typeface="Times New Roman"/>
                <a:cs typeface="Times New Roman"/>
              </a:rPr>
              <a:t>SOAP</a:t>
            </a:r>
            <a:endParaRPr/>
          </a:p>
          <a:p>
            <a:pPr marL="0" indent="0" algn="just">
              <a:buNone/>
              <a:defRPr/>
            </a:pPr>
            <a:r>
              <a:rPr lang="en-US" sz="2200">
                <a:latin typeface="Times New Roman"/>
                <a:cs typeface="Times New Roman"/>
              </a:rPr>
              <a:t>1) </a:t>
            </a:r>
            <a:r>
              <a:rPr lang="ru-RU" sz="2200" b="1">
                <a:latin typeface="Times New Roman"/>
                <a:cs typeface="Times New Roman"/>
              </a:rPr>
              <a:t>Элементы XML: </a:t>
            </a:r>
            <a:r>
              <a:rPr lang="ru-RU" sz="2200">
                <a:latin typeface="Times New Roman"/>
                <a:cs typeface="Times New Roman"/>
              </a:rPr>
              <a:t>нужны для представления данных в SOAP сообщениях. Каждый элемент имеет имя и может содержать другие элементы или текстовые данные.</a:t>
            </a:r>
            <a:endParaRPr/>
          </a:p>
          <a:p>
            <a:pPr marL="0" indent="0" algn="just">
              <a:buNone/>
              <a:defRPr/>
            </a:pPr>
            <a:r>
              <a:rPr lang="en-US" sz="2200">
                <a:latin typeface="Times New Roman"/>
                <a:cs typeface="Times New Roman"/>
              </a:rPr>
              <a:t>2) </a:t>
            </a:r>
            <a:r>
              <a:rPr lang="ru-RU" sz="2200" b="1">
                <a:latin typeface="Times New Roman"/>
                <a:cs typeface="Times New Roman"/>
              </a:rPr>
              <a:t>Атрибуты XML: </a:t>
            </a:r>
            <a:r>
              <a:rPr lang="ru-RU" sz="2200">
                <a:latin typeface="Times New Roman"/>
                <a:cs typeface="Times New Roman"/>
              </a:rPr>
              <a:t>используются для представления дополнительной информации об элементе. Они имеют имя и значение и могут быть использованы для передачи метаданных или управления обработкой данных.</a:t>
            </a:r>
            <a:endParaRPr/>
          </a:p>
          <a:p>
            <a:pPr marL="0" indent="0" algn="just">
              <a:buNone/>
              <a:defRPr/>
            </a:pPr>
            <a:r>
              <a:rPr lang="en-US" sz="2200">
                <a:latin typeface="Times New Roman"/>
                <a:cs typeface="Times New Roman"/>
              </a:rPr>
              <a:t>3) </a:t>
            </a:r>
            <a:r>
              <a:rPr lang="ru-RU" sz="2200" b="1">
                <a:latin typeface="Times New Roman"/>
                <a:cs typeface="Times New Roman"/>
              </a:rPr>
              <a:t>Простые типы данных: </a:t>
            </a:r>
            <a:r>
              <a:rPr lang="ru-RU" sz="2200">
                <a:latin typeface="Times New Roman"/>
                <a:cs typeface="Times New Roman"/>
              </a:rPr>
              <a:t>строки, числа, даты и логические значения. Они могут быть использованы для представления простых значений в SOAP сообщениях.</a:t>
            </a:r>
            <a:endParaRPr/>
          </a:p>
          <a:p>
            <a:pPr marL="0" indent="0" algn="just">
              <a:buNone/>
              <a:defRPr/>
            </a:pPr>
            <a:r>
              <a:rPr lang="en-US" sz="2200">
                <a:latin typeface="Times New Roman"/>
                <a:cs typeface="Times New Roman"/>
              </a:rPr>
              <a:t>4) </a:t>
            </a:r>
            <a:r>
              <a:rPr lang="ru-RU" sz="2200" b="1">
                <a:latin typeface="Times New Roman"/>
                <a:cs typeface="Times New Roman"/>
              </a:rPr>
              <a:t>Сложные типы данных: </a:t>
            </a:r>
            <a:r>
              <a:rPr lang="ru-RU" sz="2200">
                <a:latin typeface="Times New Roman"/>
                <a:cs typeface="Times New Roman"/>
              </a:rPr>
              <a:t>структуры и массивы. Структуры содержат несколько элементов разных типов, а массивы — несколько элементов одного типа.</a:t>
            </a:r>
            <a:endParaRPr/>
          </a:p>
          <a:p>
            <a:pPr marL="0" indent="0" algn="just">
              <a:buNone/>
              <a:defRPr/>
            </a:pPr>
            <a:r>
              <a:rPr lang="en-US" sz="2200">
                <a:latin typeface="Times New Roman"/>
                <a:cs typeface="Times New Roman"/>
              </a:rPr>
              <a:t>5) </a:t>
            </a:r>
            <a:r>
              <a:rPr lang="ru-RU" sz="2200" b="1">
                <a:latin typeface="Times New Roman"/>
                <a:cs typeface="Times New Roman"/>
              </a:rPr>
              <a:t>Пространства имен: </a:t>
            </a:r>
            <a:r>
              <a:rPr lang="ru-RU" sz="2200">
                <a:latin typeface="Times New Roman"/>
                <a:cs typeface="Times New Roman"/>
              </a:rPr>
              <a:t>существуют для разрешения конфликтов имен элементов и типов данных. Пространства имен позволяют уникально идентифицировать элементы и типы данных в рамках SOAP сообщения.</a:t>
            </a:r>
            <a:endParaRPr/>
          </a:p>
          <a:p>
            <a:pPr marL="0" indent="0" algn="just">
              <a:buNone/>
              <a:defRPr/>
            </a:pPr>
            <a:endParaRPr lang="en-US" sz="2200">
              <a:latin typeface="Times New Roman"/>
              <a:cs typeface="Times New Roman"/>
            </a:endParaRPr>
          </a:p>
          <a:p>
            <a:pPr marL="0" indent="0" algn="just">
              <a:buNone/>
              <a:defRPr/>
            </a:pPr>
            <a:endParaRPr lang="ru-RU" sz="2200">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В каких случаях используют SOAP API</a:t>
            </a:r>
            <a:br>
              <a:rPr lang="ru-RU" sz="3200" b="1">
                <a:solidFill>
                  <a:srgbClr val="222222"/>
                </a:solidFill>
                <a:latin typeface="Times New Roman"/>
                <a:cs typeface="Arial"/>
              </a:rPr>
            </a:br>
            <a:br>
              <a:rPr lang="en-US" sz="3200" b="1">
                <a:solidFill>
                  <a:srgbClr val="222222"/>
                </a:solidFill>
                <a:latin typeface="Times New Roman"/>
                <a:cs typeface="Arial"/>
              </a:rPr>
            </a:br>
            <a:br>
              <a:rPr lang="en-US" sz="3200" b="1">
                <a:solidFill>
                  <a:srgbClr val="222222"/>
                </a:solidFill>
                <a:latin typeface="Times New Roman"/>
                <a:cs typeface="Arial"/>
              </a:rPr>
            </a:br>
            <a:br>
              <a:rPr lang="ru-RU" sz="3200" b="1">
                <a:solidFill>
                  <a:srgbClr val="222222"/>
                </a:solidFill>
                <a:latin typeface="Times New Roman"/>
                <a:cs typeface="Arial"/>
              </a:rPr>
            </a:b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632857" y="946779"/>
            <a:ext cx="10280469" cy="5610776"/>
          </a:xfrm>
        </p:spPr>
        <p:txBody>
          <a:bodyPr>
            <a:normAutofit lnSpcReduction="10000"/>
          </a:bodyPr>
          <a:lstStyle/>
          <a:p>
            <a:pPr marL="0" indent="0" algn="just">
              <a:buNone/>
              <a:defRPr/>
            </a:pPr>
            <a:endParaRPr lang="en-US" sz="2200">
              <a:latin typeface="Times New Roman"/>
              <a:cs typeface="Times New Roman"/>
            </a:endParaRPr>
          </a:p>
          <a:p>
            <a:pPr marL="0" indent="0" algn="just">
              <a:buNone/>
              <a:defRPr/>
            </a:pPr>
            <a:r>
              <a:rPr lang="en-US" sz="2200">
                <a:latin typeface="Times New Roman"/>
                <a:cs typeface="Times New Roman"/>
              </a:rPr>
              <a:t>1) </a:t>
            </a:r>
            <a:r>
              <a:rPr lang="ru-RU" sz="2200" b="1">
                <a:latin typeface="Times New Roman"/>
                <a:cs typeface="Times New Roman"/>
              </a:rPr>
              <a:t>В интеграции сложных систем. </a:t>
            </a:r>
            <a:r>
              <a:rPr lang="ru-RU" sz="2200">
                <a:latin typeface="Times New Roman"/>
                <a:cs typeface="Times New Roman"/>
              </a:rPr>
              <a:t>SOAP поддерживает передачу сложных объектов и атрибутов, что позволяет эффективно обмениваться данными между системами.</a:t>
            </a:r>
            <a:endParaRPr/>
          </a:p>
          <a:p>
            <a:pPr marL="0" indent="0" algn="just">
              <a:buNone/>
              <a:defRPr/>
            </a:pPr>
            <a:r>
              <a:rPr lang="en-US" sz="2200">
                <a:latin typeface="Times New Roman"/>
                <a:cs typeface="Times New Roman"/>
              </a:rPr>
              <a:t>2) </a:t>
            </a:r>
            <a:r>
              <a:rPr lang="ru-RU" sz="2200" b="1">
                <a:latin typeface="Times New Roman"/>
                <a:cs typeface="Times New Roman"/>
              </a:rPr>
              <a:t>Когда есть необходимость в строгих стандартах безопасности с поддержкой SSL.</a:t>
            </a:r>
            <a:r>
              <a:rPr lang="ru-RU" sz="2200">
                <a:latin typeface="Times New Roman"/>
                <a:cs typeface="Times New Roman"/>
              </a:rPr>
              <a:t> SOAP API использует WS-Security для обеспечения безопасности приложений на уровне предприятия и для связи с унаследованными системами.</a:t>
            </a:r>
            <a:endParaRPr/>
          </a:p>
          <a:p>
            <a:pPr marL="0" indent="0" algn="just">
              <a:buNone/>
              <a:defRPr/>
            </a:pPr>
            <a:r>
              <a:rPr lang="en-US" sz="2200">
                <a:latin typeface="Times New Roman"/>
                <a:cs typeface="Times New Roman"/>
              </a:rPr>
              <a:t>3) </a:t>
            </a:r>
            <a:r>
              <a:rPr lang="ru-RU" sz="2200" b="1">
                <a:latin typeface="Times New Roman"/>
                <a:cs typeface="Times New Roman"/>
              </a:rPr>
              <a:t>Когда нужны надёжные функции обмена сообщениями. </a:t>
            </a:r>
            <a:r>
              <a:rPr lang="ru-RU" sz="2200">
                <a:latin typeface="Times New Roman"/>
                <a:cs typeface="Times New Roman"/>
              </a:rPr>
              <a:t>Если вам необходимо гарантировать, что сообщения будут доставлены в надёжном порядке и без потерь, то SOAP API обеспечит надёжную доставку сообщений между системами при помощи расширения WS-</a:t>
            </a:r>
            <a:r>
              <a:rPr lang="ru-RU" sz="2200">
                <a:latin typeface="Times New Roman"/>
                <a:cs typeface="Times New Roman"/>
              </a:rPr>
              <a:t>ReliableMessaging</a:t>
            </a:r>
            <a:r>
              <a:rPr lang="ru-RU" sz="2200">
                <a:latin typeface="Times New Roman"/>
                <a:cs typeface="Times New Roman"/>
              </a:rPr>
              <a:t>.</a:t>
            </a:r>
            <a:endParaRPr/>
          </a:p>
          <a:p>
            <a:pPr marL="0" indent="0" algn="just">
              <a:buNone/>
              <a:defRPr/>
            </a:pPr>
            <a:r>
              <a:rPr lang="en-US" sz="2200">
                <a:latin typeface="Times New Roman"/>
                <a:cs typeface="Times New Roman"/>
              </a:rPr>
              <a:t>4) </a:t>
            </a:r>
            <a:r>
              <a:rPr lang="ru-RU" sz="2200" b="1">
                <a:latin typeface="Times New Roman"/>
                <a:cs typeface="Times New Roman"/>
              </a:rPr>
              <a:t>Когда необходимо сохранить конфиденциальность. </a:t>
            </a:r>
            <a:r>
              <a:rPr lang="ru-RU" sz="2200">
                <a:latin typeface="Times New Roman"/>
                <a:cs typeface="Times New Roman"/>
              </a:rPr>
              <a:t>SOAP API включает в себя соответствие стандарту ACID (</a:t>
            </a:r>
            <a:r>
              <a:rPr lang="ru-RU" sz="2200">
                <a:latin typeface="Times New Roman"/>
                <a:cs typeface="Times New Roman"/>
              </a:rPr>
              <a:t>Atomicity</a:t>
            </a:r>
            <a:r>
              <a:rPr lang="ru-RU" sz="2200">
                <a:latin typeface="Times New Roman"/>
                <a:cs typeface="Times New Roman"/>
              </a:rPr>
              <a:t>, </a:t>
            </a:r>
            <a:r>
              <a:rPr lang="ru-RU" sz="2200">
                <a:latin typeface="Times New Roman"/>
                <a:cs typeface="Times New Roman"/>
              </a:rPr>
              <a:t>Consistency</a:t>
            </a:r>
            <a:r>
              <a:rPr lang="ru-RU" sz="2200">
                <a:latin typeface="Times New Roman"/>
                <a:cs typeface="Times New Roman"/>
              </a:rPr>
              <a:t>, </a:t>
            </a:r>
            <a:r>
              <a:rPr lang="ru-RU" sz="2200">
                <a:latin typeface="Times New Roman"/>
                <a:cs typeface="Times New Roman"/>
              </a:rPr>
              <a:t>Isolation</a:t>
            </a:r>
            <a:r>
              <a:rPr lang="ru-RU" sz="2200">
                <a:latin typeface="Times New Roman"/>
                <a:cs typeface="Times New Roman"/>
              </a:rPr>
              <a:t>, </a:t>
            </a:r>
            <a:r>
              <a:rPr lang="ru-RU" sz="2200">
                <a:latin typeface="Times New Roman"/>
                <a:cs typeface="Times New Roman"/>
              </a:rPr>
              <a:t>and</a:t>
            </a:r>
            <a:r>
              <a:rPr lang="ru-RU" sz="2200">
                <a:latin typeface="Times New Roman"/>
                <a:cs typeface="Times New Roman"/>
              </a:rPr>
              <a:t> </a:t>
            </a:r>
            <a:r>
              <a:rPr lang="ru-RU" sz="2200">
                <a:latin typeface="Times New Roman"/>
                <a:cs typeface="Times New Roman"/>
              </a:rPr>
              <a:t>Durability</a:t>
            </a:r>
            <a:r>
              <a:rPr lang="ru-RU" sz="2200">
                <a:latin typeface="Times New Roman"/>
                <a:cs typeface="Times New Roman"/>
              </a:rPr>
              <a:t>) и это соответствие уменьшает избыточность и повышает безопасность и целостность сообщений.</a:t>
            </a:r>
            <a:endParaRPr/>
          </a:p>
          <a:p>
            <a:pPr marL="0" indent="0" algn="just">
              <a:buNone/>
              <a:defRPr/>
            </a:pPr>
            <a:endParaRPr lang="ru-RU" sz="2200">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Недостатки SOAP API</a:t>
            </a:r>
            <a:br>
              <a:rPr lang="ru-RU" sz="3200" b="1">
                <a:solidFill>
                  <a:srgbClr val="222222"/>
                </a:solidFill>
                <a:latin typeface="Times New Roman"/>
                <a:cs typeface="Arial"/>
              </a:rPr>
            </a:br>
            <a:br>
              <a:rPr lang="en-US" sz="3200" b="1">
                <a:solidFill>
                  <a:srgbClr val="222222"/>
                </a:solidFill>
                <a:latin typeface="Times New Roman"/>
                <a:cs typeface="Arial"/>
              </a:rPr>
            </a:br>
            <a:br>
              <a:rPr lang="en-US" sz="3200" b="1">
                <a:solidFill>
                  <a:srgbClr val="222222"/>
                </a:solidFill>
                <a:latin typeface="Times New Roman"/>
                <a:cs typeface="Arial"/>
              </a:rPr>
            </a:br>
            <a:br>
              <a:rPr lang="ru-RU" sz="3200" b="1">
                <a:solidFill>
                  <a:srgbClr val="222222"/>
                </a:solidFill>
                <a:latin typeface="Times New Roman"/>
                <a:cs typeface="Arial"/>
              </a:rPr>
            </a:b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632857" y="946779"/>
            <a:ext cx="10280469" cy="5610776"/>
          </a:xfrm>
        </p:spPr>
        <p:txBody>
          <a:bodyPr>
            <a:normAutofit fontScale="92500"/>
          </a:bodyPr>
          <a:lstStyle/>
          <a:p>
            <a:pPr marL="0" indent="0" algn="just">
              <a:buNone/>
              <a:defRPr/>
            </a:pPr>
            <a:endParaRPr lang="en-US" sz="2200">
              <a:latin typeface="Times New Roman"/>
              <a:cs typeface="Times New Roman"/>
            </a:endParaRPr>
          </a:p>
          <a:p>
            <a:pPr marL="0" indent="0" algn="just">
              <a:buNone/>
              <a:defRPr/>
            </a:pPr>
            <a:r>
              <a:rPr lang="en-US" sz="2400">
                <a:latin typeface="Times New Roman"/>
                <a:cs typeface="Times New Roman"/>
              </a:rPr>
              <a:t>1)</a:t>
            </a:r>
            <a:r>
              <a:rPr lang="ru-RU" sz="2400">
                <a:latin typeface="Times New Roman"/>
                <a:cs typeface="Times New Roman"/>
              </a:rPr>
              <a:t> </a:t>
            </a:r>
            <a:r>
              <a:rPr lang="ru-RU" sz="2400" b="1">
                <a:latin typeface="Times New Roman"/>
                <a:cs typeface="Times New Roman"/>
              </a:rPr>
              <a:t>Объёмные сообщения: </a:t>
            </a:r>
            <a:r>
              <a:rPr lang="ru-RU" sz="2400">
                <a:latin typeface="Times New Roman"/>
                <a:cs typeface="Times New Roman"/>
              </a:rPr>
              <a:t>SOAP API использует XML для </a:t>
            </a:r>
            <a:r>
              <a:rPr lang="ru-RU" sz="2400">
                <a:latin typeface="Times New Roman"/>
                <a:cs typeface="Times New Roman"/>
              </a:rPr>
              <a:t>сериализации</a:t>
            </a:r>
            <a:r>
              <a:rPr lang="ru-RU" sz="2400">
                <a:latin typeface="Times New Roman"/>
                <a:cs typeface="Times New Roman"/>
              </a:rPr>
              <a:t> данных, что приводит к увеличению объёма передаваемых сообщений. Проблемы возникают при передаче больших объёмов данных или при работе с медленными сетевыми соединениями.</a:t>
            </a:r>
            <a:endParaRPr/>
          </a:p>
          <a:p>
            <a:pPr marL="0" indent="0" algn="just">
              <a:buNone/>
              <a:defRPr/>
            </a:pPr>
            <a:r>
              <a:rPr lang="ru-RU" sz="2400">
                <a:latin typeface="Times New Roman"/>
                <a:cs typeface="Times New Roman"/>
              </a:rPr>
              <a:t>2) </a:t>
            </a:r>
            <a:r>
              <a:rPr lang="ru-RU" sz="2400" b="1">
                <a:latin typeface="Times New Roman"/>
                <a:cs typeface="Times New Roman"/>
              </a:rPr>
              <a:t>Поддержка только одного формата: </a:t>
            </a:r>
            <a:r>
              <a:rPr lang="ru-RU" sz="2400">
                <a:latin typeface="Times New Roman"/>
                <a:cs typeface="Times New Roman"/>
              </a:rPr>
              <a:t>SOAP API ограничен использованием только XML в качестве формата данных. В некоторых случаях это может означать дополнительные накладные расходы на преобразование данных из других форматов в XML и обратно.</a:t>
            </a:r>
            <a:endParaRPr/>
          </a:p>
          <a:p>
            <a:pPr marL="0" indent="0" algn="just">
              <a:buNone/>
              <a:defRPr/>
            </a:pPr>
            <a:r>
              <a:rPr lang="ru-RU" sz="2400">
                <a:latin typeface="Times New Roman"/>
                <a:cs typeface="Times New Roman"/>
              </a:rPr>
              <a:t>3) </a:t>
            </a:r>
            <a:r>
              <a:rPr lang="ru-RU" sz="2400" b="1">
                <a:latin typeface="Times New Roman"/>
                <a:cs typeface="Times New Roman"/>
              </a:rPr>
              <a:t>Один запрос — один ответ: </a:t>
            </a:r>
            <a:r>
              <a:rPr lang="ru-RU" sz="2400">
                <a:latin typeface="Times New Roman"/>
                <a:cs typeface="Times New Roman"/>
              </a:rPr>
              <a:t>клиент должен отправить запрос и дождаться ответа от сервера, прежде чем продолжить выполнение следующих операций. Это может привести к блокировке клиентского приложения, если запрос долго обрабатывается.</a:t>
            </a:r>
            <a:endParaRPr/>
          </a:p>
          <a:p>
            <a:pPr marL="0" indent="0" algn="just">
              <a:buNone/>
              <a:defRPr/>
            </a:pPr>
            <a:r>
              <a:rPr lang="ru-RU" sz="2400">
                <a:latin typeface="Times New Roman"/>
                <a:cs typeface="Times New Roman"/>
              </a:rPr>
              <a:t>4) </a:t>
            </a:r>
            <a:r>
              <a:rPr lang="ru-RU" sz="2400" b="1">
                <a:latin typeface="Times New Roman"/>
                <a:cs typeface="Times New Roman"/>
              </a:rPr>
              <a:t>Возможность нарушения работы клиента при смене описания веб-сервиса: </a:t>
            </a:r>
            <a:r>
              <a:rPr lang="ru-RU" sz="2400">
                <a:latin typeface="Times New Roman"/>
                <a:cs typeface="Times New Roman"/>
              </a:rPr>
              <a:t>смена описания потребует дополнительных усилий для согласования изменений между поставщиком и потребителем сервиса.</a:t>
            </a:r>
            <a:endParaRPr/>
          </a:p>
          <a:p>
            <a:pPr marL="0" indent="0" algn="just">
              <a:buNone/>
              <a:defRPr/>
            </a:pPr>
            <a:endParaRPr lang="ru-RU" sz="2200">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Запрос по протоколу </a:t>
            </a:r>
            <a:r>
              <a:rPr lang="en-US" sz="3200" b="1">
                <a:solidFill>
                  <a:srgbClr val="222222"/>
                </a:solidFill>
                <a:latin typeface="Times New Roman"/>
                <a:cs typeface="Arial"/>
              </a:rPr>
              <a:t>SOAP</a:t>
            </a:r>
            <a:br>
              <a:rPr lang="en-US" sz="3200" b="1">
                <a:solidFill>
                  <a:srgbClr val="222222"/>
                </a:solidFill>
                <a:latin typeface="Times New Roman"/>
                <a:cs typeface="Arial"/>
              </a:rPr>
            </a:br>
            <a:br>
              <a:rPr lang="en-US" sz="3200" b="1">
                <a:solidFill>
                  <a:srgbClr val="222222"/>
                </a:solidFill>
                <a:latin typeface="Times New Roman"/>
                <a:cs typeface="Arial"/>
              </a:rPr>
            </a:br>
            <a:br>
              <a:rPr lang="ru-RU" sz="3200" b="1">
                <a:solidFill>
                  <a:srgbClr val="222222"/>
                </a:solidFill>
                <a:latin typeface="Times New Roman"/>
                <a:cs typeface="Arial"/>
              </a:rPr>
            </a:b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632857" y="946779"/>
            <a:ext cx="10280469" cy="4840066"/>
          </a:xfrm>
        </p:spPr>
        <p:txBody>
          <a:bodyPr>
            <a:normAutofit/>
          </a:bodyPr>
          <a:lstStyle/>
          <a:p>
            <a:pPr marL="0" indent="0" algn="just">
              <a:buNone/>
              <a:defRPr/>
            </a:pPr>
            <a:endParaRPr lang="en-US" sz="2200">
              <a:latin typeface="Times New Roman"/>
              <a:cs typeface="Times New Roman"/>
            </a:endParaRPr>
          </a:p>
          <a:p>
            <a:pPr marL="0" indent="0" algn="just">
              <a:buNone/>
              <a:defRPr/>
            </a:pPr>
            <a:endParaRPr lang="ru-RU" sz="2200">
              <a:latin typeface="Times New Roman"/>
              <a:cs typeface="Times New Roman"/>
            </a:endParaRPr>
          </a:p>
        </p:txBody>
      </p:sp>
      <p:pic>
        <p:nvPicPr>
          <p:cNvPr id="6" name="Рисунок 5"/>
          <p:cNvPicPr>
            <a:picLocks noChangeAspect="1"/>
          </p:cNvPicPr>
          <p:nvPr/>
        </p:nvPicPr>
        <p:blipFill>
          <a:blip r:embed="rId2"/>
          <a:stretch/>
        </p:blipFill>
        <p:spPr bwMode="auto">
          <a:xfrm>
            <a:off x="1881336" y="1390914"/>
            <a:ext cx="9783509" cy="4317553"/>
          </a:xfrm>
          <a:prstGeom prst="rect">
            <a:avLst/>
          </a:prstGeom>
        </p:spPr>
      </p:pic>
      <p:sp>
        <p:nvSpPr>
          <p:cNvPr id="10" name="TextBox 9"/>
          <p:cNvSpPr txBox="1"/>
          <p:nvPr/>
        </p:nvSpPr>
        <p:spPr bwMode="auto">
          <a:xfrm>
            <a:off x="6673237" y="6120228"/>
            <a:ext cx="5140236" cy="646331"/>
          </a:xfrm>
          <a:prstGeom prst="rect">
            <a:avLst/>
          </a:prstGeom>
          <a:noFill/>
        </p:spPr>
        <p:txBody>
          <a:bodyPr wrap="square">
            <a:spAutoFit/>
          </a:bodyPr>
          <a:lstStyle/>
          <a:p>
            <a:pPr algn="r">
              <a:defRPr/>
            </a:pPr>
            <a:r>
              <a:rPr lang="ru-RU" u="sng">
                <a:hlinkClick r:id="rId3" tooltip="https://systems.education/soap-integration"/>
              </a:rPr>
              <a:t>https://systems.education/soap-integration</a:t>
            </a:r>
            <a:endParaRPr lang="en-US"/>
          </a:p>
          <a:p>
            <a:pPr algn="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Запрос по протоколу </a:t>
            </a:r>
            <a:r>
              <a:rPr lang="en-US" sz="3200" b="1">
                <a:solidFill>
                  <a:srgbClr val="222222"/>
                </a:solidFill>
                <a:latin typeface="Times New Roman"/>
                <a:cs typeface="Arial"/>
              </a:rPr>
              <a:t>SOAP</a:t>
            </a:r>
            <a:br>
              <a:rPr lang="en-US" sz="3200" b="1">
                <a:solidFill>
                  <a:srgbClr val="222222"/>
                </a:solidFill>
                <a:latin typeface="Times New Roman"/>
                <a:cs typeface="Arial"/>
              </a:rPr>
            </a:br>
            <a:br>
              <a:rPr lang="en-US" sz="3200" b="1">
                <a:solidFill>
                  <a:srgbClr val="222222"/>
                </a:solidFill>
                <a:latin typeface="Times New Roman"/>
                <a:cs typeface="Arial"/>
              </a:rPr>
            </a:br>
            <a:br>
              <a:rPr lang="ru-RU" sz="3200" b="1">
                <a:solidFill>
                  <a:srgbClr val="222222"/>
                </a:solidFill>
                <a:latin typeface="Times New Roman"/>
                <a:cs typeface="Arial"/>
              </a:rPr>
            </a:b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632857" y="946779"/>
            <a:ext cx="10280469" cy="5610776"/>
          </a:xfrm>
        </p:spPr>
        <p:txBody>
          <a:bodyPr>
            <a:normAutofit lnSpcReduction="10000"/>
          </a:bodyPr>
          <a:lstStyle/>
          <a:p>
            <a:pPr marL="0" indent="0" algn="just">
              <a:buNone/>
              <a:defRPr/>
            </a:pPr>
            <a:endParaRPr lang="en-US" sz="2200">
              <a:latin typeface="Times New Roman"/>
              <a:cs typeface="Times New Roman"/>
            </a:endParaRPr>
          </a:p>
          <a:p>
            <a:pPr marL="0" indent="0" algn="just">
              <a:buNone/>
              <a:defRPr/>
            </a:pPr>
            <a:r>
              <a:rPr lang="ru-RU" sz="2400" b="1" i="0">
                <a:solidFill>
                  <a:srgbClr val="000000"/>
                </a:solidFill>
                <a:latin typeface="Times New Roman"/>
                <a:cs typeface="Times New Roman"/>
              </a:rPr>
              <a:t>Envelope</a:t>
            </a:r>
            <a:r>
              <a:rPr lang="ru-RU" sz="2400" b="0" i="0">
                <a:solidFill>
                  <a:srgbClr val="000000"/>
                </a:solidFill>
                <a:latin typeface="Times New Roman"/>
                <a:cs typeface="Times New Roman"/>
              </a:rPr>
              <a:t> и </a:t>
            </a:r>
            <a:r>
              <a:rPr lang="ru-RU" sz="2400" b="1" i="0">
                <a:solidFill>
                  <a:srgbClr val="000000"/>
                </a:solidFill>
                <a:latin typeface="Times New Roman"/>
                <a:cs typeface="Times New Roman"/>
              </a:rPr>
              <a:t>Body</a:t>
            </a:r>
            <a:r>
              <a:rPr lang="ru-RU" sz="2400" b="0" i="0">
                <a:solidFill>
                  <a:srgbClr val="000000"/>
                </a:solidFill>
                <a:latin typeface="Times New Roman"/>
                <a:cs typeface="Times New Roman"/>
              </a:rPr>
              <a:t> — теги, которые прописаны в протоколе SOAP. То есть, если вы отправляете запрос по протоколу SOAP, то у вас должен быть тег Envelope и вложенный в него тег Body. Это нужно просто запомнить.</a:t>
            </a:r>
            <a:br>
              <a:rPr lang="ru-RU" sz="2400">
                <a:latin typeface="Times New Roman"/>
                <a:cs typeface="Times New Roman"/>
              </a:rPr>
            </a:br>
            <a:br>
              <a:rPr lang="ru-RU" sz="2400">
                <a:latin typeface="Times New Roman"/>
                <a:cs typeface="Times New Roman"/>
              </a:rPr>
            </a:br>
            <a:r>
              <a:rPr lang="ru-RU" sz="2400" b="1" i="0">
                <a:solidFill>
                  <a:srgbClr val="000000"/>
                </a:solidFill>
                <a:latin typeface="Times New Roman"/>
                <a:cs typeface="Times New Roman"/>
              </a:rPr>
              <a:t>SOAP-ENV</a:t>
            </a:r>
            <a:r>
              <a:rPr lang="ru-RU" sz="2400" b="0" i="0">
                <a:solidFill>
                  <a:srgbClr val="000000"/>
                </a:solidFill>
                <a:latin typeface="Times New Roman"/>
                <a:cs typeface="Times New Roman"/>
              </a:rPr>
              <a:t> — обозначение пространства имён, то есть теги Envelope и Body относятся к пространству имён SOAP-</a:t>
            </a:r>
            <a:r>
              <a:rPr lang="ru-RU" sz="2400" b="0" i="0">
                <a:solidFill>
                  <a:srgbClr val="000000"/>
                </a:solidFill>
                <a:latin typeface="Times New Roman"/>
                <a:cs typeface="Times New Roman"/>
              </a:rPr>
              <a:t>овского</a:t>
            </a:r>
            <a:r>
              <a:rPr lang="ru-RU" sz="2400" b="0" i="0">
                <a:solidFill>
                  <a:srgbClr val="000000"/>
                </a:solidFill>
                <a:latin typeface="Times New Roman"/>
                <a:cs typeface="Times New Roman"/>
              </a:rPr>
              <a:t> окружения и это не что иное, как краткое указание на то, что есть определенное семейство тегов. А где описывается пространство имён, мы разберем немного позже.</a:t>
            </a:r>
            <a:br>
              <a:rPr lang="ru-RU" sz="2400">
                <a:latin typeface="Times New Roman"/>
                <a:cs typeface="Times New Roman"/>
              </a:rPr>
            </a:br>
            <a:br>
              <a:rPr lang="ru-RU" sz="2400">
                <a:latin typeface="Times New Roman"/>
                <a:cs typeface="Times New Roman"/>
              </a:rPr>
            </a:br>
            <a:r>
              <a:rPr lang="ru-RU" sz="2400" b="1" i="0">
                <a:solidFill>
                  <a:srgbClr val="0064FF"/>
                </a:solidFill>
                <a:latin typeface="Times New Roman"/>
                <a:cs typeface="Times New Roman"/>
              </a:rPr>
              <a:t>getQuote</a:t>
            </a:r>
            <a:r>
              <a:rPr lang="ru-RU" sz="2400" b="0" i="0">
                <a:solidFill>
                  <a:srgbClr val="000000"/>
                </a:solidFill>
                <a:latin typeface="Times New Roman"/>
                <a:cs typeface="Times New Roman"/>
              </a:rPr>
              <a:t> (получить котировку) — имя процедуры, которую мы хотим вызвать. Она относится уже к другому пространству имён, а именно «ns1».</a:t>
            </a:r>
            <a:br>
              <a:rPr lang="ru-RU" sz="2400">
                <a:latin typeface="Times New Roman"/>
                <a:cs typeface="Times New Roman"/>
              </a:rPr>
            </a:br>
            <a:br>
              <a:rPr lang="ru-RU" sz="2400">
                <a:latin typeface="Times New Roman"/>
                <a:cs typeface="Times New Roman"/>
              </a:rPr>
            </a:br>
            <a:r>
              <a:rPr lang="ru-RU" sz="2400" b="0" i="0">
                <a:solidFill>
                  <a:srgbClr val="000000"/>
                </a:solidFill>
                <a:latin typeface="Times New Roman"/>
                <a:cs typeface="Times New Roman"/>
              </a:rPr>
              <a:t>«</a:t>
            </a:r>
            <a:r>
              <a:rPr lang="ru-RU" sz="2400" b="1" i="0">
                <a:solidFill>
                  <a:srgbClr val="D90000"/>
                </a:solidFill>
                <a:latin typeface="Times New Roman"/>
                <a:cs typeface="Times New Roman"/>
              </a:rPr>
              <a:t>Faсebook</a:t>
            </a:r>
            <a:r>
              <a:rPr lang="ru-RU" sz="2400" b="0" i="0">
                <a:solidFill>
                  <a:srgbClr val="000000"/>
                </a:solidFill>
                <a:latin typeface="Times New Roman"/>
                <a:cs typeface="Times New Roman"/>
              </a:rPr>
              <a:t>» — это входной параметр, который мы передаем, и он завернут в тег Symbol. Обратите внимание на атрибут, который есть в этом теге «string» — он описывает, что передаваться должно не число, а строка.</a:t>
            </a:r>
            <a:endParaRPr lang="ru-RU" sz="2200">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ru-RU" sz="3200" b="1">
                <a:solidFill>
                  <a:srgbClr val="222222"/>
                </a:solidFill>
                <a:latin typeface="Times New Roman"/>
                <a:cs typeface="Arial"/>
              </a:rPr>
              <a:t>Ответ по протоколу </a:t>
            </a:r>
            <a:r>
              <a:rPr lang="en-US" sz="3200" b="1">
                <a:solidFill>
                  <a:srgbClr val="222222"/>
                </a:solidFill>
                <a:latin typeface="Times New Roman"/>
                <a:cs typeface="Arial"/>
              </a:rPr>
              <a:t>SOAP</a:t>
            </a:r>
            <a:br>
              <a:rPr lang="en-US" sz="3200" b="1">
                <a:solidFill>
                  <a:srgbClr val="222222"/>
                </a:solidFill>
                <a:latin typeface="Times New Roman"/>
                <a:cs typeface="Arial"/>
              </a:rPr>
            </a:br>
            <a:br>
              <a:rPr lang="en-US" sz="3200" b="1">
                <a:solidFill>
                  <a:srgbClr val="222222"/>
                </a:solidFill>
                <a:latin typeface="Times New Roman"/>
                <a:cs typeface="Arial"/>
              </a:rPr>
            </a:br>
            <a:br>
              <a:rPr lang="ru-RU" sz="3200" b="1">
                <a:solidFill>
                  <a:srgbClr val="222222"/>
                </a:solidFill>
                <a:latin typeface="Times New Roman"/>
                <a:cs typeface="Arial"/>
              </a:rPr>
            </a:b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632857" y="946779"/>
            <a:ext cx="10280469" cy="4840066"/>
          </a:xfrm>
        </p:spPr>
        <p:txBody>
          <a:bodyPr>
            <a:normAutofit/>
          </a:bodyPr>
          <a:lstStyle/>
          <a:p>
            <a:pPr marL="0" indent="0" algn="just">
              <a:buNone/>
              <a:defRPr/>
            </a:pPr>
            <a:endParaRPr lang="en-US" sz="2200">
              <a:latin typeface="Times New Roman"/>
              <a:cs typeface="Times New Roman"/>
            </a:endParaRPr>
          </a:p>
          <a:p>
            <a:pPr marL="0" indent="0" algn="just">
              <a:buNone/>
              <a:defRPr/>
            </a:pPr>
            <a:endParaRPr lang="ru-RU" sz="2200">
              <a:latin typeface="Times New Roman"/>
              <a:cs typeface="Times New Roman"/>
            </a:endParaRPr>
          </a:p>
        </p:txBody>
      </p:sp>
      <p:sp>
        <p:nvSpPr>
          <p:cNvPr id="10" name="TextBox 9"/>
          <p:cNvSpPr txBox="1"/>
          <p:nvPr/>
        </p:nvSpPr>
        <p:spPr bwMode="auto">
          <a:xfrm>
            <a:off x="6673237" y="6120228"/>
            <a:ext cx="5140236" cy="646331"/>
          </a:xfrm>
          <a:prstGeom prst="rect">
            <a:avLst/>
          </a:prstGeom>
          <a:noFill/>
        </p:spPr>
        <p:txBody>
          <a:bodyPr wrap="square">
            <a:spAutoFit/>
          </a:bodyPr>
          <a:lstStyle/>
          <a:p>
            <a:pPr algn="r">
              <a:defRPr/>
            </a:pPr>
            <a:r>
              <a:rPr lang="ru-RU" u="sng">
                <a:hlinkClick r:id="rId2" tooltip="https://systems.education/soap-integration"/>
              </a:rPr>
              <a:t>https://systems.education/soap-integration</a:t>
            </a:r>
            <a:endParaRPr lang="en-US"/>
          </a:p>
          <a:p>
            <a:pPr algn="r">
              <a:defRPr/>
            </a:pPr>
            <a:endParaRPr lang="ru-RU"/>
          </a:p>
        </p:txBody>
      </p:sp>
      <p:pic>
        <p:nvPicPr>
          <p:cNvPr id="5" name="Рисунок 4"/>
          <p:cNvPicPr>
            <a:picLocks noChangeAspect="1"/>
          </p:cNvPicPr>
          <p:nvPr/>
        </p:nvPicPr>
        <p:blipFill>
          <a:blip r:embed="rId3"/>
          <a:stretch/>
        </p:blipFill>
        <p:spPr bwMode="auto">
          <a:xfrm>
            <a:off x="2130062" y="1311877"/>
            <a:ext cx="9548132" cy="447496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en-US" sz="3200" b="1">
                <a:solidFill>
                  <a:srgbClr val="222222"/>
                </a:solidFill>
                <a:latin typeface="Times New Roman"/>
                <a:cs typeface="Arial"/>
              </a:rPr>
              <a:t>Web Services Description Language (WSDL)</a:t>
            </a:r>
            <a:br>
              <a:rPr lang="ru-RU" sz="3200" b="1">
                <a:solidFill>
                  <a:srgbClr val="222222"/>
                </a:solidFill>
                <a:latin typeface="Times New Roman"/>
                <a:cs typeface="Arial"/>
              </a:rPr>
            </a:br>
            <a:endParaRPr lang="ru-RU" sz="3200" b="1">
              <a:solidFill>
                <a:srgbClr val="222222"/>
              </a:solidFill>
              <a:latin typeface="Times New Roman"/>
              <a:cs typeface="Arial"/>
            </a:endParaRPr>
          </a:p>
        </p:txBody>
      </p:sp>
      <p:sp>
        <p:nvSpPr>
          <p:cNvPr id="3" name="Объект 2"/>
          <p:cNvSpPr>
            <a:spLocks noGrp="1"/>
          </p:cNvSpPr>
          <p:nvPr>
            <p:ph idx="1"/>
          </p:nvPr>
        </p:nvSpPr>
        <p:spPr bwMode="auto">
          <a:xfrm>
            <a:off x="1632857" y="946779"/>
            <a:ext cx="10280469" cy="4840066"/>
          </a:xfrm>
        </p:spPr>
        <p:txBody>
          <a:bodyPr>
            <a:normAutofit fontScale="92500" lnSpcReduction="10000"/>
          </a:bodyPr>
          <a:lstStyle/>
          <a:p>
            <a:pPr marL="0" indent="0" algn="just">
              <a:buNone/>
              <a:defRPr/>
            </a:pPr>
            <a:endParaRPr lang="en-US" sz="2200">
              <a:latin typeface="Times New Roman"/>
              <a:cs typeface="Times New Roman"/>
            </a:endParaRPr>
          </a:p>
          <a:p>
            <a:pPr>
              <a:defRPr/>
            </a:pPr>
            <a:r>
              <a:rPr lang="ru-RU" sz="2400" b="0" i="0">
                <a:solidFill>
                  <a:srgbClr val="000000"/>
                </a:solidFill>
                <a:latin typeface="Times New Roman"/>
                <a:cs typeface="Times New Roman"/>
              </a:rPr>
              <a:t>Давайте теперь вернёмся к WSDL — документу, благодаря которому приложение заранее знает, какие должны прийти данные внутри каких тегов.</a:t>
            </a:r>
            <a:br>
              <a:rPr lang="ru-RU" sz="2400" b="0" i="0">
                <a:solidFill>
                  <a:srgbClr val="000000"/>
                </a:solidFill>
                <a:latin typeface="Times New Roman"/>
                <a:cs typeface="Times New Roman"/>
              </a:rPr>
            </a:br>
            <a:br>
              <a:rPr lang="ru-RU" sz="2400" b="0" i="0">
                <a:solidFill>
                  <a:srgbClr val="000000"/>
                </a:solidFill>
                <a:latin typeface="Times New Roman"/>
                <a:cs typeface="Times New Roman"/>
              </a:rPr>
            </a:br>
            <a:r>
              <a:rPr lang="ru-RU" sz="2400" b="0" i="0">
                <a:solidFill>
                  <a:srgbClr val="000000"/>
                </a:solidFill>
                <a:latin typeface="Times New Roman"/>
                <a:cs typeface="Times New Roman"/>
              </a:rPr>
              <a:t>Основные теги в описании WSDL-сервера:</a:t>
            </a:r>
            <a:endParaRPr/>
          </a:p>
          <a:p>
            <a:pPr>
              <a:defRPr/>
            </a:pPr>
            <a:r>
              <a:rPr lang="ru-RU" sz="2400" b="1" i="0">
                <a:solidFill>
                  <a:srgbClr val="000000"/>
                </a:solidFill>
                <a:latin typeface="Times New Roman"/>
                <a:cs typeface="Times New Roman"/>
              </a:rPr>
              <a:t>Message</a:t>
            </a:r>
            <a:r>
              <a:rPr lang="ru-RU" sz="2400" b="0" i="0">
                <a:solidFill>
                  <a:srgbClr val="000000"/>
                </a:solidFill>
                <a:latin typeface="Times New Roman"/>
                <a:cs typeface="Times New Roman"/>
              </a:rPr>
              <a:t> — сообщения, используемые </a:t>
            </a:r>
            <a:r>
              <a:rPr lang="ru-RU" sz="2400" b="0" i="0">
                <a:solidFill>
                  <a:srgbClr val="000000"/>
                </a:solidFill>
                <a:latin typeface="Times New Roman"/>
                <a:cs typeface="Times New Roman"/>
              </a:rPr>
              <a:t>web</a:t>
            </a:r>
            <a:r>
              <a:rPr lang="ru-RU" sz="2400" b="0" i="0">
                <a:solidFill>
                  <a:srgbClr val="000000"/>
                </a:solidFill>
                <a:latin typeface="Times New Roman"/>
                <a:cs typeface="Times New Roman"/>
              </a:rPr>
              <a:t>-сервисом.</a:t>
            </a:r>
            <a:endParaRPr/>
          </a:p>
          <a:p>
            <a:pPr algn="just">
              <a:defRPr/>
            </a:pPr>
            <a:r>
              <a:rPr lang="ru-RU" sz="2400" b="1" i="0">
                <a:solidFill>
                  <a:srgbClr val="000000"/>
                </a:solidFill>
                <a:latin typeface="Times New Roman"/>
                <a:cs typeface="Times New Roman"/>
              </a:rPr>
              <a:t>PortType</a:t>
            </a:r>
            <a:r>
              <a:rPr lang="ru-RU" sz="2400" b="0" i="0">
                <a:solidFill>
                  <a:srgbClr val="000000"/>
                </a:solidFill>
                <a:latin typeface="Times New Roman"/>
                <a:cs typeface="Times New Roman"/>
              </a:rPr>
              <a:t> — список операций, которые могут быть выполнены с сообщениями.</a:t>
            </a:r>
            <a:endParaRPr/>
          </a:p>
          <a:p>
            <a:pPr algn="just">
              <a:defRPr/>
            </a:pPr>
            <a:r>
              <a:rPr lang="ru-RU" sz="2400" b="1" i="0">
                <a:solidFill>
                  <a:srgbClr val="000000"/>
                </a:solidFill>
                <a:latin typeface="Times New Roman"/>
                <a:cs typeface="Times New Roman"/>
              </a:rPr>
              <a:t>Binding</a:t>
            </a:r>
            <a:r>
              <a:rPr lang="ru-RU" sz="2400" b="0" i="0">
                <a:solidFill>
                  <a:srgbClr val="000000"/>
                </a:solidFill>
                <a:latin typeface="Times New Roman"/>
                <a:cs typeface="Times New Roman"/>
              </a:rPr>
              <a:t> — способ, которым сообщение будет доставлено.</a:t>
            </a:r>
            <a:endParaRPr/>
          </a:p>
          <a:p>
            <a:pPr algn="just">
              <a:defRPr/>
            </a:pPr>
            <a:endParaRPr lang="ru-RU" sz="2400" b="0" i="0">
              <a:solidFill>
                <a:srgbClr val="000000"/>
              </a:solidFill>
              <a:latin typeface="Times New Roman"/>
              <a:cs typeface="Times New Roman"/>
            </a:endParaRPr>
          </a:p>
          <a:p>
            <a:pPr marL="0" indent="0" algn="just">
              <a:buNone/>
              <a:defRPr/>
            </a:pPr>
            <a:r>
              <a:rPr lang="ru-RU" sz="2400" b="0" i="0">
                <a:solidFill>
                  <a:srgbClr val="000000"/>
                </a:solidFill>
                <a:latin typeface="Times New Roman"/>
                <a:cs typeface="Times New Roman"/>
              </a:rPr>
              <a:t>На веб-сервисе лежит файл WSDL. И клиент, и сервер руководствуются в своей работе этим файлом: читают его и разбираются, как устроен сервис. И клиент, и сервер умею читать этот файл и получать из него информацию, так как они знают стандарт SOAP и то, как должен быть устроен файл WSDL.</a:t>
            </a:r>
            <a:endParaRPr/>
          </a:p>
        </p:txBody>
      </p:sp>
      <p:sp>
        <p:nvSpPr>
          <p:cNvPr id="10" name="TextBox 9"/>
          <p:cNvSpPr txBox="1"/>
          <p:nvPr/>
        </p:nvSpPr>
        <p:spPr bwMode="auto">
          <a:xfrm>
            <a:off x="6673237" y="6120228"/>
            <a:ext cx="5140236" cy="646331"/>
          </a:xfrm>
          <a:prstGeom prst="rect">
            <a:avLst/>
          </a:prstGeom>
          <a:noFill/>
        </p:spPr>
        <p:txBody>
          <a:bodyPr wrap="square">
            <a:spAutoFit/>
          </a:bodyPr>
          <a:lstStyle/>
          <a:p>
            <a:pPr algn="r">
              <a:defRPr/>
            </a:pPr>
            <a:r>
              <a:rPr lang="ru-RU" u="sng">
                <a:hlinkClick r:id="rId2" tooltip="https://systems.education/soap-integration"/>
              </a:rPr>
              <a:t>https://systems.education/soap-integration</a:t>
            </a:r>
            <a:endParaRPr lang="en-US"/>
          </a:p>
          <a:p>
            <a:pPr algn="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en-US" sz="3200" b="1">
                <a:solidFill>
                  <a:srgbClr val="222222"/>
                </a:solidFill>
                <a:latin typeface="Times New Roman"/>
                <a:cs typeface="Arial"/>
              </a:rPr>
              <a:t>WSDL</a:t>
            </a:r>
            <a:r>
              <a:rPr lang="ru-RU" sz="3200" b="1">
                <a:solidFill>
                  <a:srgbClr val="222222"/>
                </a:solidFill>
                <a:latin typeface="Times New Roman"/>
                <a:cs typeface="Arial"/>
              </a:rPr>
              <a:t>-файл</a:t>
            </a:r>
            <a:br>
              <a:rPr lang="ru-RU" sz="3200" b="1">
                <a:solidFill>
                  <a:srgbClr val="222222"/>
                </a:solidFill>
                <a:latin typeface="Times New Roman"/>
                <a:cs typeface="Arial"/>
              </a:rPr>
            </a:br>
            <a:endParaRPr lang="ru-RU" sz="3200" b="1">
              <a:solidFill>
                <a:srgbClr val="222222"/>
              </a:solidFill>
              <a:latin typeface="Times New Roman"/>
              <a:cs typeface="Arial"/>
            </a:endParaRPr>
          </a:p>
        </p:txBody>
      </p:sp>
      <p:pic>
        <p:nvPicPr>
          <p:cNvPr id="6" name="Объект 5"/>
          <p:cNvPicPr>
            <a:picLocks noChangeAspect="1" noGrp="1"/>
          </p:cNvPicPr>
          <p:nvPr>
            <p:ph idx="1"/>
          </p:nvPr>
        </p:nvPicPr>
        <p:blipFill>
          <a:blip r:embed="rId2"/>
          <a:stretch/>
        </p:blipFill>
        <p:spPr bwMode="auto">
          <a:xfrm>
            <a:off x="1933303" y="775731"/>
            <a:ext cx="6152606" cy="59145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41863" y="300445"/>
            <a:ext cx="9662749" cy="646332"/>
          </a:xfrm>
        </p:spPr>
        <p:txBody>
          <a:bodyPr>
            <a:normAutofit fontScale="90000"/>
          </a:bodyPr>
          <a:lstStyle/>
          <a:p>
            <a:pPr algn="ctr">
              <a:defRPr/>
            </a:pPr>
            <a:r>
              <a:rPr lang="en-US" sz="3200" b="1">
                <a:solidFill>
                  <a:srgbClr val="222222"/>
                </a:solidFill>
                <a:latin typeface="Times New Roman"/>
                <a:cs typeface="Arial"/>
              </a:rPr>
              <a:t>WSDL</a:t>
            </a:r>
            <a:r>
              <a:rPr lang="ru-RU" sz="3200" b="1">
                <a:solidFill>
                  <a:srgbClr val="222222"/>
                </a:solidFill>
                <a:latin typeface="Times New Roman"/>
                <a:cs typeface="Arial"/>
              </a:rPr>
              <a:t>-файл</a:t>
            </a:r>
            <a:br>
              <a:rPr lang="ru-RU" sz="3200" b="1">
                <a:solidFill>
                  <a:srgbClr val="222222"/>
                </a:solidFill>
                <a:latin typeface="Times New Roman"/>
                <a:cs typeface="Arial"/>
              </a:rPr>
            </a:br>
            <a:endParaRPr lang="ru-RU" sz="3200" b="1">
              <a:solidFill>
                <a:srgbClr val="222222"/>
              </a:solidFill>
              <a:latin typeface="Times New Roman"/>
              <a:cs typeface="Arial"/>
            </a:endParaRPr>
          </a:p>
        </p:txBody>
      </p:sp>
      <p:sp>
        <p:nvSpPr>
          <p:cNvPr id="4" name="Объект 3"/>
          <p:cNvSpPr>
            <a:spLocks noGrp="1"/>
          </p:cNvSpPr>
          <p:nvPr>
            <p:ph idx="1"/>
          </p:nvPr>
        </p:nvSpPr>
        <p:spPr bwMode="auto">
          <a:xfrm>
            <a:off x="1750423" y="946778"/>
            <a:ext cx="9966960" cy="5610776"/>
          </a:xfrm>
        </p:spPr>
        <p:txBody>
          <a:bodyPr>
            <a:noAutofit/>
          </a:bodyPr>
          <a:lstStyle/>
          <a:p>
            <a:pPr marL="0" indent="0" algn="just">
              <a:buNone/>
              <a:defRPr/>
            </a:pPr>
            <a:r>
              <a:rPr lang="ru-RU" sz="2200" b="1" i="0">
                <a:solidFill>
                  <a:srgbClr val="D90000"/>
                </a:solidFill>
                <a:latin typeface="Times New Roman"/>
                <a:cs typeface="Times New Roman"/>
              </a:rPr>
              <a:t>Operation </a:t>
            </a:r>
            <a:r>
              <a:rPr lang="ru-RU" sz="2200" b="0" i="0">
                <a:solidFill>
                  <a:srgbClr val="000000"/>
                </a:solidFill>
                <a:latin typeface="Times New Roman"/>
                <a:cs typeface="Times New Roman"/>
              </a:rPr>
              <a:t>— это тег, который описывает функции. То есть он указывает на имя функции и то, как должен выглядеть запрос и ответ.</a:t>
            </a:r>
            <a:endParaRPr/>
          </a:p>
          <a:p>
            <a:pPr marL="0" indent="0" algn="just">
              <a:buNone/>
              <a:defRPr/>
            </a:pPr>
            <a:br>
              <a:rPr lang="ru-RU" sz="2200">
                <a:latin typeface="Times New Roman"/>
                <a:cs typeface="Times New Roman"/>
              </a:rPr>
            </a:br>
            <a:r>
              <a:rPr lang="ru-RU" sz="2200">
                <a:solidFill>
                  <a:srgbClr val="000000"/>
                </a:solidFill>
                <a:latin typeface="Times New Roman"/>
                <a:cs typeface="Times New Roman"/>
              </a:rPr>
              <a:t>Вложенные в operation теги input и output содержат информацию о входных и выходных параметрах функции. То есть </a:t>
            </a:r>
            <a:r>
              <a:rPr lang="ru-RU" sz="2200" b="0" i="0">
                <a:solidFill>
                  <a:srgbClr val="16A700"/>
                </a:solidFill>
                <a:latin typeface="Times New Roman"/>
                <a:cs typeface="Times New Roman"/>
              </a:rPr>
              <a:t>getQuoteRequest</a:t>
            </a:r>
            <a:r>
              <a:rPr lang="ru-RU" sz="2200" b="0" i="0">
                <a:solidFill>
                  <a:srgbClr val="000000"/>
                </a:solidFill>
                <a:latin typeface="Times New Roman"/>
                <a:cs typeface="Times New Roman"/>
              </a:rPr>
              <a:t> — это запрос, который представляет собой строку и должен иметь вид числа с плавающей точкой.</a:t>
            </a:r>
            <a:br>
              <a:rPr lang="ru-RU" sz="2200">
                <a:latin typeface="Times New Roman"/>
                <a:cs typeface="Times New Roman"/>
              </a:rPr>
            </a:br>
            <a:br>
              <a:rPr lang="ru-RU" sz="2200">
                <a:latin typeface="Times New Roman"/>
                <a:cs typeface="Times New Roman"/>
              </a:rPr>
            </a:br>
            <a:r>
              <a:rPr lang="ru-RU" sz="2200" b="0" i="0">
                <a:solidFill>
                  <a:srgbClr val="000000"/>
                </a:solidFill>
                <a:latin typeface="Times New Roman"/>
                <a:cs typeface="Times New Roman"/>
              </a:rPr>
              <a:t>Тег </a:t>
            </a:r>
            <a:r>
              <a:rPr lang="ru-RU" sz="2200" b="1" i="0">
                <a:solidFill>
                  <a:srgbClr val="000000"/>
                </a:solidFill>
                <a:latin typeface="Times New Roman"/>
                <a:cs typeface="Times New Roman"/>
              </a:rPr>
              <a:t>binding </a:t>
            </a:r>
            <a:r>
              <a:rPr lang="ru-RU" sz="2200" b="0" i="0">
                <a:solidFill>
                  <a:srgbClr val="000000"/>
                </a:solidFill>
                <a:latin typeface="Times New Roman"/>
                <a:cs typeface="Times New Roman"/>
              </a:rPr>
              <a:t>описывает все технические сведения, о том, что из себя представляет сервис.</a:t>
            </a:r>
            <a:endParaRPr/>
          </a:p>
          <a:p>
            <a:pPr marL="0" indent="0" algn="just">
              <a:buNone/>
              <a:defRPr/>
            </a:pPr>
            <a:br>
              <a:rPr lang="ru-RU" sz="2200">
                <a:latin typeface="Times New Roman"/>
                <a:cs typeface="Times New Roman"/>
              </a:rPr>
            </a:br>
            <a:r>
              <a:rPr lang="ru-RU" sz="2200" b="0" i="0">
                <a:solidFill>
                  <a:srgbClr val="000000"/>
                </a:solidFill>
                <a:latin typeface="Times New Roman"/>
                <a:cs typeface="Times New Roman"/>
              </a:rPr>
              <a:t>Тег </a:t>
            </a:r>
            <a:r>
              <a:rPr lang="ru-RU" sz="2200" b="1" i="0">
                <a:solidFill>
                  <a:srgbClr val="000000"/>
                </a:solidFill>
                <a:latin typeface="Times New Roman"/>
                <a:cs typeface="Times New Roman"/>
              </a:rPr>
              <a:t>service</a:t>
            </a:r>
            <a:r>
              <a:rPr lang="ru-RU" sz="2200" b="0" i="0">
                <a:solidFill>
                  <a:srgbClr val="000000"/>
                </a:solidFill>
                <a:latin typeface="Times New Roman"/>
                <a:cs typeface="Times New Roman"/>
              </a:rPr>
              <a:t> описывает, где живёт наш сервис. Если бы мы установили веб-сервисом на локальной машине, то адрес написали бы следующим образом: </a:t>
            </a:r>
            <a:r>
              <a:rPr lang="ru-RU" sz="2200" b="0" i="0" u="sng" strike="noStrike">
                <a:solidFill>
                  <a:srgbClr val="4649D3"/>
                </a:solidFill>
                <a:latin typeface="Times New Roman"/>
                <a:cs typeface="Times New Roman"/>
                <a:hlinkClick r:id="rId2" tooltip="http://localhost/server1"/>
              </a:rPr>
              <a:t>localhost</a:t>
            </a:r>
            <a:r>
              <a:rPr lang="ru-RU" sz="2200" b="0" i="0" u="sng" strike="noStrike">
                <a:solidFill>
                  <a:srgbClr val="4649D3"/>
                </a:solidFill>
                <a:latin typeface="Times New Roman"/>
                <a:cs typeface="Times New Roman"/>
                <a:hlinkClick r:id="rId2" tooltip="http://localhost/server1"/>
              </a:rPr>
              <a:t>/server1</a:t>
            </a:r>
            <a:r>
              <a:rPr lang="ru-RU" sz="2200" b="0" i="0">
                <a:solidFill>
                  <a:srgbClr val="000000"/>
                </a:solidFill>
                <a:latin typeface="Times New Roman"/>
                <a:cs typeface="Times New Roman"/>
              </a:rPr>
              <a:t>. </a:t>
            </a:r>
            <a:r>
              <a:rPr lang="ru-RU" sz="2200" b="0" i="0">
                <a:solidFill>
                  <a:srgbClr val="000000"/>
                </a:solidFill>
                <a:latin typeface="Times New Roman"/>
                <a:cs typeface="Times New Roman"/>
              </a:rPr>
              <a:t>php</a:t>
            </a:r>
            <a:r>
              <a:rPr lang="ru-RU" sz="2200" b="0" i="0">
                <a:solidFill>
                  <a:srgbClr val="000000"/>
                </a:solidFill>
                <a:latin typeface="Times New Roman"/>
                <a:cs typeface="Times New Roman"/>
              </a:rPr>
              <a:t>/.</a:t>
            </a:r>
            <a:endParaRPr lang="ru-RU" sz="2200">
              <a:latin typeface="Times New Roman"/>
              <a:cs typeface="Times New Roman"/>
            </a:endParaRPr>
          </a:p>
        </p:txBody>
      </p:sp>
      <p:sp>
        <p:nvSpPr>
          <p:cNvPr id="7" name="TextBox 6"/>
          <p:cNvSpPr txBox="1"/>
          <p:nvPr/>
        </p:nvSpPr>
        <p:spPr bwMode="auto">
          <a:xfrm>
            <a:off x="6673237" y="6120228"/>
            <a:ext cx="5140236" cy="646331"/>
          </a:xfrm>
          <a:prstGeom prst="rect">
            <a:avLst/>
          </a:prstGeom>
          <a:noFill/>
        </p:spPr>
        <p:txBody>
          <a:bodyPr wrap="square">
            <a:spAutoFit/>
          </a:bodyPr>
          <a:lstStyle/>
          <a:p>
            <a:pPr algn="r">
              <a:defRPr/>
            </a:pPr>
            <a:r>
              <a:rPr lang="ru-RU" u="sng">
                <a:hlinkClick r:id="rId3" tooltip="https://systems.education/soap-integration"/>
              </a:rPr>
              <a:t>https://systems.education/soap-integration</a:t>
            </a:r>
            <a:endParaRPr lang="en-US"/>
          </a:p>
          <a:p>
            <a:pPr algn="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248194"/>
            <a:ext cx="9966959" cy="561703"/>
          </a:xfrm>
        </p:spPr>
        <p:txBody>
          <a:bodyPr>
            <a:normAutofit fontScale="90000"/>
          </a:bodyPr>
          <a:lstStyle/>
          <a:p>
            <a:pPr algn="ctr">
              <a:defRPr/>
            </a:pPr>
            <a:r>
              <a:rPr lang="ru-RU" sz="2900" b="1">
                <a:solidFill>
                  <a:srgbClr val="222222"/>
                </a:solidFill>
                <a:latin typeface="Times New Roman"/>
                <a:cs typeface="Arial"/>
              </a:rPr>
              <a:t>Спецификация </a:t>
            </a:r>
            <a:r>
              <a:rPr lang="en-US" sz="2900" b="1">
                <a:solidFill>
                  <a:srgbClr val="222222"/>
                </a:solidFill>
                <a:latin typeface="Times New Roman"/>
                <a:cs typeface="Arial"/>
              </a:rPr>
              <a:t>API</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645920" y="809897"/>
            <a:ext cx="10175966" cy="5917474"/>
          </a:xfrm>
        </p:spPr>
        <p:txBody>
          <a:bodyPr>
            <a:normAutofit lnSpcReduction="10000"/>
          </a:bodyPr>
          <a:lstStyle/>
          <a:p>
            <a:pPr algn="just">
              <a:defRPr/>
            </a:pPr>
            <a:r>
              <a:rPr lang="ru-RU" sz="2200" b="1">
                <a:solidFill>
                  <a:srgbClr val="000000"/>
                </a:solidFill>
                <a:latin typeface="Times New Roman"/>
                <a:cs typeface="Times New Roman"/>
              </a:rPr>
              <a:t>Спецификация API </a:t>
            </a:r>
            <a:r>
              <a:rPr lang="ru-RU" sz="2200">
                <a:solidFill>
                  <a:srgbClr val="000000"/>
                </a:solidFill>
                <a:latin typeface="Times New Roman"/>
                <a:cs typeface="Times New Roman"/>
              </a:rPr>
              <a:t>или спецификация интерфейса прикладного программирования — это структурированный документ, который определяет схему проектирования, создания и взаимодействия с программными API. </a:t>
            </a:r>
            <a:endParaRPr/>
          </a:p>
          <a:p>
            <a:pPr marL="0" indent="0" algn="just">
              <a:buNone/>
              <a:defRPr/>
            </a:pPr>
            <a:r>
              <a:rPr lang="ru-RU" sz="2200">
                <a:solidFill>
                  <a:srgbClr val="000000"/>
                </a:solidFill>
                <a:latin typeface="Times New Roman"/>
                <a:cs typeface="Times New Roman"/>
              </a:rPr>
              <a:t>Он служит всеобъемлющим руководством для разработчиков, в котором излагаются правила и соглашения, которых разработчики API должны придерживаться при разработке своих интерфейсов. Это обеспечивает согласованность, совместимость и беспрепятственный обмен данными между различными программными приложениями и компонентами системы.</a:t>
            </a:r>
            <a:endParaRPr/>
          </a:p>
          <a:p>
            <a:pPr marL="0" indent="0" algn="just">
              <a:buNone/>
              <a:defRPr/>
            </a:pPr>
            <a:r>
              <a:rPr lang="ru-RU" sz="2200">
                <a:solidFill>
                  <a:srgbClr val="000000"/>
                </a:solidFill>
                <a:latin typeface="Times New Roman"/>
                <a:cs typeface="Times New Roman"/>
              </a:rPr>
              <a:t>Создание чётко определенных спецификаций API имеет важное значение для создания высококачественных, надёжных и масштабируемых приложений. Например, </a:t>
            </a:r>
            <a:r>
              <a:rPr lang="ru-RU" sz="2200">
                <a:solidFill>
                  <a:srgbClr val="000000"/>
                </a:solidFill>
                <a:latin typeface="Times New Roman"/>
                <a:cs typeface="Times New Roman"/>
              </a:rPr>
              <a:t>AppMaster</a:t>
            </a:r>
            <a:r>
              <a:rPr lang="ru-RU" sz="2200">
                <a:solidFill>
                  <a:srgbClr val="000000"/>
                </a:solidFill>
                <a:latin typeface="Times New Roman"/>
                <a:cs typeface="Times New Roman"/>
              </a:rPr>
              <a:t> — это мощная платформа </a:t>
            </a:r>
            <a:r>
              <a:rPr lang="ru-RU" sz="2200">
                <a:solidFill>
                  <a:srgbClr val="000000"/>
                </a:solidFill>
                <a:latin typeface="Times New Roman"/>
                <a:cs typeface="Times New Roman"/>
              </a:rPr>
              <a:t>no</a:t>
            </a:r>
            <a:r>
              <a:rPr lang="ru-RU" sz="2200">
                <a:solidFill>
                  <a:srgbClr val="000000"/>
                </a:solidFill>
                <a:latin typeface="Times New Roman"/>
                <a:cs typeface="Times New Roman"/>
              </a:rPr>
              <a:t>-code, которая позволяет клиентам создавать серверные, веб- и мобильные приложения, используя визуально созданные модели данных, бизнес-процессы, а также </a:t>
            </a:r>
            <a:r>
              <a:rPr lang="ru-RU" sz="2200">
                <a:solidFill>
                  <a:srgbClr val="000000"/>
                </a:solidFill>
                <a:latin typeface="Times New Roman"/>
                <a:cs typeface="Times New Roman"/>
              </a:rPr>
              <a:t>endpoints</a:t>
            </a:r>
            <a:r>
              <a:rPr lang="ru-RU" sz="2200">
                <a:solidFill>
                  <a:srgbClr val="000000"/>
                </a:solidFill>
                <a:latin typeface="Times New Roman"/>
                <a:cs typeface="Times New Roman"/>
              </a:rPr>
              <a:t> REST API и WSS. </a:t>
            </a:r>
            <a:r>
              <a:rPr lang="ru-RU" sz="2200">
                <a:solidFill>
                  <a:srgbClr val="000000"/>
                </a:solidFill>
                <a:latin typeface="Times New Roman"/>
                <a:cs typeface="Times New Roman"/>
              </a:rPr>
              <a:t>AppMaster</a:t>
            </a:r>
            <a:r>
              <a:rPr lang="ru-RU" sz="2200">
                <a:solidFill>
                  <a:srgbClr val="000000"/>
                </a:solidFill>
                <a:latin typeface="Times New Roman"/>
                <a:cs typeface="Times New Roman"/>
              </a:rPr>
              <a:t> автоматически генерирует документацию </a:t>
            </a:r>
            <a:r>
              <a:rPr lang="ru-RU" sz="2200">
                <a:solidFill>
                  <a:srgbClr val="000000"/>
                </a:solidFill>
                <a:latin typeface="Times New Roman"/>
                <a:cs typeface="Times New Roman"/>
              </a:rPr>
              <a:t>OpenAPI</a:t>
            </a:r>
            <a:r>
              <a:rPr lang="ru-RU" sz="2200">
                <a:solidFill>
                  <a:srgbClr val="000000"/>
                </a:solidFill>
                <a:latin typeface="Times New Roman"/>
                <a:cs typeface="Times New Roman"/>
              </a:rPr>
              <a:t> (ранее известную как Swagger) для </a:t>
            </a:r>
            <a:r>
              <a:rPr lang="ru-RU" sz="2200">
                <a:solidFill>
                  <a:srgbClr val="000000"/>
                </a:solidFill>
                <a:latin typeface="Times New Roman"/>
                <a:cs typeface="Times New Roman"/>
              </a:rPr>
              <a:t>endpoints</a:t>
            </a:r>
            <a:r>
              <a:rPr lang="ru-RU" sz="2200">
                <a:solidFill>
                  <a:srgbClr val="000000"/>
                </a:solidFill>
                <a:latin typeface="Times New Roman"/>
                <a:cs typeface="Times New Roman"/>
              </a:rPr>
              <a:t> сервера для каждого проекта, что упрощает разработчикам понимание API, предоставляемых платформой, и работу с ними.</a:t>
            </a:r>
            <a:endParaRPr/>
          </a:p>
          <a:p>
            <a:pPr marL="0" indent="0" algn="r">
              <a:buNone/>
              <a:defRPr/>
            </a:pPr>
            <a:r>
              <a:rPr lang="en-US" sz="2000" u="sng">
                <a:solidFill>
                  <a:srgbClr val="000000"/>
                </a:solidFill>
                <a:latin typeface="Times New Roman"/>
                <a:cs typeface="Times New Roman"/>
                <a:hlinkClick r:id="rId2" tooltip="https://appmaster.io/ru/glossary/spetsifikatsiia-api"/>
              </a:rPr>
              <a:t>https://appmaster.io/ru/glossary/spetsifikatsiia-api</a:t>
            </a:r>
            <a:endParaRPr lang="ru-RU" sz="2000">
              <a:solidFill>
                <a:srgbClr val="000000"/>
              </a:solidFill>
              <a:latin typeface="Times New Roman"/>
              <a:cs typeface="Times New Roman"/>
            </a:endParaRPr>
          </a:p>
          <a:p>
            <a:pPr marL="0" indent="0" algn="just">
              <a:buNone/>
              <a:defRPr/>
            </a:pPr>
            <a:endParaRPr lang="ru-RU" sz="22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30630"/>
            <a:ext cx="9966959" cy="522513"/>
          </a:xfrm>
        </p:spPr>
        <p:txBody>
          <a:bodyPr>
            <a:normAutofit fontScale="90000"/>
          </a:bodyPr>
          <a:lstStyle/>
          <a:p>
            <a:pPr algn="ctr">
              <a:defRPr/>
            </a:pPr>
            <a:r>
              <a:rPr lang="ru-RU" sz="2900" b="1">
                <a:solidFill>
                  <a:srgbClr val="222222"/>
                </a:solidFill>
                <a:latin typeface="Times New Roman"/>
                <a:cs typeface="Arial"/>
              </a:rPr>
              <a:t>Компоненты спецификации </a:t>
            </a:r>
            <a:r>
              <a:rPr lang="en-US" sz="2900" b="1">
                <a:solidFill>
                  <a:srgbClr val="222222"/>
                </a:solidFill>
                <a:latin typeface="Times New Roman"/>
                <a:cs typeface="Arial"/>
              </a:rPr>
              <a:t>API</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02229" y="653143"/>
            <a:ext cx="10476411" cy="5956663"/>
          </a:xfrm>
        </p:spPr>
        <p:txBody>
          <a:bodyPr>
            <a:noAutofit/>
          </a:bodyPr>
          <a:lstStyle/>
          <a:p>
            <a:pPr marL="0" indent="0" algn="just">
              <a:buNone/>
              <a:defRPr/>
            </a:pPr>
            <a:r>
              <a:rPr lang="ru-RU" sz="1500" b="1" i="0">
                <a:solidFill>
                  <a:schemeClr val="tx1"/>
                </a:solidFill>
                <a:latin typeface="Times New Roman"/>
                <a:cs typeface="Times New Roman"/>
              </a:rPr>
              <a:t>1) Описание API</a:t>
            </a:r>
            <a:r>
              <a:rPr lang="ru-RU" sz="1500" b="0" i="0">
                <a:solidFill>
                  <a:schemeClr val="tx1"/>
                </a:solidFill>
                <a:latin typeface="Times New Roman"/>
                <a:cs typeface="Times New Roman"/>
              </a:rPr>
              <a:t>. В этом разделе описывается общая цель API, его ожидаемое поведение, а также любые критические функции или ограничения. Он также может включать примеры вариантов использования, иллюстрирующие реализацию API в реальных сценариях.</a:t>
            </a:r>
            <a:endParaRPr/>
          </a:p>
          <a:p>
            <a:pPr marL="0" indent="0" algn="just">
              <a:buNone/>
              <a:defRPr/>
            </a:pPr>
            <a:r>
              <a:rPr lang="ru-RU" sz="1500" b="1" i="0">
                <a:solidFill>
                  <a:schemeClr val="tx1"/>
                </a:solidFill>
                <a:latin typeface="Times New Roman"/>
                <a:cs typeface="Times New Roman"/>
              </a:rPr>
              <a:t>2) Конечные точки и операции</a:t>
            </a:r>
            <a:r>
              <a:rPr lang="ru-RU" sz="1500" b="0" i="0">
                <a:solidFill>
                  <a:schemeClr val="tx1"/>
                </a:solidFill>
                <a:latin typeface="Times New Roman"/>
                <a:cs typeface="Times New Roman"/>
              </a:rPr>
              <a:t>. Здесь в спецификации API описаны различные </a:t>
            </a:r>
            <a:r>
              <a:rPr lang="ru-RU" sz="1500" b="0" i="0">
                <a:solidFill>
                  <a:schemeClr val="tx1"/>
                </a:solidFill>
                <a:latin typeface="Times New Roman"/>
                <a:cs typeface="Times New Roman"/>
              </a:rPr>
              <a:t>endpoints</a:t>
            </a:r>
            <a:r>
              <a:rPr lang="ru-RU" sz="1500" b="0" i="0">
                <a:solidFill>
                  <a:schemeClr val="tx1"/>
                </a:solidFill>
                <a:latin typeface="Times New Roman"/>
                <a:cs typeface="Times New Roman"/>
              </a:rPr>
              <a:t> и связанные с ними методы HTTP (например, GET, POST, PUT, DELETE). Каждая </a:t>
            </a:r>
            <a:r>
              <a:rPr lang="ru-RU" sz="1500" b="0" i="0">
                <a:solidFill>
                  <a:schemeClr val="tx1"/>
                </a:solidFill>
                <a:latin typeface="Times New Roman"/>
                <a:cs typeface="Times New Roman"/>
              </a:rPr>
              <a:t>endpoint</a:t>
            </a:r>
            <a:r>
              <a:rPr lang="ru-RU" sz="1500" b="0" i="0">
                <a:solidFill>
                  <a:schemeClr val="tx1"/>
                </a:solidFill>
                <a:latin typeface="Times New Roman"/>
                <a:cs typeface="Times New Roman"/>
              </a:rPr>
              <a:t> обычно имеет описание, ожидаемые входные параметры и ожидаемый выходной формат. Эта информация помогает разработчикам эффективно и результативно взаимодействовать с API.</a:t>
            </a:r>
            <a:endParaRPr/>
          </a:p>
          <a:p>
            <a:pPr marL="0" indent="0" algn="just">
              <a:buNone/>
              <a:defRPr/>
            </a:pPr>
            <a:r>
              <a:rPr lang="ru-RU" sz="1500" b="1" i="0">
                <a:solidFill>
                  <a:schemeClr val="tx1"/>
                </a:solidFill>
                <a:latin typeface="Times New Roman"/>
                <a:cs typeface="Times New Roman"/>
              </a:rPr>
              <a:t>3) Форматы данных запроса и ответа</a:t>
            </a:r>
            <a:r>
              <a:rPr lang="ru-RU" sz="1500" b="0" i="0">
                <a:solidFill>
                  <a:schemeClr val="tx1"/>
                </a:solidFill>
                <a:latin typeface="Times New Roman"/>
                <a:cs typeface="Times New Roman"/>
              </a:rPr>
              <a:t>. Спецификация API должна определять формат, в котором данные будут отправляться и получаться, включая типы данных, ограничения и общие представления. Примеры форматов данных включают JSON, XML и протокольные буферы. Предоставление чёткого формата данных гарантирует, что разработчики будут знать об ожидаемых входных и выходных данных при взаимодействии с API, что снижает риск несовместимости и способствует эффективному обмену данными.</a:t>
            </a:r>
            <a:endParaRPr/>
          </a:p>
          <a:p>
            <a:pPr marL="0" indent="0" algn="just">
              <a:buNone/>
              <a:defRPr/>
            </a:pPr>
            <a:r>
              <a:rPr lang="ru-RU" sz="1500" b="1" i="0">
                <a:solidFill>
                  <a:schemeClr val="tx1"/>
                </a:solidFill>
                <a:latin typeface="Times New Roman"/>
                <a:cs typeface="Times New Roman"/>
              </a:rPr>
              <a:t>4) Аутентификация и авторизация</a:t>
            </a:r>
            <a:r>
              <a:rPr lang="ru-RU" sz="1500" b="0" i="0">
                <a:solidFill>
                  <a:schemeClr val="tx1"/>
                </a:solidFill>
                <a:latin typeface="Times New Roman"/>
                <a:cs typeface="Times New Roman"/>
              </a:rPr>
              <a:t>. API часто требуют безопасных механизмов аутентификации и авторизации для защиты доступа к конфиденциальным данным и ресурсам. В спецификации API будут описаны поддерживаемые механизмы аутентификации (например, ключи API, </a:t>
            </a:r>
            <a:r>
              <a:rPr lang="ru-RU" sz="1500" b="0" i="0">
                <a:solidFill>
                  <a:schemeClr val="tx1"/>
                </a:solidFill>
                <a:latin typeface="Times New Roman"/>
                <a:cs typeface="Times New Roman"/>
              </a:rPr>
              <a:t>OAuth</a:t>
            </a:r>
            <a:r>
              <a:rPr lang="ru-RU" sz="1500" b="0" i="0">
                <a:solidFill>
                  <a:schemeClr val="tx1"/>
                </a:solidFill>
                <a:latin typeface="Times New Roman"/>
                <a:cs typeface="Times New Roman"/>
              </a:rPr>
              <a:t> или JWT), а также приведены пошаговые инструкции по реализации этих методов в клиентском приложении.</a:t>
            </a:r>
            <a:endParaRPr/>
          </a:p>
          <a:p>
            <a:pPr marL="0" indent="0" algn="just">
              <a:buNone/>
              <a:defRPr/>
            </a:pPr>
            <a:r>
              <a:rPr lang="ru-RU" sz="1500" b="1" i="0">
                <a:solidFill>
                  <a:schemeClr val="tx1"/>
                </a:solidFill>
                <a:latin typeface="Times New Roman"/>
                <a:cs typeface="Times New Roman"/>
              </a:rPr>
              <a:t>5) Обработка ошибок и коды состояния</a:t>
            </a:r>
            <a:r>
              <a:rPr lang="ru-RU" sz="1500" b="0" i="0">
                <a:solidFill>
                  <a:schemeClr val="tx1"/>
                </a:solidFill>
                <a:latin typeface="Times New Roman"/>
                <a:cs typeface="Times New Roman"/>
              </a:rPr>
              <a:t>. Спецификация API должна предоставлять информацию об ожидаемых ошибках и соответствующих им кодах состояния. Это гарантирует, что разработчики смогут точно интерпретировать и обрабатывать ошибки во время интеграции API, что в конечном итоге приводит к созданию более отказоустойчивого приложения.</a:t>
            </a:r>
            <a:endParaRPr/>
          </a:p>
          <a:p>
            <a:pPr marL="0" indent="0" algn="just">
              <a:buNone/>
              <a:defRPr/>
            </a:pPr>
            <a:r>
              <a:rPr lang="ru-RU" sz="1500" b="1" i="0">
                <a:solidFill>
                  <a:schemeClr val="tx1"/>
                </a:solidFill>
                <a:latin typeface="Times New Roman"/>
                <a:cs typeface="Times New Roman"/>
              </a:rPr>
              <a:t>6) Ограничение и регулирование скорости</a:t>
            </a:r>
            <a:r>
              <a:rPr lang="ru-RU" sz="1500" b="0" i="0">
                <a:solidFill>
                  <a:schemeClr val="tx1"/>
                </a:solidFill>
                <a:latin typeface="Times New Roman"/>
                <a:cs typeface="Times New Roman"/>
              </a:rPr>
              <a:t>. Спецификация API может включать подробную информацию об ограничении скорости, которое используется для ограничения количества запросов, которые клиент может сделать к API в течение определённого периода времени. Это помогает защитить ресурсы API от неправильного использования и обеспечивает справедливое использование несколькими клиентами.</a:t>
            </a:r>
            <a:endParaRPr/>
          </a:p>
          <a:p>
            <a:pPr marL="0" indent="0" algn="just">
              <a:buNone/>
              <a:defRPr/>
            </a:pPr>
            <a:endParaRPr lang="ru-RU" sz="1500">
              <a:solidFill>
                <a:schemeClr val="tx1"/>
              </a:solidFill>
              <a:latin typeface="Times New Roman"/>
              <a:cs typeface="Times New Roman"/>
            </a:endParaRPr>
          </a:p>
          <a:p>
            <a:pPr marL="0" indent="0" algn="just">
              <a:buNone/>
              <a:defRPr/>
            </a:pPr>
            <a:endParaRPr lang="ru-RU" sz="1500">
              <a:solidFill>
                <a:schemeClr val="tx1"/>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30630"/>
            <a:ext cx="9966959" cy="522513"/>
          </a:xfrm>
        </p:spPr>
        <p:txBody>
          <a:bodyPr>
            <a:normAutofit fontScale="90000"/>
          </a:bodyPr>
          <a:lstStyle/>
          <a:p>
            <a:pPr algn="ctr">
              <a:defRPr/>
            </a:pPr>
            <a:r>
              <a:rPr lang="en-US" sz="2900" b="1">
                <a:solidFill>
                  <a:srgbClr val="222222"/>
                </a:solidFill>
                <a:latin typeface="Times New Roman"/>
                <a:cs typeface="Arial"/>
              </a:rPr>
              <a:t>Swagger</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02229" y="653143"/>
            <a:ext cx="10476411" cy="5956663"/>
          </a:xfrm>
        </p:spPr>
        <p:txBody>
          <a:bodyPr>
            <a:noAutofit/>
          </a:bodyPr>
          <a:lstStyle/>
          <a:p>
            <a:pPr marL="0" indent="0" algn="just">
              <a:buNone/>
              <a:defRPr/>
            </a:pPr>
            <a:endParaRPr lang="ru-RU" sz="1500">
              <a:solidFill>
                <a:schemeClr val="tx1"/>
              </a:solidFill>
              <a:latin typeface="Times New Roman"/>
              <a:cs typeface="Times New Roman"/>
            </a:endParaRPr>
          </a:p>
          <a:p>
            <a:pPr marL="0" indent="0" algn="just">
              <a:buNone/>
              <a:defRPr/>
            </a:pPr>
            <a:r>
              <a:rPr lang="ru-RU" sz="2200" b="1">
                <a:solidFill>
                  <a:srgbClr val="000000"/>
                </a:solidFill>
                <a:latin typeface="Times New Roman"/>
                <a:cs typeface="Times New Roman"/>
              </a:rPr>
              <a:t>Swagger</a:t>
            </a:r>
            <a:r>
              <a:rPr lang="en-US" sz="2200" b="1">
                <a:solidFill>
                  <a:srgbClr val="000000"/>
                </a:solidFill>
                <a:latin typeface="Times New Roman"/>
                <a:cs typeface="Times New Roman"/>
              </a:rPr>
              <a:t> (</a:t>
            </a:r>
            <a:r>
              <a:rPr lang="ru-RU" sz="2400">
                <a:solidFill>
                  <a:srgbClr val="181818"/>
                </a:solidFill>
                <a:latin typeface="HeliosExtC"/>
                <a:cs typeface="Times New Roman"/>
              </a:rPr>
              <a:t>а</a:t>
            </a:r>
            <a:r>
              <a:rPr lang="ru-RU" sz="2400" b="0" i="0">
                <a:solidFill>
                  <a:srgbClr val="181818"/>
                </a:solidFill>
                <a:latin typeface="HeliosExtC"/>
              </a:rPr>
              <a:t>льтернативное название </a:t>
            </a:r>
            <a:r>
              <a:rPr lang="en-US" sz="2400" b="0" i="0">
                <a:solidFill>
                  <a:srgbClr val="181818"/>
                </a:solidFill>
                <a:latin typeface="HeliosExtC"/>
              </a:rPr>
              <a:t>OpenAPI</a:t>
            </a:r>
            <a:r>
              <a:rPr lang="ru-RU" sz="2400" b="0" i="0">
                <a:solidFill>
                  <a:srgbClr val="181818"/>
                </a:solidFill>
                <a:latin typeface="HeliosExtC"/>
              </a:rPr>
              <a:t> 3.0</a:t>
            </a:r>
            <a:r>
              <a:rPr lang="en-US" sz="2200" b="1">
                <a:solidFill>
                  <a:srgbClr val="000000"/>
                </a:solidFill>
                <a:latin typeface="Times New Roman"/>
                <a:cs typeface="Times New Roman"/>
              </a:rPr>
              <a:t>)</a:t>
            </a:r>
            <a:r>
              <a:rPr lang="ru-RU" sz="2200">
                <a:solidFill>
                  <a:srgbClr val="000000"/>
                </a:solidFill>
                <a:latin typeface="Times New Roman"/>
                <a:cs typeface="Times New Roman"/>
              </a:rPr>
              <a:t> — это набор инструментов, который позволяет автоматически описывать API на основе его кода. </a:t>
            </a:r>
            <a:r>
              <a:rPr lang="ru-RU" sz="2200" u="sng">
                <a:solidFill>
                  <a:srgbClr val="000000"/>
                </a:solidFill>
                <a:latin typeface="Times New Roman"/>
                <a:cs typeface="Times New Roman"/>
                <a:hlinkClick r:id="rId2" tooltip="https://blog.skillfactory.ru/glossary/api/"/>
              </a:rPr>
              <a:t>API</a:t>
            </a:r>
            <a:r>
              <a:rPr lang="ru-RU" sz="2200">
                <a:solidFill>
                  <a:srgbClr val="000000"/>
                </a:solidFill>
                <a:latin typeface="Times New Roman"/>
                <a:cs typeface="Times New Roman"/>
              </a:rPr>
              <a:t> — интерфейс для связи между разными программными продуктами, и у каждого проекта свой. Документация, автоматически созданная через Swagger, облегчает понимание API для компьютеров и людей.</a:t>
            </a:r>
            <a:endParaRPr/>
          </a:p>
          <a:p>
            <a:pPr marL="0" indent="0" algn="just">
              <a:buNone/>
              <a:defRPr/>
            </a:pPr>
            <a:endParaRPr lang="ru-RU" sz="2200">
              <a:solidFill>
                <a:srgbClr val="000000"/>
              </a:solidFill>
              <a:latin typeface="Times New Roman"/>
              <a:cs typeface="Times New Roman"/>
            </a:endParaRPr>
          </a:p>
          <a:p>
            <a:pPr marL="0" indent="0" algn="just">
              <a:buNone/>
              <a:defRPr/>
            </a:pPr>
            <a:r>
              <a:rPr lang="ru-RU" sz="2200">
                <a:solidFill>
                  <a:srgbClr val="000000"/>
                </a:solidFill>
                <a:latin typeface="Times New Roman"/>
                <a:cs typeface="Times New Roman"/>
              </a:rPr>
              <a:t>Разработчик описывает код с помощью формальных текстовых правил. Swagger «понимает» написанное и на его основе создает </a:t>
            </a:r>
            <a:r>
              <a:rPr lang="ru-RU" sz="2200">
                <a:solidFill>
                  <a:srgbClr val="000000"/>
                </a:solidFill>
                <a:latin typeface="Times New Roman"/>
                <a:cs typeface="Times New Roman"/>
              </a:rPr>
              <a:t>человекопонятную</a:t>
            </a:r>
            <a:r>
              <a:rPr lang="ru-RU" sz="2200">
                <a:solidFill>
                  <a:srgbClr val="000000"/>
                </a:solidFill>
                <a:latin typeface="Times New Roman"/>
                <a:cs typeface="Times New Roman"/>
              </a:rPr>
              <a:t> интерактивную документацию.</a:t>
            </a:r>
            <a:endParaRPr/>
          </a:p>
          <a:p>
            <a:pPr marL="0" indent="0" algn="just">
              <a:buNone/>
              <a:defRPr/>
            </a:pPr>
            <a:r>
              <a:rPr lang="ru-RU" sz="2200">
                <a:solidFill>
                  <a:srgbClr val="000000"/>
                </a:solidFill>
                <a:latin typeface="Times New Roman"/>
                <a:cs typeface="Times New Roman"/>
              </a:rPr>
              <a:t>В спецификации</a:t>
            </a:r>
            <a:r>
              <a:rPr lang="ru-RU" sz="2200" b="1">
                <a:solidFill>
                  <a:srgbClr val="000000"/>
                </a:solidFill>
                <a:latin typeface="Times New Roman"/>
                <a:cs typeface="Times New Roman"/>
              </a:rPr>
              <a:t> Swagger</a:t>
            </a:r>
            <a:r>
              <a:rPr lang="ru-RU" sz="2200">
                <a:solidFill>
                  <a:srgbClr val="000000"/>
                </a:solidFill>
                <a:latin typeface="Times New Roman"/>
                <a:cs typeface="Times New Roman"/>
              </a:rPr>
              <a:t> есть основные сущности, каждая из которых включает в себя более мелкие. С их помощью происходит описание документации. </a:t>
            </a:r>
            <a:endParaRPr lang="en-US" sz="2200">
              <a:solidFill>
                <a:srgbClr val="000000"/>
              </a:solidFill>
              <a:latin typeface="Times New Roman"/>
              <a:cs typeface="Times New Roman"/>
            </a:endParaRPr>
          </a:p>
          <a:p>
            <a:pPr marL="0" indent="0" algn="just">
              <a:buNone/>
              <a:defRPr/>
            </a:pPr>
            <a:endParaRPr lang="en-US" sz="2200">
              <a:solidFill>
                <a:srgbClr val="000000"/>
              </a:solidFill>
              <a:latin typeface="Times New Roman"/>
              <a:cs typeface="Times New Roman"/>
            </a:endParaRPr>
          </a:p>
          <a:p>
            <a:pPr marL="0" indent="0" algn="r">
              <a:buNone/>
              <a:defRPr/>
            </a:pPr>
            <a:r>
              <a:rPr lang="en-US" sz="2200" u="sng">
                <a:solidFill>
                  <a:srgbClr val="000000"/>
                </a:solidFill>
                <a:latin typeface="Times New Roman"/>
                <a:cs typeface="Times New Roman"/>
                <a:hlinkClick r:id="rId3" tooltip="https://blog.skillfactory.ru/glossary/swagger"/>
              </a:rPr>
              <a:t>https://blog.skillfactory.ru/glossary/swagger</a:t>
            </a:r>
            <a:endParaRPr lang="ru-RU" sz="2200">
              <a:solidFill>
                <a:srgbClr val="000000"/>
              </a:solidFill>
              <a:latin typeface="Times New Roman"/>
              <a:cs typeface="Times New Roman"/>
            </a:endParaRPr>
          </a:p>
          <a:p>
            <a:pPr marL="0" indent="0" algn="r">
              <a:buNone/>
              <a:defRPr/>
            </a:pPr>
            <a:r>
              <a:rPr lang="en-US" sz="2200" u="sng">
                <a:solidFill>
                  <a:srgbClr val="000000"/>
                </a:solidFill>
                <a:latin typeface="Times New Roman"/>
                <a:cs typeface="Times New Roman"/>
                <a:hlinkClick r:id="rId4" tooltip="https://habr.com/ru/articles/541592"/>
              </a:rPr>
              <a:t>https://habr.com/ru/articles/541592</a:t>
            </a:r>
            <a:endParaRPr lang="ru-RU" sz="2200">
              <a:solidFill>
                <a:srgbClr val="000000"/>
              </a:solidFill>
              <a:latin typeface="Times New Roman"/>
              <a:cs typeface="Times New Roman"/>
            </a:endParaRPr>
          </a:p>
          <a:p>
            <a:pPr marL="0" indent="0" algn="r">
              <a:buNone/>
              <a:defRPr/>
            </a:pPr>
            <a:endParaRPr lang="en-US" sz="2200">
              <a:solidFill>
                <a:srgbClr val="000000"/>
              </a:solidFill>
              <a:latin typeface="Times New Roman"/>
              <a:cs typeface="Times New Roman"/>
            </a:endParaRPr>
          </a:p>
          <a:p>
            <a:pPr marL="0" indent="0" algn="just">
              <a:buNone/>
              <a:defRPr/>
            </a:pPr>
            <a:endParaRPr lang="ru-RU" sz="22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30630"/>
            <a:ext cx="9966959" cy="522513"/>
          </a:xfrm>
        </p:spPr>
        <p:txBody>
          <a:bodyPr>
            <a:normAutofit fontScale="90000"/>
          </a:bodyPr>
          <a:lstStyle/>
          <a:p>
            <a:pPr algn="ctr">
              <a:defRPr/>
            </a:pPr>
            <a:r>
              <a:rPr lang="ru-RU" sz="2900" b="1">
                <a:solidFill>
                  <a:srgbClr val="222222"/>
                </a:solidFill>
                <a:latin typeface="Times New Roman"/>
                <a:cs typeface="Arial"/>
              </a:rPr>
              <a:t>Форматы данных JSON, XML </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02229" y="418007"/>
            <a:ext cx="10476411" cy="1005844"/>
          </a:xfrm>
        </p:spPr>
        <p:txBody>
          <a:bodyPr>
            <a:noAutofit/>
          </a:bodyPr>
          <a:lstStyle/>
          <a:p>
            <a:pPr marL="0" indent="0" algn="just">
              <a:buNone/>
              <a:defRPr/>
            </a:pPr>
            <a:endParaRPr lang="ru-RU" sz="1500">
              <a:solidFill>
                <a:schemeClr val="tx1"/>
              </a:solidFill>
              <a:latin typeface="Times New Roman"/>
              <a:cs typeface="Times New Roman"/>
            </a:endParaRPr>
          </a:p>
          <a:p>
            <a:pPr algn="just">
              <a:defRPr/>
            </a:pPr>
            <a:r>
              <a:rPr lang="ru-RU" sz="2200" b="1">
                <a:solidFill>
                  <a:srgbClr val="000000"/>
                </a:solidFill>
                <a:latin typeface="Times New Roman"/>
                <a:cs typeface="Times New Roman"/>
              </a:rPr>
              <a:t>JSON</a:t>
            </a:r>
            <a:r>
              <a:rPr lang="ru-RU" sz="2200">
                <a:solidFill>
                  <a:srgbClr val="000000"/>
                </a:solidFill>
                <a:latin typeface="Times New Roman"/>
                <a:cs typeface="Times New Roman"/>
              </a:rPr>
              <a:t> (JavaScript Object </a:t>
            </a:r>
            <a:r>
              <a:rPr lang="ru-RU" sz="2200">
                <a:solidFill>
                  <a:srgbClr val="000000"/>
                </a:solidFill>
                <a:latin typeface="Times New Roman"/>
                <a:cs typeface="Times New Roman"/>
              </a:rPr>
              <a:t>Notation</a:t>
            </a:r>
            <a:r>
              <a:rPr lang="ru-RU" sz="2200">
                <a:solidFill>
                  <a:srgbClr val="000000"/>
                </a:solidFill>
                <a:latin typeface="Times New Roman"/>
                <a:cs typeface="Times New Roman"/>
              </a:rPr>
              <a:t>) — это формат передачи данных, который используется при взаимодействии веб-сервера и браузера.</a:t>
            </a:r>
            <a:endParaRPr/>
          </a:p>
          <a:p>
            <a:pPr marL="0" indent="0" algn="r">
              <a:buNone/>
              <a:defRPr/>
            </a:pPr>
            <a:r>
              <a:rPr lang="en-US" sz="2200" u="sng">
                <a:solidFill>
                  <a:srgbClr val="000000"/>
                </a:solidFill>
                <a:latin typeface="Times New Roman"/>
                <a:cs typeface="Times New Roman"/>
                <a:hlinkClick r:id="rId2" tooltip="https://blog.skillfactory.ru/glossary/json"/>
              </a:rPr>
              <a:t>https://blog.skillfactory.ru/glossary/json</a:t>
            </a:r>
            <a:endParaRPr lang="ru-RU" sz="2200">
              <a:solidFill>
                <a:srgbClr val="000000"/>
              </a:solidFill>
              <a:latin typeface="Times New Roman"/>
              <a:cs typeface="Times New Roman"/>
            </a:endParaRPr>
          </a:p>
          <a:p>
            <a:pPr marL="0" indent="0" algn="just">
              <a:buNone/>
              <a:defRPr/>
            </a:pPr>
            <a:endParaRPr lang="ru-RU" sz="2200">
              <a:solidFill>
                <a:srgbClr val="000000"/>
              </a:solidFill>
              <a:latin typeface="Times New Roman"/>
              <a:cs typeface="Times New Roman"/>
            </a:endParaRPr>
          </a:p>
        </p:txBody>
      </p:sp>
      <p:sp>
        <p:nvSpPr>
          <p:cNvPr id="5" name="TextBox 4"/>
          <p:cNvSpPr txBox="1"/>
          <p:nvPr/>
        </p:nvSpPr>
        <p:spPr bwMode="auto">
          <a:xfrm>
            <a:off x="1502228" y="1625608"/>
            <a:ext cx="10476411" cy="5170646"/>
          </a:xfrm>
          <a:prstGeom prst="rect">
            <a:avLst/>
          </a:prstGeom>
          <a:noFill/>
        </p:spPr>
        <p:txBody>
          <a:bodyPr wrap="square">
            <a:spAutoFit/>
          </a:bodyPr>
          <a:lstStyle/>
          <a:p>
            <a:pPr marL="0" indent="0" algn="l">
              <a:buNone/>
              <a:defRPr/>
            </a:pPr>
            <a:r>
              <a:rPr lang="en-US" sz="1400" b="0" i="0">
                <a:solidFill>
                  <a:srgbClr val="333333"/>
                </a:solidFill>
                <a:latin typeface="Times New Roman"/>
                <a:cs typeface="Times New Roman"/>
              </a:rPr>
              <a:t>{</a:t>
            </a:r>
            <a:endParaRPr/>
          </a:p>
          <a:p>
            <a:pPr marL="0" indent="0" algn="l">
              <a:buNone/>
              <a:defRPr/>
            </a:pPr>
            <a:r>
              <a:rPr lang="en-US" sz="1400" b="0" i="0">
                <a:solidFill>
                  <a:srgbClr val="333333"/>
                </a:solidFill>
                <a:latin typeface="Times New Roman"/>
                <a:cs typeface="Times New Roman"/>
              </a:rPr>
              <a:t>  "store":{</a:t>
            </a:r>
            <a:endParaRPr/>
          </a:p>
          <a:p>
            <a:pPr marL="0" indent="0" algn="l">
              <a:buNone/>
              <a:defRPr/>
            </a:pPr>
            <a:r>
              <a:rPr lang="en-US" sz="1400" b="0" i="0">
                <a:solidFill>
                  <a:srgbClr val="333333"/>
                </a:solidFill>
                <a:latin typeface="Times New Roman"/>
                <a:cs typeface="Times New Roman"/>
              </a:rPr>
              <a:t>    "book":[</a:t>
            </a:r>
            <a:endParaRPr/>
          </a:p>
          <a:p>
            <a:pPr marL="0" indent="0" algn="l">
              <a:buNone/>
              <a:defRPr/>
            </a:pPr>
            <a:r>
              <a:rPr lang="en-US" sz="1400" b="0" i="0">
                <a:solidFill>
                  <a:srgbClr val="333333"/>
                </a:solidFill>
                <a:latin typeface="Times New Roman"/>
                <a:cs typeface="Times New Roman"/>
              </a:rPr>
              <a:t>      {</a:t>
            </a:r>
            <a:endParaRPr/>
          </a:p>
          <a:p>
            <a:pPr marL="0" indent="0" algn="l">
              <a:buNone/>
              <a:defRPr/>
            </a:pPr>
            <a:r>
              <a:rPr lang="en-US" sz="1400" b="0" i="0">
                <a:solidFill>
                  <a:srgbClr val="333333"/>
                </a:solidFill>
                <a:latin typeface="Times New Roman"/>
                <a:cs typeface="Times New Roman"/>
              </a:rPr>
              <a:t>        "category":"</a:t>
            </a:r>
            <a:r>
              <a:rPr lang="ru-RU" sz="1400" b="0" i="0">
                <a:solidFill>
                  <a:srgbClr val="333333"/>
                </a:solidFill>
                <a:latin typeface="Times New Roman"/>
                <a:cs typeface="Times New Roman"/>
              </a:rPr>
              <a:t>сказки",</a:t>
            </a:r>
            <a:endParaRPr/>
          </a:p>
          <a:p>
            <a:pPr marL="0" indent="0" algn="l">
              <a:buNone/>
              <a:defRPr/>
            </a:pPr>
            <a:r>
              <a:rPr lang="ru-RU" sz="1400" b="0" i="0">
                <a:solidFill>
                  <a:srgbClr val="333333"/>
                </a:solidFill>
                <a:latin typeface="Times New Roman"/>
                <a:cs typeface="Times New Roman"/>
              </a:rPr>
              <a:t>        "</a:t>
            </a:r>
            <a:r>
              <a:rPr lang="en-US" sz="1400" b="0" i="0">
                <a:solidFill>
                  <a:srgbClr val="333333"/>
                </a:solidFill>
                <a:latin typeface="Times New Roman"/>
                <a:cs typeface="Times New Roman"/>
              </a:rPr>
              <a:t>author":"</a:t>
            </a:r>
            <a:r>
              <a:rPr lang="ru-RU" sz="1400" b="0" i="0">
                <a:solidFill>
                  <a:srgbClr val="333333"/>
                </a:solidFill>
                <a:latin typeface="Times New Roman"/>
                <a:cs typeface="Times New Roman"/>
              </a:rPr>
              <a:t>А.С. Пушкин",</a:t>
            </a:r>
            <a:endParaRPr/>
          </a:p>
          <a:p>
            <a:pPr marL="0" indent="0" algn="l">
              <a:buNone/>
              <a:defRPr/>
            </a:pPr>
            <a:r>
              <a:rPr lang="ru-RU" sz="1400" b="0" i="0">
                <a:solidFill>
                  <a:srgbClr val="333333"/>
                </a:solidFill>
                <a:latin typeface="Times New Roman"/>
                <a:cs typeface="Times New Roman"/>
              </a:rPr>
              <a:t>        "</a:t>
            </a:r>
            <a:r>
              <a:rPr lang="en-US" sz="1400" b="0" i="0">
                <a:solidFill>
                  <a:srgbClr val="333333"/>
                </a:solidFill>
                <a:latin typeface="Times New Roman"/>
                <a:cs typeface="Times New Roman"/>
              </a:rPr>
              <a:t>title":"</a:t>
            </a:r>
            <a:r>
              <a:rPr lang="ru-RU" sz="1400" b="0" i="0">
                <a:solidFill>
                  <a:srgbClr val="333333"/>
                </a:solidFill>
                <a:latin typeface="Times New Roman"/>
                <a:cs typeface="Times New Roman"/>
              </a:rPr>
              <a:t>Сборник сказок",</a:t>
            </a:r>
            <a:endParaRPr/>
          </a:p>
          <a:p>
            <a:pPr marL="0" indent="0" algn="l">
              <a:buNone/>
              <a:defRPr/>
            </a:pPr>
            <a:r>
              <a:rPr lang="ru-RU" sz="1400" b="0" i="0">
                <a:solidFill>
                  <a:srgbClr val="333333"/>
                </a:solidFill>
                <a:latin typeface="Times New Roman"/>
                <a:cs typeface="Times New Roman"/>
              </a:rPr>
              <a:t>        "</a:t>
            </a:r>
            <a:r>
              <a:rPr lang="en-US" sz="1400" b="0" i="0">
                <a:solidFill>
                  <a:srgbClr val="333333"/>
                </a:solidFill>
                <a:latin typeface="Times New Roman"/>
                <a:cs typeface="Times New Roman"/>
              </a:rPr>
              <a:t>price":540.50</a:t>
            </a:r>
            <a:endParaRPr/>
          </a:p>
          <a:p>
            <a:pPr marL="0" indent="0" algn="l">
              <a:buNone/>
              <a:defRPr/>
            </a:pPr>
            <a:r>
              <a:rPr lang="en-US" sz="1400" b="0" i="0">
                <a:solidFill>
                  <a:srgbClr val="333333"/>
                </a:solidFill>
                <a:latin typeface="Times New Roman"/>
                <a:cs typeface="Times New Roman"/>
              </a:rPr>
              <a:t>      },</a:t>
            </a:r>
            <a:endParaRPr/>
          </a:p>
          <a:p>
            <a:pPr marL="0" indent="0" algn="l">
              <a:buNone/>
              <a:defRPr/>
            </a:pPr>
            <a:r>
              <a:rPr lang="en-US" sz="1400" b="0" i="0">
                <a:solidFill>
                  <a:srgbClr val="333333"/>
                </a:solidFill>
                <a:latin typeface="Times New Roman"/>
                <a:cs typeface="Times New Roman"/>
              </a:rPr>
              <a:t>      {</a:t>
            </a:r>
            <a:endParaRPr/>
          </a:p>
          <a:p>
            <a:pPr marL="0" indent="0" algn="l">
              <a:buNone/>
              <a:defRPr/>
            </a:pPr>
            <a:r>
              <a:rPr lang="en-US" sz="1400" b="0" i="0">
                <a:solidFill>
                  <a:srgbClr val="333333"/>
                </a:solidFill>
                <a:latin typeface="Times New Roman"/>
                <a:cs typeface="Times New Roman"/>
              </a:rPr>
              <a:t>        "category":"</a:t>
            </a:r>
            <a:r>
              <a:rPr lang="ru-RU" sz="1400" b="0" i="0">
                <a:solidFill>
                  <a:srgbClr val="333333"/>
                </a:solidFill>
                <a:latin typeface="Times New Roman"/>
                <a:cs typeface="Times New Roman"/>
              </a:rPr>
              <a:t>информационные технологии",</a:t>
            </a:r>
            <a:endParaRPr/>
          </a:p>
          <a:p>
            <a:pPr marL="0" indent="0" algn="l">
              <a:buNone/>
              <a:defRPr/>
            </a:pPr>
            <a:r>
              <a:rPr lang="ru-RU" sz="1400" b="0" i="0">
                <a:solidFill>
                  <a:srgbClr val="333333"/>
                </a:solidFill>
                <a:latin typeface="Times New Roman"/>
                <a:cs typeface="Times New Roman"/>
              </a:rPr>
              <a:t>        "</a:t>
            </a:r>
            <a:r>
              <a:rPr lang="en-US" sz="1400" b="0" i="0">
                <a:solidFill>
                  <a:srgbClr val="333333"/>
                </a:solidFill>
                <a:latin typeface="Times New Roman"/>
                <a:cs typeface="Times New Roman"/>
              </a:rPr>
              <a:t>author":"</a:t>
            </a:r>
            <a:r>
              <a:rPr lang="ru-RU" sz="1400" b="0" i="0">
                <a:solidFill>
                  <a:srgbClr val="333333"/>
                </a:solidFill>
                <a:latin typeface="Times New Roman"/>
                <a:cs typeface="Times New Roman"/>
              </a:rPr>
              <a:t>Страуструп Бьерн",</a:t>
            </a:r>
            <a:endParaRPr/>
          </a:p>
          <a:p>
            <a:pPr marL="0" indent="0" algn="l">
              <a:buNone/>
              <a:defRPr/>
            </a:pPr>
            <a:r>
              <a:rPr lang="ru-RU" sz="1400" b="0" i="0">
                <a:solidFill>
                  <a:srgbClr val="333333"/>
                </a:solidFill>
                <a:latin typeface="Times New Roman"/>
                <a:cs typeface="Times New Roman"/>
              </a:rPr>
              <a:t>        "</a:t>
            </a:r>
            <a:r>
              <a:rPr lang="en-US" sz="1400" b="0" i="0">
                <a:solidFill>
                  <a:srgbClr val="333333"/>
                </a:solidFill>
                <a:latin typeface="Times New Roman"/>
                <a:cs typeface="Times New Roman"/>
              </a:rPr>
              <a:t>title":"</a:t>
            </a:r>
            <a:r>
              <a:rPr lang="ru-RU" sz="1400" b="0" i="0">
                <a:solidFill>
                  <a:srgbClr val="333333"/>
                </a:solidFill>
                <a:latin typeface="Times New Roman"/>
                <a:cs typeface="Times New Roman"/>
              </a:rPr>
              <a:t>Язык программирования </a:t>
            </a:r>
            <a:r>
              <a:rPr lang="en-US" sz="1400" b="0" i="0">
                <a:solidFill>
                  <a:srgbClr val="333333"/>
                </a:solidFill>
                <a:latin typeface="Times New Roman"/>
                <a:cs typeface="Times New Roman"/>
              </a:rPr>
              <a:t>C++",</a:t>
            </a:r>
            <a:endParaRPr/>
          </a:p>
          <a:p>
            <a:pPr marL="0" indent="0" algn="l">
              <a:buNone/>
              <a:defRPr/>
            </a:pPr>
            <a:r>
              <a:rPr lang="en-US" sz="1400" b="0" i="0">
                <a:solidFill>
                  <a:srgbClr val="333333"/>
                </a:solidFill>
                <a:latin typeface="Times New Roman"/>
                <a:cs typeface="Times New Roman"/>
              </a:rPr>
              <a:t>        "price":1940.00</a:t>
            </a:r>
            <a:endParaRPr/>
          </a:p>
          <a:p>
            <a:pPr marL="0" indent="0" algn="l">
              <a:buNone/>
              <a:defRPr/>
            </a:pPr>
            <a:r>
              <a:rPr lang="en-US" sz="1400" b="0" i="0">
                <a:solidFill>
                  <a:srgbClr val="333333"/>
                </a:solidFill>
                <a:latin typeface="Times New Roman"/>
                <a:cs typeface="Times New Roman"/>
              </a:rPr>
              <a:t>      },</a:t>
            </a:r>
            <a:endParaRPr/>
          </a:p>
          <a:p>
            <a:pPr marL="0" indent="0" algn="l">
              <a:buNone/>
              <a:defRPr/>
            </a:pPr>
            <a:r>
              <a:rPr lang="en-US" sz="1400" b="0" i="0">
                <a:solidFill>
                  <a:srgbClr val="333333"/>
                </a:solidFill>
                <a:latin typeface="Times New Roman"/>
                <a:cs typeface="Times New Roman"/>
              </a:rPr>
              <a:t>   ],</a:t>
            </a:r>
            <a:endParaRPr/>
          </a:p>
          <a:p>
            <a:pPr marL="0" indent="0" algn="l">
              <a:buNone/>
              <a:defRPr/>
            </a:pPr>
            <a:r>
              <a:rPr lang="en-US" sz="1400" b="0" i="0">
                <a:solidFill>
                  <a:srgbClr val="333333"/>
                </a:solidFill>
                <a:latin typeface="Times New Roman"/>
                <a:cs typeface="Times New Roman"/>
              </a:rPr>
              <a:t>    "bicycle":{</a:t>
            </a:r>
            <a:endParaRPr/>
          </a:p>
          <a:p>
            <a:pPr marL="0" indent="0" algn="l">
              <a:buNone/>
              <a:defRPr/>
            </a:pPr>
            <a:r>
              <a:rPr lang="en-US" sz="1400" b="0" i="0">
                <a:solidFill>
                  <a:srgbClr val="333333"/>
                </a:solidFill>
                <a:latin typeface="Times New Roman"/>
                <a:cs typeface="Times New Roman"/>
              </a:rPr>
              <a:t>      "color":"red",</a:t>
            </a:r>
            <a:endParaRPr/>
          </a:p>
          <a:p>
            <a:pPr marL="0" indent="0" algn="l">
              <a:buNone/>
              <a:defRPr/>
            </a:pPr>
            <a:r>
              <a:rPr lang="en-US" sz="1400" b="0" i="0">
                <a:solidFill>
                  <a:srgbClr val="333333"/>
                </a:solidFill>
                <a:latin typeface="Times New Roman"/>
                <a:cs typeface="Times New Roman"/>
              </a:rPr>
              <a:t>      "price":19999.95</a:t>
            </a:r>
            <a:endParaRPr/>
          </a:p>
          <a:p>
            <a:pPr marL="0" indent="0" algn="l">
              <a:buNone/>
              <a:defRPr/>
            </a:pPr>
            <a:r>
              <a:rPr lang="en-US" sz="1400" b="0" i="0">
                <a:solidFill>
                  <a:srgbClr val="333333"/>
                </a:solidFill>
                <a:latin typeface="Times New Roman"/>
                <a:cs typeface="Times New Roman"/>
              </a:rPr>
              <a:t>    }</a:t>
            </a:r>
            <a:endParaRPr/>
          </a:p>
          <a:p>
            <a:pPr marL="0" indent="0" algn="l">
              <a:buNone/>
              <a:defRPr/>
            </a:pPr>
            <a:r>
              <a:rPr lang="en-US" sz="1400" b="0" i="0">
                <a:solidFill>
                  <a:srgbClr val="333333"/>
                </a:solidFill>
                <a:latin typeface="Times New Roman"/>
                <a:cs typeface="Times New Roman"/>
              </a:rPr>
              <a:t>  }</a:t>
            </a:r>
            <a:endParaRPr/>
          </a:p>
          <a:p>
            <a:pPr marL="0" indent="0" algn="l">
              <a:buNone/>
              <a:defRPr/>
            </a:pPr>
            <a:r>
              <a:rPr lang="en-US" sz="1400" b="0" i="0">
                <a:solidFill>
                  <a:srgbClr val="333333"/>
                </a:solidFill>
                <a:latin typeface="Times New Roman"/>
                <a:cs typeface="Times New Roman"/>
              </a:rPr>
              <a:t>}</a:t>
            </a:r>
            <a:endParaRPr lang="ru-RU" sz="1400" b="0" i="0">
              <a:solidFill>
                <a:srgbClr val="333333"/>
              </a:solidFill>
              <a:latin typeface="Times New Roman"/>
              <a:cs typeface="Times New Roman"/>
            </a:endParaRPr>
          </a:p>
          <a:p>
            <a:pPr marL="0" indent="0" algn="r">
              <a:buNone/>
              <a:defRPr/>
            </a:pPr>
            <a:r>
              <a:rPr lang="ru-RU" sz="2200">
                <a:solidFill>
                  <a:srgbClr val="000000"/>
                </a:solidFill>
                <a:latin typeface="Times New Roman"/>
                <a:cs typeface="Times New Roman"/>
              </a:rPr>
              <a:t>Валидатор </a:t>
            </a:r>
            <a:r>
              <a:rPr lang="en-US" sz="2200">
                <a:solidFill>
                  <a:srgbClr val="000000"/>
                </a:solidFill>
                <a:latin typeface="Times New Roman"/>
                <a:cs typeface="Times New Roman"/>
              </a:rPr>
              <a:t>JSON</a:t>
            </a:r>
            <a:r>
              <a:rPr lang="ru-RU" sz="2200">
                <a:solidFill>
                  <a:srgbClr val="000000"/>
                </a:solidFill>
                <a:latin typeface="Times New Roman"/>
                <a:cs typeface="Times New Roman"/>
              </a:rPr>
              <a:t> </a:t>
            </a:r>
            <a:r>
              <a:rPr lang="en-US" sz="2200" u="sng">
                <a:solidFill>
                  <a:srgbClr val="000000"/>
                </a:solidFill>
                <a:latin typeface="Times New Roman"/>
                <a:cs typeface="Times New Roman"/>
                <a:hlinkClick r:id="rId3" tooltip="https://jsonformatter.curiousconcept.com/"/>
              </a:rPr>
              <a:t>https://jsonformatter.curiousconcept.com</a:t>
            </a:r>
            <a:endParaRPr lang="ru-RU" sz="22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30630"/>
            <a:ext cx="9966959" cy="522513"/>
          </a:xfrm>
        </p:spPr>
        <p:txBody>
          <a:bodyPr>
            <a:normAutofit fontScale="90000"/>
          </a:bodyPr>
          <a:lstStyle/>
          <a:p>
            <a:pPr algn="ctr">
              <a:defRPr/>
            </a:pPr>
            <a:r>
              <a:rPr lang="ru-RU" sz="2900" b="1">
                <a:solidFill>
                  <a:srgbClr val="222222"/>
                </a:solidFill>
                <a:latin typeface="Times New Roman"/>
                <a:cs typeface="Arial"/>
              </a:rPr>
              <a:t>Форматы данных JSON, XML </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02229" y="653142"/>
            <a:ext cx="10476411" cy="5930537"/>
          </a:xfrm>
        </p:spPr>
        <p:txBody>
          <a:bodyPr>
            <a:noAutofit/>
          </a:bodyPr>
          <a:lstStyle/>
          <a:p>
            <a:pPr marL="0" indent="0" algn="just">
              <a:buNone/>
              <a:defRPr/>
            </a:pPr>
            <a:endParaRPr lang="ru-RU" sz="1500">
              <a:solidFill>
                <a:schemeClr val="tx1"/>
              </a:solidFill>
              <a:latin typeface="Times New Roman"/>
              <a:cs typeface="Times New Roman"/>
            </a:endParaRPr>
          </a:p>
          <a:p>
            <a:pPr algn="just">
              <a:defRPr/>
            </a:pPr>
            <a:r>
              <a:rPr lang="ru-RU" sz="2200" b="1">
                <a:solidFill>
                  <a:srgbClr val="000000"/>
                </a:solidFill>
                <a:latin typeface="Times New Roman"/>
                <a:cs typeface="Times New Roman"/>
              </a:rPr>
              <a:t>XML</a:t>
            </a:r>
            <a:r>
              <a:rPr lang="ru-RU" sz="2200">
                <a:solidFill>
                  <a:srgbClr val="000000"/>
                </a:solidFill>
                <a:latin typeface="Times New Roman"/>
                <a:cs typeface="Times New Roman"/>
              </a:rPr>
              <a:t> </a:t>
            </a:r>
            <a:r>
              <a:rPr lang="en-US" sz="2200">
                <a:solidFill>
                  <a:srgbClr val="000000"/>
                </a:solidFill>
                <a:latin typeface="Times New Roman"/>
                <a:cs typeface="Times New Roman"/>
              </a:rPr>
              <a:t>(</a:t>
            </a:r>
            <a:r>
              <a:rPr lang="ru-RU" sz="2200">
                <a:solidFill>
                  <a:srgbClr val="000000"/>
                </a:solidFill>
                <a:latin typeface="Times New Roman"/>
                <a:cs typeface="Times New Roman"/>
              </a:rPr>
              <a:t>eXtensible</a:t>
            </a:r>
            <a:r>
              <a:rPr lang="ru-RU" sz="2200">
                <a:solidFill>
                  <a:srgbClr val="000000"/>
                </a:solidFill>
                <a:latin typeface="Times New Roman"/>
                <a:cs typeface="Times New Roman"/>
              </a:rPr>
              <a:t> </a:t>
            </a:r>
            <a:r>
              <a:rPr lang="ru-RU" sz="2200">
                <a:solidFill>
                  <a:srgbClr val="000000"/>
                </a:solidFill>
                <a:latin typeface="Times New Roman"/>
                <a:cs typeface="Times New Roman"/>
              </a:rPr>
              <a:t>Markup</a:t>
            </a:r>
            <a:r>
              <a:rPr lang="ru-RU" sz="2200">
                <a:solidFill>
                  <a:srgbClr val="000000"/>
                </a:solidFill>
                <a:latin typeface="Times New Roman"/>
                <a:cs typeface="Times New Roman"/>
              </a:rPr>
              <a:t> Language</a:t>
            </a:r>
            <a:r>
              <a:rPr lang="en-US" sz="2200">
                <a:solidFill>
                  <a:srgbClr val="000000"/>
                </a:solidFill>
                <a:latin typeface="Times New Roman"/>
                <a:cs typeface="Times New Roman"/>
              </a:rPr>
              <a:t>)</a:t>
            </a:r>
            <a:r>
              <a:rPr lang="ru-RU" sz="2200">
                <a:solidFill>
                  <a:srgbClr val="000000"/>
                </a:solidFill>
                <a:latin typeface="Times New Roman"/>
                <a:cs typeface="Times New Roman"/>
              </a:rPr>
              <a:t> — расширяемый язык разметки. Используется для хранения и передачи данных. Так что увидеть его можно не только в API, но и в коде.</a:t>
            </a:r>
            <a:endParaRPr lang="en-US" sz="2200">
              <a:solidFill>
                <a:srgbClr val="000000"/>
              </a:solidFill>
              <a:latin typeface="Times New Roman"/>
              <a:cs typeface="Times New Roman"/>
            </a:endParaRPr>
          </a:p>
          <a:p>
            <a:pPr marL="0" indent="0" algn="just">
              <a:buNone/>
              <a:defRPr/>
            </a:pPr>
            <a:r>
              <a:rPr lang="ru-RU" sz="2200">
                <a:solidFill>
                  <a:srgbClr val="000000"/>
                </a:solidFill>
                <a:latin typeface="Times New Roman"/>
                <a:cs typeface="Times New Roman"/>
              </a:rPr>
              <a:t>Этот формат рекомендован Консорциумом Всемирной паутины (W3C), поэтому он часто используется для передачи данных по API. В SOAP API это вообще единственно возможный формат входных и выходных данных!</a:t>
            </a:r>
            <a:endParaRPr lang="en-US" sz="2200">
              <a:solidFill>
                <a:srgbClr val="000000"/>
              </a:solidFill>
              <a:latin typeface="Times New Roman"/>
              <a:cs typeface="Times New Roman"/>
            </a:endParaRPr>
          </a:p>
          <a:p>
            <a:pPr marL="0" indent="0" algn="just">
              <a:buNone/>
              <a:defRPr/>
            </a:pPr>
            <a:endParaRPr lang="en-US" sz="2200">
              <a:solidFill>
                <a:srgbClr val="000000"/>
              </a:solidFill>
              <a:latin typeface="Times New Roman"/>
              <a:cs typeface="Times New Roman"/>
            </a:endParaRPr>
          </a:p>
          <a:p>
            <a:pPr marL="0" indent="0" algn="just">
              <a:buNone/>
              <a:defRPr/>
            </a:pPr>
            <a:endParaRPr lang="en-US" sz="2200">
              <a:solidFill>
                <a:srgbClr val="000000"/>
              </a:solidFill>
              <a:latin typeface="Times New Roman"/>
              <a:cs typeface="Times New Roman"/>
            </a:endParaRPr>
          </a:p>
          <a:p>
            <a:pPr marL="0" indent="0" algn="just">
              <a:buNone/>
              <a:defRPr/>
            </a:pPr>
            <a:endParaRPr lang="en-US" sz="2200">
              <a:solidFill>
                <a:srgbClr val="000000"/>
              </a:solidFill>
              <a:latin typeface="Times New Roman"/>
              <a:cs typeface="Times New Roman"/>
            </a:endParaRPr>
          </a:p>
          <a:p>
            <a:pPr marL="0" indent="0" algn="just">
              <a:buNone/>
              <a:defRPr/>
            </a:pPr>
            <a:endParaRPr lang="en-US" sz="2200">
              <a:solidFill>
                <a:srgbClr val="000000"/>
              </a:solidFill>
              <a:latin typeface="Times New Roman"/>
              <a:cs typeface="Times New Roman"/>
            </a:endParaRPr>
          </a:p>
          <a:p>
            <a:pPr marL="0" indent="0" algn="just">
              <a:buNone/>
              <a:defRPr/>
            </a:pPr>
            <a:endParaRPr lang="en-US" sz="2200">
              <a:solidFill>
                <a:srgbClr val="000000"/>
              </a:solidFill>
              <a:latin typeface="Times New Roman"/>
              <a:cs typeface="Times New Roman"/>
            </a:endParaRPr>
          </a:p>
          <a:p>
            <a:pPr marL="0" indent="0" algn="just">
              <a:buNone/>
              <a:defRPr/>
            </a:pPr>
            <a:endParaRPr lang="en-US" sz="2200">
              <a:solidFill>
                <a:srgbClr val="000000"/>
              </a:solidFill>
              <a:latin typeface="Times New Roman"/>
              <a:cs typeface="Times New Roman"/>
            </a:endParaRPr>
          </a:p>
          <a:p>
            <a:pPr marL="0" indent="0" algn="r">
              <a:buNone/>
              <a:defRPr/>
            </a:pPr>
            <a:r>
              <a:rPr lang="en-US" sz="2200" u="sng">
                <a:solidFill>
                  <a:srgbClr val="000000"/>
                </a:solidFill>
                <a:latin typeface="Times New Roman"/>
                <a:cs typeface="Times New Roman"/>
                <a:hlinkClick r:id="rId2" tooltip="https://habr.com/ru/articles/524288"/>
              </a:rPr>
              <a:t>https://habr.com/ru/articles/524288</a:t>
            </a:r>
            <a:endParaRPr lang="en-US" sz="2200">
              <a:solidFill>
                <a:srgbClr val="000000"/>
              </a:solidFill>
              <a:latin typeface="Times New Roman"/>
              <a:cs typeface="Times New Roman"/>
            </a:endParaRPr>
          </a:p>
          <a:p>
            <a:pPr marL="0" indent="0" algn="just">
              <a:buNone/>
              <a:defRPr/>
            </a:pPr>
            <a:endParaRPr lang="en-US" sz="2200">
              <a:solidFill>
                <a:srgbClr val="000000"/>
              </a:solidFill>
              <a:latin typeface="Times New Roman"/>
              <a:cs typeface="Times New Roman"/>
            </a:endParaRPr>
          </a:p>
          <a:p>
            <a:pPr marL="0" indent="0" algn="just">
              <a:buNone/>
              <a:defRPr/>
            </a:pPr>
            <a:endParaRPr lang="ru-RU" sz="2200">
              <a:solidFill>
                <a:srgbClr val="000000"/>
              </a:solidFill>
              <a:latin typeface="Times New Roman"/>
              <a:cs typeface="Times New Roman"/>
            </a:endParaRPr>
          </a:p>
        </p:txBody>
      </p:sp>
      <p:sp>
        <p:nvSpPr>
          <p:cNvPr id="6" name="Rectangle 3"/>
          <p:cNvSpPr>
            <a:spLocks noChangeArrowheads="1"/>
          </p:cNvSpPr>
          <p:nvPr/>
        </p:nvSpPr>
        <p:spPr bwMode="auto">
          <a:xfrm>
            <a:off x="2103120" y="3872124"/>
            <a:ext cx="3383280" cy="1231106"/>
          </a:xfrm>
          <a:prstGeom prst="rect">
            <a:avLst/>
          </a:prstGeom>
          <a:noFill/>
          <a:ln>
            <a:noFill/>
          </a:ln>
          <a:effectLst/>
        </p:spPr>
        <p:txBody>
          <a:bodyPr vert="horz" wrap="square" lIns="0" tIns="0" rIns="0" bIns="0" numCol="1" anchor="ctr" anchorCtr="0" compatLnSpc="1">
            <a:prstTxWarp prst="textNoShape"/>
            <a:spAutoFit/>
          </a:bodyPr>
          <a:lstStyle/>
          <a:p>
            <a:pPr marL="0" marR="0" lvl="0" indent="0" algn="l" defTabSz="914400">
              <a:lnSpc>
                <a:spcPct val="100000"/>
              </a:lnSpc>
              <a:spcBef>
                <a:spcPts val="0"/>
              </a:spcBef>
              <a:spcAft>
                <a:spcPts val="0"/>
              </a:spcAft>
              <a:buClrTx/>
              <a:buSzTx/>
              <a:buFontTx/>
              <a:buNone/>
              <a:defRPr/>
            </a:pPr>
            <a:r>
              <a:rPr lang="ru-RU" sz="2000" b="1" i="0" u="none" strike="noStrike" cap="none">
                <a:ln>
                  <a:noFill/>
                </a:ln>
                <a:solidFill>
                  <a:srgbClr val="BC6060"/>
                </a:solidFill>
                <a:latin typeface="Times New Roman"/>
                <a:cs typeface="Times New Roman"/>
              </a:rPr>
              <a:t>&lt;</a:t>
            </a:r>
            <a:r>
              <a:rPr lang="ru-RU" sz="2000" b="1" i="0" u="none" strike="noStrike" cap="none">
                <a:ln>
                  <a:noFill/>
                </a:ln>
                <a:solidFill>
                  <a:srgbClr val="BC6060"/>
                </a:solidFill>
                <a:latin typeface="Times New Roman"/>
                <a:cs typeface="Times New Roman"/>
              </a:rPr>
              <a:t>req</a:t>
            </a:r>
            <a:r>
              <a:rPr lang="ru-RU" sz="2000" b="1" i="0" u="none" strike="noStrike" cap="none">
                <a:ln>
                  <a:noFill/>
                </a:ln>
                <a:solidFill>
                  <a:srgbClr val="BC6060"/>
                </a:solidFill>
                <a:latin typeface="Times New Roman"/>
                <a:cs typeface="Times New Roman"/>
              </a:rPr>
              <a:t>&gt;</a:t>
            </a:r>
            <a:br>
              <a:rPr lang="ru-RU" sz="2000" b="0" i="0" u="none" strike="noStrike" cap="none">
                <a:ln>
                  <a:noFill/>
                </a:ln>
                <a:solidFill>
                  <a:srgbClr val="333333"/>
                </a:solidFill>
                <a:latin typeface="Times New Roman"/>
                <a:cs typeface="Times New Roman"/>
              </a:rPr>
            </a:br>
            <a:r>
              <a:rPr lang="ru-RU" sz="2000" b="1" i="0" u="none" strike="noStrike" cap="none">
                <a:ln>
                  <a:noFill/>
                </a:ln>
                <a:solidFill>
                  <a:srgbClr val="BC6060"/>
                </a:solidFill>
                <a:latin typeface="Times New Roman"/>
                <a:cs typeface="Times New Roman"/>
              </a:rPr>
              <a:t>&lt;</a:t>
            </a:r>
            <a:r>
              <a:rPr lang="ru-RU" sz="2000" b="1" i="0" u="none" strike="noStrike" cap="none">
                <a:ln>
                  <a:noFill/>
                </a:ln>
                <a:solidFill>
                  <a:srgbClr val="BC6060"/>
                </a:solidFill>
                <a:latin typeface="Times New Roman"/>
                <a:cs typeface="Times New Roman"/>
              </a:rPr>
              <a:t>query</a:t>
            </a:r>
            <a:r>
              <a:rPr lang="ru-RU" sz="2000" b="1" i="0" u="none" strike="noStrike" cap="none">
                <a:ln>
                  <a:noFill/>
                </a:ln>
                <a:solidFill>
                  <a:srgbClr val="BC6060"/>
                </a:solidFill>
                <a:latin typeface="Times New Roman"/>
                <a:cs typeface="Times New Roman"/>
              </a:rPr>
              <a:t>&gt;</a:t>
            </a:r>
            <a:r>
              <a:rPr lang="ru-RU" sz="2000" b="0" i="0" u="none" strike="noStrike" cap="none">
                <a:ln>
                  <a:noFill/>
                </a:ln>
                <a:solidFill>
                  <a:srgbClr val="333333"/>
                </a:solidFill>
                <a:latin typeface="Times New Roman"/>
                <a:cs typeface="Times New Roman"/>
              </a:rPr>
              <a:t>Виктор Иван</a:t>
            </a:r>
            <a:r>
              <a:rPr lang="ru-RU" sz="2000" b="1" i="0" u="none" strike="noStrike" cap="none">
                <a:ln>
                  <a:noFill/>
                </a:ln>
                <a:solidFill>
                  <a:srgbClr val="BC6060"/>
                </a:solidFill>
                <a:latin typeface="Times New Roman"/>
                <a:cs typeface="Times New Roman"/>
              </a:rPr>
              <a:t>&lt;/</a:t>
            </a:r>
            <a:r>
              <a:rPr lang="ru-RU" sz="2000" b="1" i="0" u="none" strike="noStrike" cap="none">
                <a:ln>
                  <a:noFill/>
                </a:ln>
                <a:solidFill>
                  <a:srgbClr val="BC6060"/>
                </a:solidFill>
                <a:latin typeface="Times New Roman"/>
                <a:cs typeface="Times New Roman"/>
              </a:rPr>
              <a:t>query</a:t>
            </a:r>
            <a:r>
              <a:rPr lang="ru-RU" sz="2000" b="1" i="0" u="none" strike="noStrike" cap="none">
                <a:ln>
                  <a:noFill/>
                </a:ln>
                <a:solidFill>
                  <a:srgbClr val="BC6060"/>
                </a:solidFill>
                <a:latin typeface="Times New Roman"/>
                <a:cs typeface="Times New Roman"/>
              </a:rPr>
              <a:t>&gt;</a:t>
            </a:r>
            <a:br>
              <a:rPr lang="ru-RU" sz="2000" b="0" i="0" u="none" strike="noStrike" cap="none">
                <a:ln>
                  <a:noFill/>
                </a:ln>
                <a:solidFill>
                  <a:srgbClr val="333333"/>
                </a:solidFill>
                <a:latin typeface="Times New Roman"/>
                <a:cs typeface="Times New Roman"/>
              </a:rPr>
            </a:br>
            <a:r>
              <a:rPr lang="ru-RU" sz="2000" b="1" i="0" u="none" strike="noStrike" cap="none">
                <a:ln>
                  <a:noFill/>
                </a:ln>
                <a:solidFill>
                  <a:srgbClr val="BC6060"/>
                </a:solidFill>
                <a:latin typeface="Times New Roman"/>
                <a:cs typeface="Times New Roman"/>
              </a:rPr>
              <a:t>&lt;</a:t>
            </a:r>
            <a:r>
              <a:rPr lang="ru-RU" sz="2000" b="1" i="0" u="none" strike="noStrike" cap="none">
                <a:ln>
                  <a:noFill/>
                </a:ln>
                <a:solidFill>
                  <a:srgbClr val="BC6060"/>
                </a:solidFill>
                <a:latin typeface="Times New Roman"/>
                <a:cs typeface="Times New Roman"/>
              </a:rPr>
              <a:t>count</a:t>
            </a:r>
            <a:r>
              <a:rPr lang="ru-RU" sz="2000" b="1" i="0" u="none" strike="noStrike" cap="none">
                <a:ln>
                  <a:noFill/>
                </a:ln>
                <a:solidFill>
                  <a:srgbClr val="BC6060"/>
                </a:solidFill>
                <a:latin typeface="Times New Roman"/>
                <a:cs typeface="Times New Roman"/>
              </a:rPr>
              <a:t>&gt;</a:t>
            </a:r>
            <a:r>
              <a:rPr lang="ru-RU" sz="2000" b="0" i="0" u="none" strike="noStrike" cap="none">
                <a:ln>
                  <a:noFill/>
                </a:ln>
                <a:solidFill>
                  <a:srgbClr val="333333"/>
                </a:solidFill>
                <a:latin typeface="Times New Roman"/>
                <a:cs typeface="Times New Roman"/>
              </a:rPr>
              <a:t>7</a:t>
            </a:r>
            <a:r>
              <a:rPr lang="ru-RU" sz="2000" b="1" i="0" u="none" strike="noStrike" cap="none">
                <a:ln>
                  <a:noFill/>
                </a:ln>
                <a:solidFill>
                  <a:srgbClr val="BC6060"/>
                </a:solidFill>
                <a:latin typeface="Times New Roman"/>
                <a:cs typeface="Times New Roman"/>
              </a:rPr>
              <a:t>&lt;/</a:t>
            </a:r>
            <a:r>
              <a:rPr lang="ru-RU" sz="2000" b="1" i="0" u="none" strike="noStrike" cap="none">
                <a:ln>
                  <a:noFill/>
                </a:ln>
                <a:solidFill>
                  <a:srgbClr val="BC6060"/>
                </a:solidFill>
                <a:latin typeface="Times New Roman"/>
                <a:cs typeface="Times New Roman"/>
              </a:rPr>
              <a:t>count</a:t>
            </a:r>
            <a:r>
              <a:rPr lang="ru-RU" sz="2000" b="1" i="0" u="none" strike="noStrike" cap="none">
                <a:ln>
                  <a:noFill/>
                </a:ln>
                <a:solidFill>
                  <a:srgbClr val="BC6060"/>
                </a:solidFill>
                <a:latin typeface="Times New Roman"/>
                <a:cs typeface="Times New Roman"/>
              </a:rPr>
              <a:t>&gt;</a:t>
            </a:r>
            <a:br>
              <a:rPr lang="ru-RU" sz="2000" b="0" i="0" u="none" strike="noStrike" cap="none">
                <a:ln>
                  <a:noFill/>
                </a:ln>
                <a:solidFill>
                  <a:srgbClr val="333333"/>
                </a:solidFill>
                <a:latin typeface="Times New Roman"/>
                <a:cs typeface="Times New Roman"/>
              </a:rPr>
            </a:br>
            <a:r>
              <a:rPr lang="ru-RU" sz="2000" b="1" i="0" u="none" strike="noStrike" cap="none">
                <a:ln>
                  <a:noFill/>
                </a:ln>
                <a:solidFill>
                  <a:srgbClr val="BC6060"/>
                </a:solidFill>
                <a:latin typeface="Times New Roman"/>
                <a:cs typeface="Times New Roman"/>
              </a:rPr>
              <a:t>&lt;/</a:t>
            </a:r>
            <a:r>
              <a:rPr lang="ru-RU" sz="2000" b="1" i="0" u="none" strike="noStrike" cap="none">
                <a:ln>
                  <a:noFill/>
                </a:ln>
                <a:solidFill>
                  <a:srgbClr val="BC6060"/>
                </a:solidFill>
                <a:latin typeface="Times New Roman"/>
                <a:cs typeface="Times New Roman"/>
              </a:rPr>
              <a:t>req</a:t>
            </a:r>
            <a:r>
              <a:rPr lang="ru-RU" sz="2000" b="1" i="0" u="none" strike="noStrike" cap="none">
                <a:ln>
                  <a:noFill/>
                </a:ln>
                <a:solidFill>
                  <a:srgbClr val="BC6060"/>
                </a:solidFill>
                <a:latin typeface="Times New Roman"/>
                <a:cs typeface="Times New Roman"/>
              </a:rPr>
              <a:t>&gt;</a:t>
            </a:r>
            <a:r>
              <a:rPr lang="ru-RU" sz="2000" b="0" i="0" u="none" strike="noStrike" cap="none">
                <a:ln>
                  <a:noFill/>
                </a:ln>
                <a:solidFill>
                  <a:schemeClr val="tx1"/>
                </a:solidFill>
                <a:latin typeface="Times New Roman"/>
                <a:cs typeface="Times New Roman"/>
              </a:rPr>
              <a:t> </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ctrTitle"/>
          </p:nvPr>
        </p:nvSpPr>
        <p:spPr bwMode="auto">
          <a:xfrm>
            <a:off x="1685109" y="1554478"/>
            <a:ext cx="10306593" cy="3958044"/>
          </a:xfrm>
        </p:spPr>
        <p:txBody>
          <a:bodyPr>
            <a:normAutofit fontScale="90000"/>
          </a:bodyPr>
          <a:lstStyle/>
          <a:p>
            <a:pPr algn="ctr">
              <a:defRPr/>
            </a:pPr>
            <a:r>
              <a:rPr lang="ru-RU" b="1">
                <a:solidFill>
                  <a:srgbClr val="222222"/>
                </a:solidFill>
                <a:latin typeface="Times New Roman"/>
                <a:ea typeface="Arial"/>
                <a:cs typeface="Arial"/>
              </a:rPr>
              <a:t>Тестирование API через Postman.</a:t>
            </a:r>
            <a:br>
              <a:rPr lang="en-US" b="1">
                <a:solidFill>
                  <a:srgbClr val="222222"/>
                </a:solidFill>
                <a:latin typeface="Times New Roman"/>
                <a:ea typeface="Arial"/>
                <a:cs typeface="Arial"/>
              </a:rPr>
            </a:br>
            <a:r>
              <a:rPr lang="ru-RU" b="1">
                <a:solidFill>
                  <a:srgbClr val="222222"/>
                </a:solidFill>
                <a:latin typeface="Times New Roman"/>
                <a:ea typeface="Arial"/>
                <a:cs typeface="Arial"/>
              </a:rPr>
              <a:t> Авто-тесты API,</a:t>
            </a:r>
            <a:br>
              <a:rPr lang="en-US" b="1">
                <a:solidFill>
                  <a:srgbClr val="222222"/>
                </a:solidFill>
                <a:latin typeface="Times New Roman"/>
                <a:ea typeface="Arial"/>
                <a:cs typeface="Arial"/>
              </a:rPr>
            </a:br>
            <a:r>
              <a:rPr lang="ru-RU" b="1">
                <a:solidFill>
                  <a:srgbClr val="222222"/>
                </a:solidFill>
                <a:latin typeface="Times New Roman"/>
                <a:ea typeface="Arial"/>
                <a:cs typeface="Arial"/>
              </a:rPr>
              <a:t> основы скриптинга в Postman</a:t>
            </a:r>
            <a:br>
              <a:rPr lang="ru-RU" b="1">
                <a:solidFill>
                  <a:srgbClr val="222222"/>
                </a:solidFill>
                <a:latin typeface="Times New Roman"/>
                <a:ea typeface="Arial"/>
                <a:cs typeface="Arial"/>
              </a:rPr>
            </a:b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30630"/>
            <a:ext cx="9966959" cy="522513"/>
          </a:xfrm>
        </p:spPr>
        <p:txBody>
          <a:bodyPr>
            <a:normAutofit fontScale="90000"/>
          </a:bodyPr>
          <a:lstStyle/>
          <a:p>
            <a:pPr algn="ctr">
              <a:defRPr/>
            </a:pPr>
            <a:r>
              <a:rPr lang="ru-RU" sz="2900" b="1">
                <a:solidFill>
                  <a:srgbClr val="222222"/>
                </a:solidFill>
                <a:latin typeface="Times New Roman"/>
                <a:ea typeface="Arial"/>
                <a:cs typeface="Arial"/>
              </a:rPr>
              <a:t>Тестирование API через Postman</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600199" y="653142"/>
            <a:ext cx="10476411" cy="6074227"/>
          </a:xfrm>
        </p:spPr>
        <p:txBody>
          <a:bodyPr>
            <a:noAutofit/>
          </a:bodyPr>
          <a:lstStyle/>
          <a:p>
            <a:pPr algn="just">
              <a:defRPr/>
            </a:pPr>
            <a:r>
              <a:rPr lang="ru-RU" sz="2200">
                <a:solidFill>
                  <a:srgbClr val="000000"/>
                </a:solidFill>
                <a:latin typeface="Times New Roman"/>
                <a:cs typeface="Times New Roman"/>
              </a:rPr>
              <a:t>Программа </a:t>
            </a:r>
            <a:r>
              <a:rPr lang="ru-RU" sz="2200" b="1" u="sng">
                <a:solidFill>
                  <a:srgbClr val="000000"/>
                </a:solidFill>
                <a:latin typeface="Times New Roman"/>
                <a:cs typeface="Times New Roman"/>
                <a:hlinkClick r:id="rId2" tooltip="https://www.postman.com/downloads"/>
              </a:rPr>
              <a:t>Postman</a:t>
            </a:r>
            <a:r>
              <a:rPr lang="ru-RU" sz="2200">
                <a:solidFill>
                  <a:srgbClr val="000000"/>
                </a:solidFill>
                <a:latin typeface="Times New Roman"/>
                <a:cs typeface="Times New Roman"/>
              </a:rPr>
              <a:t> предназначена для тестирования работы API, а также для отправки запросов POST и GET. В отличие от похожей утилиты </a:t>
            </a:r>
            <a:r>
              <a:rPr lang="ru-RU" sz="2200">
                <a:solidFill>
                  <a:srgbClr val="000000"/>
                </a:solidFill>
                <a:latin typeface="Times New Roman"/>
                <a:cs typeface="Times New Roman"/>
              </a:rPr>
              <a:t>curl</a:t>
            </a:r>
            <a:r>
              <a:rPr lang="ru-RU" sz="2200">
                <a:solidFill>
                  <a:srgbClr val="000000"/>
                </a:solidFill>
                <a:latin typeface="Times New Roman"/>
                <a:cs typeface="Times New Roman"/>
              </a:rPr>
              <a:t>, она имеет графический интерфейс, поэтому легко осваивается даже новичками.</a:t>
            </a:r>
            <a:r>
              <a:rPr lang="en-US" sz="2200">
                <a:solidFill>
                  <a:srgbClr val="000000"/>
                </a:solidFill>
                <a:latin typeface="Times New Roman"/>
                <a:cs typeface="Times New Roman"/>
              </a:rPr>
              <a:t> </a:t>
            </a:r>
            <a:r>
              <a:rPr lang="ru-RU" sz="2200">
                <a:solidFill>
                  <a:srgbClr val="000000"/>
                </a:solidFill>
                <a:latin typeface="Times New Roman"/>
                <a:cs typeface="Times New Roman"/>
              </a:rPr>
              <a:t>Существует, как в </a:t>
            </a:r>
            <a:r>
              <a:rPr lang="en-US" sz="2200">
                <a:solidFill>
                  <a:srgbClr val="000000"/>
                </a:solidFill>
                <a:latin typeface="Times New Roman"/>
                <a:cs typeface="Times New Roman"/>
              </a:rPr>
              <a:t>web-</a:t>
            </a:r>
            <a:r>
              <a:rPr lang="ru-RU" sz="2200">
                <a:solidFill>
                  <a:srgbClr val="000000"/>
                </a:solidFill>
                <a:latin typeface="Times New Roman"/>
                <a:cs typeface="Times New Roman"/>
              </a:rPr>
              <a:t>версии, так и для настольных ПК.</a:t>
            </a:r>
            <a:endParaRPr/>
          </a:p>
          <a:p>
            <a:pPr algn="just">
              <a:defRPr/>
            </a:pPr>
            <a:endParaRPr lang="en-US" sz="1000">
              <a:solidFill>
                <a:srgbClr val="000000"/>
              </a:solidFill>
              <a:latin typeface="Times New Roman"/>
              <a:cs typeface="Times New Roman"/>
            </a:endParaRPr>
          </a:p>
          <a:p>
            <a:pPr marL="0" indent="0">
              <a:buNone/>
              <a:defRPr/>
            </a:pPr>
            <a:r>
              <a:rPr lang="en-US" sz="2000">
                <a:solidFill>
                  <a:srgbClr val="000000"/>
                </a:solidFill>
                <a:latin typeface="Times New Roman"/>
                <a:cs typeface="Times New Roman"/>
              </a:rPr>
              <a:t>1) </a:t>
            </a:r>
            <a:r>
              <a:rPr lang="ru-RU" sz="2000">
                <a:solidFill>
                  <a:srgbClr val="000000"/>
                </a:solidFill>
                <a:latin typeface="Times New Roman"/>
                <a:cs typeface="Times New Roman"/>
              </a:rPr>
              <a:t>Как пользоваться программой</a:t>
            </a:r>
            <a:r>
              <a:rPr lang="en-US" sz="2000">
                <a:solidFill>
                  <a:srgbClr val="000000"/>
                </a:solidFill>
                <a:latin typeface="Times New Roman"/>
                <a:cs typeface="Times New Roman"/>
              </a:rPr>
              <a:t> </a:t>
            </a:r>
            <a:r>
              <a:rPr lang="ru-RU" sz="2000">
                <a:solidFill>
                  <a:srgbClr val="000000"/>
                </a:solidFill>
                <a:latin typeface="Times New Roman"/>
                <a:cs typeface="Times New Roman"/>
              </a:rPr>
              <a:t>Postman </a:t>
            </a:r>
            <a:r>
              <a:rPr lang="ru-RU" sz="2000" u="sng">
                <a:solidFill>
                  <a:srgbClr val="000000"/>
                </a:solidFill>
                <a:latin typeface="Times New Roman"/>
                <a:cs typeface="Times New Roman"/>
                <a:hlinkClick r:id="rId3" tooltip="https://timeweb.com/ru/community/articles/kak-polzovatsya-postman"/>
              </a:rPr>
              <a:t>https://timeweb.com/ru/community/articles/kak-polzovatsya-postman</a:t>
            </a:r>
            <a:endParaRPr lang="en-US" sz="2000">
              <a:solidFill>
                <a:srgbClr val="000000"/>
              </a:solidFill>
              <a:latin typeface="Times New Roman"/>
              <a:cs typeface="Times New Roman"/>
            </a:endParaRPr>
          </a:p>
          <a:p>
            <a:pPr marL="0" indent="0">
              <a:buNone/>
              <a:defRPr/>
            </a:pPr>
            <a:r>
              <a:rPr lang="en-US" sz="2000">
                <a:solidFill>
                  <a:srgbClr val="000000"/>
                </a:solidFill>
                <a:latin typeface="Times New Roman"/>
                <a:cs typeface="Times New Roman"/>
              </a:rPr>
              <a:t>2) Test your front-end against a real API </a:t>
            </a:r>
            <a:r>
              <a:rPr lang="en-US" sz="2000" u="sng">
                <a:solidFill>
                  <a:srgbClr val="000000"/>
                </a:solidFill>
                <a:latin typeface="Times New Roman"/>
                <a:cs typeface="Times New Roman"/>
                <a:hlinkClick r:id="rId4" tooltip="https://reqres.in/"/>
              </a:rPr>
              <a:t>https://reqres.in</a:t>
            </a:r>
            <a:endParaRPr lang="en-US" sz="2000">
              <a:solidFill>
                <a:srgbClr val="000000"/>
              </a:solidFill>
              <a:latin typeface="Times New Roman"/>
              <a:cs typeface="Times New Roman"/>
            </a:endParaRPr>
          </a:p>
          <a:p>
            <a:pPr marL="0" indent="0">
              <a:buNone/>
              <a:defRPr/>
            </a:pPr>
            <a:r>
              <a:rPr lang="en-US" sz="2000">
                <a:solidFill>
                  <a:srgbClr val="000000"/>
                </a:solidFill>
                <a:latin typeface="Times New Roman"/>
                <a:cs typeface="Times New Roman"/>
              </a:rPr>
              <a:t>3) </a:t>
            </a:r>
            <a:r>
              <a:rPr lang="ru-RU" sz="2000">
                <a:solidFill>
                  <a:srgbClr val="000000"/>
                </a:solidFill>
                <a:latin typeface="Times New Roman"/>
                <a:cs typeface="Times New Roman"/>
              </a:rPr>
              <a:t>API для QA: учимся тестированию ПО без доступа к коду </a:t>
            </a:r>
            <a:r>
              <a:rPr lang="ru-RU" sz="2000" u="sng">
                <a:solidFill>
                  <a:srgbClr val="000000"/>
                </a:solidFill>
                <a:latin typeface="Times New Roman"/>
                <a:cs typeface="Times New Roman"/>
                <a:hlinkClick r:id="rId5" tooltip="https://proglib.io/p/api-dlya-qa-uchimsya-testirovaniyu-po-bez-dostupa-k-kodu-2020-12-10?ysclid=lt335882tb28816336"/>
              </a:rPr>
              <a:t>https://proglib.io/p/api-dlya-qa-uchimsya-testirovaniyu-po-bez-dostupa-k-kodu-2020-12-10?ysclid=lt335882tb28816336</a:t>
            </a:r>
            <a:endParaRPr lang="en-US" sz="2000">
              <a:solidFill>
                <a:srgbClr val="000000"/>
              </a:solidFill>
              <a:latin typeface="Times New Roman"/>
              <a:cs typeface="Times New Roman"/>
            </a:endParaRPr>
          </a:p>
          <a:p>
            <a:pPr marL="0" indent="0" algn="l">
              <a:buNone/>
              <a:defRPr/>
            </a:pPr>
            <a:r>
              <a:rPr lang="en-US" sz="2000">
                <a:solidFill>
                  <a:srgbClr val="000000"/>
                </a:solidFill>
                <a:latin typeface="Times New Roman"/>
                <a:cs typeface="Times New Roman"/>
              </a:rPr>
              <a:t>4) 	</a:t>
            </a:r>
            <a:r>
              <a:rPr lang="ru-RU" sz="2000">
                <a:solidFill>
                  <a:srgbClr val="000000"/>
                </a:solidFill>
                <a:latin typeface="Times New Roman"/>
                <a:cs typeface="Times New Roman"/>
              </a:rPr>
              <a:t> Postman как инструмент документации </a:t>
            </a:r>
            <a:r>
              <a:rPr lang="ru-RU" sz="2000" u="sng">
                <a:solidFill>
                  <a:srgbClr val="000000"/>
                </a:solidFill>
                <a:latin typeface="Times New Roman"/>
                <a:cs typeface="Times New Roman"/>
                <a:hlinkClick r:id="rId6" tooltip="https://habr.com/ru/companies/simbirsoft/articles/755382/"/>
              </a:rPr>
              <a:t>https://habr.com/ru/companies/simbirsoft/articles/755382/</a:t>
            </a:r>
            <a:endParaRPr lang="ru-RU" sz="2000">
              <a:solidFill>
                <a:srgbClr val="000000"/>
              </a:solidFill>
              <a:latin typeface="Times New Roman"/>
              <a:cs typeface="Times New Roman"/>
            </a:endParaRPr>
          </a:p>
          <a:p>
            <a:pPr marL="0" indent="0" algn="l">
              <a:buNone/>
              <a:defRPr/>
            </a:pPr>
            <a:r>
              <a:rPr lang="ru-RU" sz="2000">
                <a:solidFill>
                  <a:srgbClr val="000000"/>
                </a:solidFill>
                <a:latin typeface="Times New Roman"/>
                <a:cs typeface="Times New Roman"/>
              </a:rPr>
              <a:t>5) Postman API </a:t>
            </a:r>
            <a:r>
              <a:rPr lang="ru-RU" sz="2000" u="sng">
                <a:solidFill>
                  <a:srgbClr val="000000"/>
                </a:solidFill>
                <a:latin typeface="Times New Roman"/>
                <a:cs typeface="Times New Roman"/>
                <a:hlinkClick r:id="rId7" tooltip="https://www.postman.com/postman/workspace/postman-public-workspace/request/12959542-748c0367-6e64-4b9c-9f02-a2b8d297dc38"/>
              </a:rPr>
              <a:t>https://www.postman.com/postman/workspace/postman-public-workspace/request/12959542-748c0367-6e64-4b9c-9f02-a2b8d297dc38</a:t>
            </a:r>
            <a:endParaRPr lang="ru-RU" sz="2000">
              <a:solidFill>
                <a:srgbClr val="000000"/>
              </a:solidFill>
              <a:latin typeface="Times New Roman"/>
              <a:cs typeface="Times New Roman"/>
            </a:endParaRPr>
          </a:p>
          <a:p>
            <a:pPr marL="0" indent="0" algn="l">
              <a:buNone/>
              <a:defRPr/>
            </a:pPr>
            <a:r>
              <a:rPr lang="ru-RU" sz="2000">
                <a:solidFill>
                  <a:srgbClr val="000000"/>
                </a:solidFill>
                <a:latin typeface="Times New Roman"/>
                <a:cs typeface="Times New Roman"/>
              </a:rPr>
              <a:t>6) Тестирование API </a:t>
            </a:r>
            <a:r>
              <a:rPr lang="ru-RU" sz="2000" u="sng">
                <a:solidFill>
                  <a:srgbClr val="000000"/>
                </a:solidFill>
                <a:latin typeface="Times New Roman"/>
                <a:cs typeface="Times New Roman"/>
                <a:hlinkClick r:id="rId8" tooltip="https://learning.postman.com/docs/designing-and-developing-your-api/testing-an-api/"/>
              </a:rPr>
              <a:t>https://learning.postman.com/docs/designing-and-developing-your-api/testing-an-api</a:t>
            </a:r>
            <a:endParaRPr lang="ru-RU" sz="20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30630"/>
            <a:ext cx="9966959" cy="522513"/>
          </a:xfrm>
        </p:spPr>
        <p:txBody>
          <a:bodyPr>
            <a:normAutofit fontScale="90000"/>
          </a:bodyPr>
          <a:lstStyle/>
          <a:p>
            <a:pPr algn="ctr">
              <a:defRPr/>
            </a:pPr>
            <a:r>
              <a:rPr lang="ru-RU" sz="2900" b="1">
                <a:solidFill>
                  <a:srgbClr val="222222"/>
                </a:solidFill>
                <a:latin typeface="Times New Roman"/>
                <a:ea typeface="Arial"/>
                <a:cs typeface="Arial"/>
              </a:rPr>
              <a:t>Главное окно </a:t>
            </a:r>
            <a:r>
              <a:rPr lang="ru-RU" sz="2900" b="1">
                <a:solidFill>
                  <a:srgbClr val="222222"/>
                </a:solidFill>
                <a:latin typeface="Times New Roman"/>
                <a:ea typeface="Arial"/>
                <a:cs typeface="Arial"/>
              </a:rPr>
              <a:t>Postman</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600199" y="653142"/>
            <a:ext cx="10476411" cy="6074227"/>
          </a:xfrm>
        </p:spPr>
        <p:txBody>
          <a:bodyPr>
            <a:noAutofit/>
          </a:bodyPr>
          <a:lstStyle/>
          <a:p>
            <a:pPr marL="0" indent="0" algn="just">
              <a:buNone/>
              <a:defRPr/>
            </a:pPr>
            <a:endParaRPr lang="en-US" sz="22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p:txBody>
      </p:sp>
      <p:pic>
        <p:nvPicPr>
          <p:cNvPr id="5" name="Рисунок 4"/>
          <p:cNvPicPr>
            <a:picLocks noChangeAspect="1"/>
          </p:cNvPicPr>
          <p:nvPr/>
        </p:nvPicPr>
        <p:blipFill>
          <a:blip r:embed="rId2"/>
          <a:stretch/>
        </p:blipFill>
        <p:spPr bwMode="auto">
          <a:xfrm>
            <a:off x="2230669" y="666204"/>
            <a:ext cx="8635452" cy="60625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300449"/>
            <a:ext cx="9966959" cy="522513"/>
          </a:xfrm>
        </p:spPr>
        <p:txBody>
          <a:bodyPr>
            <a:normAutofit fontScale="90000"/>
          </a:bodyPr>
          <a:lstStyle/>
          <a:p>
            <a:pPr algn="ctr">
              <a:defRPr/>
            </a:pPr>
            <a:r>
              <a:rPr lang="ru-RU" sz="2900" b="1">
                <a:solidFill>
                  <a:srgbClr val="222222"/>
                </a:solidFill>
                <a:latin typeface="Times New Roman"/>
                <a:ea typeface="Arial"/>
                <a:cs typeface="Arial"/>
              </a:rPr>
              <a:t>Возможности Postman</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600199" y="1528354"/>
            <a:ext cx="10476411" cy="5199015"/>
          </a:xfrm>
        </p:spPr>
        <p:txBody>
          <a:bodyPr>
            <a:noAutofit/>
          </a:bodyPr>
          <a:lstStyle/>
          <a:p>
            <a:pPr marL="0" indent="0" algn="just">
              <a:buNone/>
              <a:defRPr/>
            </a:pPr>
            <a:r>
              <a:rPr lang="ru-RU" sz="2400">
                <a:solidFill>
                  <a:srgbClr val="000000"/>
                </a:solidFill>
                <a:latin typeface="Times New Roman"/>
                <a:cs typeface="Times New Roman"/>
              </a:rPr>
              <a:t>Основные возможности программы:</a:t>
            </a:r>
            <a:endParaRPr lang="en-US" sz="2400">
              <a:solidFill>
                <a:srgbClr val="000000"/>
              </a:solidFill>
              <a:latin typeface="Times New Roman"/>
              <a:cs typeface="Times New Roman"/>
            </a:endParaRPr>
          </a:p>
          <a:p>
            <a:pPr marL="0" indent="0" algn="just">
              <a:buNone/>
              <a:defRPr/>
            </a:pPr>
            <a:endParaRPr lang="ru-RU" sz="2400">
              <a:solidFill>
                <a:srgbClr val="000000"/>
              </a:solidFill>
              <a:latin typeface="Times New Roman"/>
              <a:cs typeface="Times New Roman"/>
            </a:endParaRPr>
          </a:p>
          <a:p>
            <a:pPr algn="just">
              <a:defRPr/>
            </a:pPr>
            <a:r>
              <a:rPr lang="ru-RU" sz="2400">
                <a:solidFill>
                  <a:srgbClr val="000000"/>
                </a:solidFill>
                <a:latin typeface="Times New Roman"/>
                <a:cs typeface="Times New Roman"/>
              </a:rPr>
              <a:t>Создание и отправка запросов</a:t>
            </a:r>
            <a:endParaRPr/>
          </a:p>
          <a:p>
            <a:pPr algn="just">
              <a:defRPr/>
            </a:pPr>
            <a:r>
              <a:rPr lang="ru-RU" sz="2400">
                <a:solidFill>
                  <a:srgbClr val="000000"/>
                </a:solidFill>
                <a:latin typeface="Times New Roman"/>
                <a:cs typeface="Times New Roman"/>
              </a:rPr>
              <a:t> Изменение параметров запросов.</a:t>
            </a:r>
            <a:endParaRPr/>
          </a:p>
          <a:p>
            <a:pPr algn="just">
              <a:defRPr/>
            </a:pPr>
            <a:r>
              <a:rPr lang="ru-RU" sz="2400">
                <a:solidFill>
                  <a:srgbClr val="000000"/>
                </a:solidFill>
                <a:latin typeface="Times New Roman"/>
                <a:cs typeface="Times New Roman"/>
              </a:rPr>
              <a:t> Сохранение созданных запросы в коллекции и папках.</a:t>
            </a:r>
            <a:endParaRPr/>
          </a:p>
          <a:p>
            <a:pPr algn="just">
              <a:defRPr/>
            </a:pPr>
            <a:r>
              <a:rPr lang="ru-RU" sz="2400">
                <a:solidFill>
                  <a:srgbClr val="000000"/>
                </a:solidFill>
                <a:latin typeface="Times New Roman"/>
                <a:cs typeface="Times New Roman"/>
              </a:rPr>
              <a:t> Запуск автоматических тестов на основе коллекций при помощи Collection </a:t>
            </a:r>
            <a:r>
              <a:rPr lang="ru-RU" sz="2400">
                <a:solidFill>
                  <a:srgbClr val="000000"/>
                </a:solidFill>
                <a:latin typeface="Times New Roman"/>
                <a:cs typeface="Times New Roman"/>
              </a:rPr>
              <a:t>Runner</a:t>
            </a:r>
            <a:r>
              <a:rPr lang="ru-RU" sz="2400">
                <a:solidFill>
                  <a:srgbClr val="000000"/>
                </a:solidFill>
                <a:latin typeface="Times New Roman"/>
                <a:cs typeface="Times New Roman"/>
              </a:rPr>
              <a:t>.</a:t>
            </a:r>
            <a:endParaRPr/>
          </a:p>
          <a:p>
            <a:pPr algn="just">
              <a:defRPr/>
            </a:pPr>
            <a:r>
              <a:rPr lang="ru-RU" sz="2400">
                <a:solidFill>
                  <a:srgbClr val="000000"/>
                </a:solidFill>
                <a:latin typeface="Times New Roman"/>
                <a:cs typeface="Times New Roman"/>
              </a:rPr>
              <a:t> Изменение окружения для одинаковых запросов.</a:t>
            </a:r>
            <a:endParaRPr/>
          </a:p>
          <a:p>
            <a:pPr algn="just">
              <a:defRPr/>
            </a:pPr>
            <a:r>
              <a:rPr lang="ru-RU" sz="2400">
                <a:solidFill>
                  <a:srgbClr val="000000"/>
                </a:solidFill>
                <a:latin typeface="Times New Roman"/>
                <a:cs typeface="Times New Roman"/>
              </a:rPr>
              <a:t> Добавление контрольных точек к вызову API.</a:t>
            </a:r>
            <a:endParaRPr/>
          </a:p>
          <a:p>
            <a:pPr marL="0" indent="0" algn="just">
              <a:buNone/>
              <a:defRPr/>
            </a:pPr>
            <a:endParaRPr lang="en-US" sz="22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300449"/>
            <a:ext cx="9966959" cy="522513"/>
          </a:xfrm>
        </p:spPr>
        <p:txBody>
          <a:bodyPr>
            <a:normAutofit fontScale="90000"/>
          </a:bodyPr>
          <a:lstStyle/>
          <a:p>
            <a:pPr algn="ctr">
              <a:defRPr/>
            </a:pPr>
            <a:r>
              <a:rPr lang="ru-RU" sz="2900" b="1">
                <a:solidFill>
                  <a:srgbClr val="222222"/>
                </a:solidFill>
                <a:latin typeface="Times New Roman"/>
                <a:cs typeface="Arial"/>
              </a:rPr>
              <a:t>Как тестировать </a:t>
            </a:r>
            <a:r>
              <a:rPr lang="en-US" sz="2900" b="1">
                <a:solidFill>
                  <a:srgbClr val="222222"/>
                </a:solidFill>
                <a:latin typeface="Times New Roman"/>
                <a:cs typeface="Arial"/>
              </a:rPr>
              <a:t>API</a:t>
            </a:r>
            <a:br>
              <a:rPr lang="en-US" sz="1600" b="1" i="0">
                <a:solidFill>
                  <a:srgbClr val="0E0E0F"/>
                </a:solidFill>
                <a:latin typeface="Inter"/>
              </a:rPr>
            </a:b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600199" y="1528354"/>
            <a:ext cx="10476411" cy="5199015"/>
          </a:xfrm>
        </p:spPr>
        <p:txBody>
          <a:bodyPr>
            <a:noAutofit/>
          </a:bodyPr>
          <a:lstStyle/>
          <a:p>
            <a:pPr marL="0" indent="0" algn="just">
              <a:buNone/>
              <a:defRPr/>
            </a:pPr>
            <a:r>
              <a:rPr lang="ru-RU" sz="2400">
                <a:solidFill>
                  <a:srgbClr val="000000"/>
                </a:solidFill>
                <a:latin typeface="Times New Roman"/>
                <a:cs typeface="Times New Roman"/>
              </a:rPr>
              <a:t>Тестирование интерфейса API проводится путём анализа точности выходных данных в зависимости от подаваемых при входном запросе. Этим и занимается Postman: он составляет и отправляет их на указанные URL, получает обратно и сохраняет в базе данных. При желании возможно сохранение типовых запросов в коллекции (для быстрого доступа) и создание для них разного окружения.</a:t>
            </a:r>
            <a:endParaRPr lang="en-US" sz="24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a:p>
            <a:pPr marL="0" indent="0" algn="just">
              <a:buNone/>
              <a:defRPr/>
            </a:pPr>
            <a:r>
              <a:rPr lang="ru-RU" sz="2400">
                <a:solidFill>
                  <a:srgbClr val="000000"/>
                </a:solidFill>
                <a:latin typeface="Times New Roman"/>
                <a:cs typeface="Times New Roman"/>
              </a:rPr>
              <a:t>Руководство по тестированию с Postman для начинающих:</a:t>
            </a:r>
            <a:endParaRPr/>
          </a:p>
          <a:p>
            <a:pPr marL="0" indent="0" algn="just">
              <a:buNone/>
              <a:defRPr/>
            </a:pPr>
            <a:r>
              <a:rPr lang="en-US" sz="2400" u="sng">
                <a:solidFill>
                  <a:srgbClr val="000000"/>
                </a:solidFill>
                <a:latin typeface="Times New Roman"/>
                <a:cs typeface="Times New Roman"/>
                <a:hlinkClick r:id="rId2" tooltip="https://testengineer.ru/gajd-po-testirovaniyu-v-postman"/>
              </a:rPr>
              <a:t>https://testengineer.ru/gajd-po-testimonial-v-postman</a:t>
            </a:r>
            <a:endParaRPr lang="ru-RU" sz="2400">
              <a:solidFill>
                <a:srgbClr val="000000"/>
              </a:solidFill>
              <a:latin typeface="Times New Roman"/>
              <a:cs typeface="Times New Roman"/>
            </a:endParaRPr>
          </a:p>
          <a:p>
            <a:pPr marL="0" indent="0">
              <a:buNone/>
              <a:defRPr/>
            </a:pPr>
            <a:endParaRPr lang="en-US" sz="24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300449"/>
            <a:ext cx="9966959" cy="522513"/>
          </a:xfrm>
        </p:spPr>
        <p:txBody>
          <a:bodyPr>
            <a:normAutofit fontScale="90000"/>
          </a:bodyPr>
          <a:lstStyle/>
          <a:p>
            <a:pPr algn="ctr">
              <a:defRPr/>
            </a:pPr>
            <a:r>
              <a:rPr lang="ru-RU" sz="2600" b="1">
                <a:solidFill>
                  <a:srgbClr val="222222"/>
                </a:solidFill>
                <a:latin typeface="Times New Roman"/>
                <a:cs typeface="Arial"/>
              </a:rPr>
              <a:t>Интерфейс приложения </a:t>
            </a:r>
            <a:r>
              <a:rPr lang="en-US" sz="2600" b="1">
                <a:solidFill>
                  <a:srgbClr val="222222"/>
                </a:solidFill>
                <a:latin typeface="Times New Roman"/>
                <a:cs typeface="Arial"/>
              </a:rPr>
              <a:t>Postman</a:t>
            </a:r>
            <a:br>
              <a:rPr lang="en-US" sz="2600" b="1">
                <a:solidFill>
                  <a:srgbClr val="222222"/>
                </a:solidFill>
                <a:latin typeface="Times New Roman"/>
                <a:cs typeface="Arial"/>
              </a:rPr>
            </a:br>
            <a:br>
              <a:rPr lang="en-US" sz="2600" b="1">
                <a:solidFill>
                  <a:srgbClr val="222222"/>
                </a:solidFill>
                <a:latin typeface="Times New Roman"/>
                <a:cs typeface="Arial"/>
              </a:rPr>
            </a:br>
            <a:endParaRPr lang="ru-RU" sz="2600" b="1">
              <a:solidFill>
                <a:srgbClr val="222222"/>
              </a:solidFill>
              <a:latin typeface="Times New Roman"/>
              <a:cs typeface="Arial"/>
            </a:endParaRPr>
          </a:p>
        </p:txBody>
      </p:sp>
      <p:sp>
        <p:nvSpPr>
          <p:cNvPr id="3" name="Объект 2"/>
          <p:cNvSpPr>
            <a:spLocks noGrp="1"/>
          </p:cNvSpPr>
          <p:nvPr>
            <p:ph idx="1"/>
          </p:nvPr>
        </p:nvSpPr>
        <p:spPr bwMode="auto">
          <a:xfrm>
            <a:off x="3093088" y="2407524"/>
            <a:ext cx="8728797" cy="4150027"/>
          </a:xfrm>
        </p:spPr>
        <p:txBody>
          <a:bodyPr>
            <a:noAutofit/>
          </a:bodyPr>
          <a:lstStyle/>
          <a:p>
            <a:pPr marL="0" indent="0">
              <a:buNone/>
              <a:defRPr/>
            </a:pPr>
            <a:endParaRPr lang="en-US" sz="22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p:txBody>
      </p:sp>
      <p:pic>
        <p:nvPicPr>
          <p:cNvPr id="1026" name="Picture 2" descr="Интерфейс приложения Postman"/>
          <p:cNvPicPr>
            <a:picLocks noChangeAspect="1" noChangeArrowheads="1"/>
          </p:cNvPicPr>
          <p:nvPr/>
        </p:nvPicPr>
        <p:blipFill>
          <a:blip r:embed="rId2"/>
          <a:stretch/>
        </p:blipFill>
        <p:spPr bwMode="auto">
          <a:xfrm>
            <a:off x="1737360" y="980444"/>
            <a:ext cx="10158202" cy="5704730"/>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300449"/>
            <a:ext cx="9966959" cy="522513"/>
          </a:xfrm>
        </p:spPr>
        <p:txBody>
          <a:bodyPr>
            <a:normAutofit fontScale="90000"/>
          </a:bodyPr>
          <a:lstStyle/>
          <a:p>
            <a:pPr algn="ctr">
              <a:defRPr/>
            </a:pPr>
            <a:r>
              <a:rPr lang="ru-RU" sz="2900" b="1">
                <a:solidFill>
                  <a:srgbClr val="222222"/>
                </a:solidFill>
                <a:latin typeface="Times New Roman"/>
                <a:cs typeface="Arial"/>
              </a:rPr>
              <a:t>Интерфейс приложения </a:t>
            </a:r>
            <a:r>
              <a:rPr lang="en-US" sz="2900" b="1">
                <a:solidFill>
                  <a:srgbClr val="222222"/>
                </a:solidFill>
                <a:latin typeface="Times New Roman"/>
                <a:cs typeface="Arial"/>
              </a:rPr>
              <a:t>Postman</a:t>
            </a:r>
            <a:br>
              <a:rPr lang="en-US" sz="2600" b="1">
                <a:solidFill>
                  <a:srgbClr val="222222"/>
                </a:solidFill>
                <a:latin typeface="Times New Roman"/>
                <a:cs typeface="Arial"/>
              </a:rPr>
            </a:br>
            <a:br>
              <a:rPr lang="en-US" sz="2600" b="1">
                <a:solidFill>
                  <a:srgbClr val="222222"/>
                </a:solidFill>
                <a:latin typeface="Times New Roman"/>
                <a:cs typeface="Arial"/>
              </a:rPr>
            </a:br>
            <a:endParaRPr lang="ru-RU" sz="2600" b="1">
              <a:solidFill>
                <a:srgbClr val="222222"/>
              </a:solidFill>
              <a:latin typeface="Times New Roman"/>
              <a:cs typeface="Arial"/>
            </a:endParaRPr>
          </a:p>
        </p:txBody>
      </p:sp>
      <p:sp>
        <p:nvSpPr>
          <p:cNvPr id="3" name="Объект 2"/>
          <p:cNvSpPr>
            <a:spLocks noGrp="1"/>
          </p:cNvSpPr>
          <p:nvPr>
            <p:ph idx="1"/>
          </p:nvPr>
        </p:nvSpPr>
        <p:spPr bwMode="auto">
          <a:xfrm>
            <a:off x="1854926" y="1018903"/>
            <a:ext cx="9966959" cy="5538648"/>
          </a:xfrm>
        </p:spPr>
        <p:txBody>
          <a:bodyPr>
            <a:noAutofit/>
          </a:bodyPr>
          <a:lstStyle/>
          <a:p>
            <a:pPr marL="0" indent="0">
              <a:buNone/>
              <a:defRPr/>
            </a:pPr>
            <a:endParaRPr lang="en-US" sz="2200">
              <a:solidFill>
                <a:srgbClr val="000000"/>
              </a:solidFill>
              <a:latin typeface="Times New Roman"/>
              <a:cs typeface="Times New Roman"/>
            </a:endParaRPr>
          </a:p>
          <a:p>
            <a:pPr marL="0" indent="0">
              <a:buNone/>
              <a:defRPr/>
            </a:pPr>
            <a:endParaRPr lang="en-US" sz="2200">
              <a:solidFill>
                <a:srgbClr val="000000"/>
              </a:solidFill>
              <a:latin typeface="Times New Roman"/>
              <a:cs typeface="Times New Roman"/>
            </a:endParaRPr>
          </a:p>
        </p:txBody>
      </p:sp>
      <p:sp>
        <p:nvSpPr>
          <p:cNvPr id="6" name="TextBox 5"/>
          <p:cNvSpPr txBox="1"/>
          <p:nvPr/>
        </p:nvSpPr>
        <p:spPr bwMode="auto">
          <a:xfrm>
            <a:off x="1658983" y="1593670"/>
            <a:ext cx="10162901" cy="4154984"/>
          </a:xfrm>
          <a:prstGeom prst="rect">
            <a:avLst/>
          </a:prstGeom>
          <a:noFill/>
        </p:spPr>
        <p:txBody>
          <a:bodyPr wrap="square">
            <a:spAutoFit/>
          </a:bodyPr>
          <a:lstStyle/>
          <a:p>
            <a:pPr algn="l">
              <a:defRPr/>
            </a:pPr>
            <a:r>
              <a:rPr lang="ru-RU" sz="2400">
                <a:solidFill>
                  <a:srgbClr val="000000"/>
                </a:solidFill>
                <a:latin typeface="Times New Roman"/>
                <a:cs typeface="Times New Roman"/>
              </a:rPr>
              <a:t>Описание меню:</a:t>
            </a:r>
            <a:endParaRPr/>
          </a:p>
          <a:p>
            <a:pPr algn="l">
              <a:defRPr/>
            </a:pPr>
            <a:endParaRPr lang="ru-RU" sz="2400">
              <a:solidFill>
                <a:srgbClr val="000000"/>
              </a:solidFill>
              <a:latin typeface="Times New Roman"/>
              <a:cs typeface="Times New Roman"/>
            </a:endParaRPr>
          </a:p>
          <a:p>
            <a:pPr algn="just">
              <a:defRPr/>
            </a:pPr>
            <a:r>
              <a:rPr lang="ru-RU" sz="2400">
                <a:solidFill>
                  <a:srgbClr val="000000"/>
                </a:solidFill>
                <a:latin typeface="Times New Roman"/>
                <a:cs typeface="Times New Roman"/>
              </a:rPr>
              <a:t>1) Верхняя панель – здесь расположены основные настройки программы.</a:t>
            </a:r>
            <a:endParaRPr/>
          </a:p>
          <a:p>
            <a:pPr algn="just">
              <a:buFont typeface="+mj-lt"/>
              <a:buAutoNum type="arabicPeriod"/>
              <a:defRPr/>
            </a:pPr>
            <a:endParaRPr lang="ru-RU" sz="2400">
              <a:solidFill>
                <a:srgbClr val="000000"/>
              </a:solidFill>
              <a:latin typeface="Times New Roman"/>
              <a:cs typeface="Times New Roman"/>
            </a:endParaRPr>
          </a:p>
          <a:p>
            <a:pPr algn="just">
              <a:defRPr/>
            </a:pPr>
            <a:r>
              <a:rPr lang="ru-RU" sz="2400">
                <a:solidFill>
                  <a:srgbClr val="000000"/>
                </a:solidFill>
                <a:latin typeface="Times New Roman"/>
                <a:cs typeface="Times New Roman"/>
              </a:rPr>
              <a:t>2) Боковая панель – сюда выделены запросы, выполненные ранее или сохраненные в качестве «избранного».</a:t>
            </a:r>
            <a:endParaRPr/>
          </a:p>
          <a:p>
            <a:pPr algn="just">
              <a:defRPr/>
            </a:pPr>
            <a:endParaRPr lang="ru-RU" sz="2400">
              <a:solidFill>
                <a:srgbClr val="000000"/>
              </a:solidFill>
              <a:latin typeface="Times New Roman"/>
              <a:cs typeface="Times New Roman"/>
            </a:endParaRPr>
          </a:p>
          <a:p>
            <a:pPr algn="just">
              <a:defRPr/>
            </a:pPr>
            <a:r>
              <a:rPr lang="ru-RU" sz="2400">
                <a:solidFill>
                  <a:srgbClr val="000000"/>
                </a:solidFill>
                <a:latin typeface="Times New Roman"/>
                <a:cs typeface="Times New Roman"/>
              </a:rPr>
              <a:t>3) Панель вкладок – инструмент переключения между разными запросами.</a:t>
            </a:r>
            <a:endParaRPr/>
          </a:p>
          <a:p>
            <a:pPr algn="just">
              <a:defRPr/>
            </a:pPr>
            <a:endParaRPr lang="ru-RU" sz="2400">
              <a:solidFill>
                <a:srgbClr val="000000"/>
              </a:solidFill>
              <a:latin typeface="Times New Roman"/>
              <a:cs typeface="Times New Roman"/>
            </a:endParaRPr>
          </a:p>
          <a:p>
            <a:pPr algn="just">
              <a:defRPr/>
            </a:pPr>
            <a:r>
              <a:rPr lang="ru-RU" sz="2400">
                <a:solidFill>
                  <a:srgbClr val="000000"/>
                </a:solidFill>
                <a:latin typeface="Times New Roman"/>
                <a:cs typeface="Times New Roman"/>
              </a:rPr>
              <a:t>4) Рабочая область – все базовые настройки отправленного запроса, перечень возвращаемых по нему данных.</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235134"/>
            <a:ext cx="9966959" cy="522513"/>
          </a:xfrm>
        </p:spPr>
        <p:txBody>
          <a:bodyPr>
            <a:normAutofit fontScale="90000"/>
          </a:bodyPr>
          <a:lstStyle/>
          <a:p>
            <a:pPr algn="ctr">
              <a:defRPr/>
            </a:pPr>
            <a:r>
              <a:rPr lang="ru-RU" sz="2900" b="1">
                <a:solidFill>
                  <a:srgbClr val="222222"/>
                </a:solidFill>
                <a:latin typeface="Times New Roman"/>
                <a:cs typeface="Arial"/>
              </a:rPr>
              <a:t>Выполнение запроса в </a:t>
            </a:r>
            <a:r>
              <a:rPr lang="en-US" sz="2900" b="1">
                <a:solidFill>
                  <a:srgbClr val="222222"/>
                </a:solidFill>
                <a:latin typeface="Times New Roman"/>
                <a:cs typeface="Arial"/>
              </a:rPr>
              <a:t>Postman</a:t>
            </a:r>
            <a:br>
              <a:rPr lang="en-US" sz="2600" b="1">
                <a:solidFill>
                  <a:srgbClr val="222222"/>
                </a:solidFill>
                <a:latin typeface="Times New Roman"/>
                <a:cs typeface="Arial"/>
              </a:rPr>
            </a:br>
            <a:br>
              <a:rPr lang="en-US" sz="2600" b="1">
                <a:solidFill>
                  <a:srgbClr val="222222"/>
                </a:solidFill>
                <a:latin typeface="Times New Roman"/>
                <a:cs typeface="Arial"/>
              </a:rPr>
            </a:br>
            <a:endParaRPr lang="ru-RU" sz="2600" b="1">
              <a:solidFill>
                <a:srgbClr val="222222"/>
              </a:solidFill>
              <a:latin typeface="Times New Roman"/>
              <a:cs typeface="Arial"/>
            </a:endParaRPr>
          </a:p>
        </p:txBody>
      </p:sp>
      <p:pic>
        <p:nvPicPr>
          <p:cNvPr id="2052" name="Picture 4" descr="Выполнение запроса в Postman"/>
          <p:cNvPicPr>
            <a:picLocks noChangeAspect="1" noChangeArrowheads="1" noGrp="1"/>
          </p:cNvPicPr>
          <p:nvPr>
            <p:ph idx="1"/>
          </p:nvPr>
        </p:nvPicPr>
        <p:blipFill>
          <a:blip r:embed="rId2"/>
          <a:stretch/>
        </p:blipFill>
        <p:spPr bwMode="auto">
          <a:xfrm>
            <a:off x="1693981" y="814423"/>
            <a:ext cx="10232407" cy="5766933"/>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235134"/>
            <a:ext cx="9966959" cy="522513"/>
          </a:xfrm>
        </p:spPr>
        <p:txBody>
          <a:bodyPr>
            <a:normAutofit fontScale="90000"/>
          </a:bodyPr>
          <a:lstStyle/>
          <a:p>
            <a:pPr algn="ctr">
              <a:defRPr/>
            </a:pPr>
            <a:r>
              <a:rPr lang="ru-RU" sz="2900" b="1">
                <a:solidFill>
                  <a:srgbClr val="222222"/>
                </a:solidFill>
                <a:latin typeface="Times New Roman"/>
                <a:cs typeface="Arial"/>
              </a:rPr>
              <a:t>Передача параметров в </a:t>
            </a:r>
            <a:r>
              <a:rPr lang="en-US" sz="2900" b="1">
                <a:solidFill>
                  <a:srgbClr val="222222"/>
                </a:solidFill>
                <a:latin typeface="Times New Roman"/>
                <a:cs typeface="Arial"/>
              </a:rPr>
              <a:t>Postman</a:t>
            </a:r>
            <a:br>
              <a:rPr lang="en-US" sz="2600" b="1">
                <a:solidFill>
                  <a:srgbClr val="222222"/>
                </a:solidFill>
                <a:latin typeface="Times New Roman"/>
                <a:cs typeface="Arial"/>
              </a:rPr>
            </a:br>
            <a:br>
              <a:rPr lang="en-US" sz="2600" b="1">
                <a:solidFill>
                  <a:srgbClr val="222222"/>
                </a:solidFill>
                <a:latin typeface="Times New Roman"/>
                <a:cs typeface="Arial"/>
              </a:rPr>
            </a:br>
            <a:endParaRPr lang="ru-RU" sz="2600" b="1">
              <a:solidFill>
                <a:srgbClr val="222222"/>
              </a:solidFill>
              <a:latin typeface="Times New Roman"/>
              <a:cs typeface="Arial"/>
            </a:endParaRPr>
          </a:p>
        </p:txBody>
      </p:sp>
      <p:pic>
        <p:nvPicPr>
          <p:cNvPr id="3074" name="Picture 2" descr="Передача параметров"/>
          <p:cNvPicPr>
            <a:picLocks noChangeAspect="1" noChangeArrowheads="1" noGrp="1"/>
          </p:cNvPicPr>
          <p:nvPr>
            <p:ph idx="1"/>
          </p:nvPr>
        </p:nvPicPr>
        <p:blipFill>
          <a:blip r:embed="rId2"/>
          <a:stretch/>
        </p:blipFill>
        <p:spPr bwMode="auto">
          <a:xfrm>
            <a:off x="1767476" y="888603"/>
            <a:ext cx="10154754" cy="5734267"/>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235134"/>
            <a:ext cx="9966959" cy="522513"/>
          </a:xfrm>
        </p:spPr>
        <p:txBody>
          <a:bodyPr>
            <a:normAutofit fontScale="90000"/>
          </a:bodyPr>
          <a:lstStyle/>
          <a:p>
            <a:pPr algn="ctr">
              <a:defRPr/>
            </a:pPr>
            <a:r>
              <a:rPr lang="ru-RU" sz="2900" b="1">
                <a:solidFill>
                  <a:srgbClr val="222222"/>
                </a:solidFill>
                <a:latin typeface="Times New Roman"/>
                <a:cs typeface="Arial"/>
              </a:rPr>
              <a:t>Параметризация запросов в </a:t>
            </a:r>
            <a:r>
              <a:rPr lang="en-US" sz="2900" b="1">
                <a:solidFill>
                  <a:srgbClr val="222222"/>
                </a:solidFill>
                <a:latin typeface="Times New Roman"/>
                <a:cs typeface="Arial"/>
              </a:rPr>
              <a:t>Postman</a:t>
            </a:r>
            <a:br>
              <a:rPr lang="en-US" sz="2600" b="1">
                <a:solidFill>
                  <a:srgbClr val="222222"/>
                </a:solidFill>
                <a:latin typeface="Times New Roman"/>
                <a:cs typeface="Arial"/>
              </a:rPr>
            </a:br>
            <a:br>
              <a:rPr lang="en-US" sz="2600" b="1">
                <a:solidFill>
                  <a:srgbClr val="222222"/>
                </a:solidFill>
                <a:latin typeface="Times New Roman"/>
                <a:cs typeface="Arial"/>
              </a:rPr>
            </a:br>
            <a:endParaRPr lang="ru-RU" sz="2600" b="1">
              <a:solidFill>
                <a:srgbClr val="222222"/>
              </a:solidFill>
              <a:latin typeface="Times New Roman"/>
              <a:cs typeface="Arial"/>
            </a:endParaRPr>
          </a:p>
        </p:txBody>
      </p:sp>
      <p:sp>
        <p:nvSpPr>
          <p:cNvPr id="3" name="Объект 2"/>
          <p:cNvSpPr>
            <a:spLocks noGrp="1"/>
          </p:cNvSpPr>
          <p:nvPr>
            <p:ph idx="1"/>
          </p:nvPr>
        </p:nvSpPr>
        <p:spPr bwMode="auto">
          <a:xfrm>
            <a:off x="1537653" y="940526"/>
            <a:ext cx="10440987" cy="5682340"/>
          </a:xfrm>
        </p:spPr>
        <p:txBody>
          <a:bodyPr>
            <a:normAutofit/>
          </a:bodyPr>
          <a:lstStyle/>
          <a:p>
            <a:pPr marL="0" algn="just">
              <a:defRPr/>
            </a:pPr>
            <a:r>
              <a:rPr lang="ru-RU" sz="2400">
                <a:solidFill>
                  <a:srgbClr val="000000"/>
                </a:solidFill>
                <a:latin typeface="Times New Roman"/>
                <a:cs typeface="Times New Roman"/>
              </a:rPr>
              <a:t>Часто необходимо выполнить один и тот же запрос на разных наборах данных. С помощью параметризации, можно использовать переменные при выполнении запросов.</a:t>
            </a:r>
            <a:endParaRPr/>
          </a:p>
          <a:p>
            <a:pPr marL="0" indent="0" algn="just">
              <a:buNone/>
              <a:defRPr/>
            </a:pPr>
            <a:r>
              <a:rPr lang="ru-RU" sz="2400">
                <a:solidFill>
                  <a:srgbClr val="000000"/>
                </a:solidFill>
                <a:latin typeface="Times New Roman"/>
                <a:cs typeface="Times New Roman"/>
              </a:rPr>
              <a:t>В Postman, параметры создаются с помощью двойных скобок: </a:t>
            </a:r>
            <a:r>
              <a:rPr lang="ru-RU" sz="2400" b="1" i="1">
                <a:solidFill>
                  <a:srgbClr val="000000"/>
                </a:solidFill>
                <a:latin typeface="Times New Roman"/>
                <a:cs typeface="Times New Roman"/>
              </a:rPr>
              <a:t>{{</a:t>
            </a:r>
            <a:r>
              <a:rPr lang="ru-RU" sz="2400" b="1" i="1">
                <a:solidFill>
                  <a:srgbClr val="000000"/>
                </a:solidFill>
                <a:latin typeface="Times New Roman"/>
                <a:cs typeface="Times New Roman"/>
              </a:rPr>
              <a:t>test</a:t>
            </a:r>
            <a:r>
              <a:rPr lang="ru-RU" sz="2400" b="1" i="1">
                <a:solidFill>
                  <a:srgbClr val="000000"/>
                </a:solidFill>
                <a:latin typeface="Times New Roman"/>
                <a:cs typeface="Times New Roman"/>
              </a:rPr>
              <a:t>}}</a:t>
            </a:r>
            <a:r>
              <a:rPr lang="ru-RU" sz="2400">
                <a:solidFill>
                  <a:srgbClr val="000000"/>
                </a:solidFill>
                <a:latin typeface="Times New Roman"/>
                <a:cs typeface="Times New Roman"/>
              </a:rPr>
              <a:t>.</a:t>
            </a:r>
            <a:endParaRPr/>
          </a:p>
          <a:p>
            <a:pPr marL="0" indent="0" algn="just">
              <a:buNone/>
              <a:defRPr/>
            </a:pPr>
            <a:r>
              <a:rPr lang="ru-RU" sz="2400">
                <a:solidFill>
                  <a:srgbClr val="000000"/>
                </a:solidFill>
                <a:latin typeface="Times New Roman"/>
                <a:cs typeface="Times New Roman"/>
              </a:rPr>
              <a:t>Например, наш </a:t>
            </a:r>
            <a:r>
              <a:rPr lang="ru-RU" sz="2400">
                <a:solidFill>
                  <a:srgbClr val="000000"/>
                </a:solidFill>
                <a:latin typeface="Times New Roman"/>
                <a:cs typeface="Times New Roman"/>
              </a:rPr>
              <a:t>base</a:t>
            </a:r>
            <a:r>
              <a:rPr lang="ru-RU" sz="2400">
                <a:solidFill>
                  <a:srgbClr val="000000"/>
                </a:solidFill>
                <a:latin typeface="Times New Roman"/>
                <a:cs typeface="Times New Roman"/>
              </a:rPr>
              <a:t> URL — </a:t>
            </a:r>
            <a:r>
              <a:rPr lang="ru-RU" sz="2400" b="1">
                <a:solidFill>
                  <a:srgbClr val="000000"/>
                </a:solidFill>
                <a:latin typeface="Times New Roman"/>
                <a:cs typeface="Times New Roman"/>
              </a:rPr>
              <a:t>https://testengineer.ru </a:t>
            </a:r>
            <a:r>
              <a:rPr lang="ru-RU" sz="2400">
                <a:solidFill>
                  <a:srgbClr val="000000"/>
                </a:solidFill>
                <a:latin typeface="Times New Roman"/>
                <a:cs typeface="Times New Roman"/>
              </a:rPr>
              <a:t>и мы сохраняем это значение в переменной с именем </a:t>
            </a:r>
            <a:r>
              <a:rPr lang="ru-RU" sz="2400" b="1">
                <a:solidFill>
                  <a:srgbClr val="000000"/>
                </a:solidFill>
                <a:latin typeface="Times New Roman"/>
                <a:cs typeface="Times New Roman"/>
              </a:rPr>
              <a:t>base_url</a:t>
            </a:r>
            <a:r>
              <a:rPr lang="ru-RU" sz="2400">
                <a:solidFill>
                  <a:srgbClr val="000000"/>
                </a:solidFill>
                <a:latin typeface="Times New Roman"/>
                <a:cs typeface="Times New Roman"/>
              </a:rPr>
              <a:t>. В этом случае, мы можем обратиться к этой переменной из запроса, написав </a:t>
            </a:r>
            <a:r>
              <a:rPr lang="ru-RU" sz="2400" b="1" i="1">
                <a:solidFill>
                  <a:srgbClr val="000000"/>
                </a:solidFill>
                <a:latin typeface="Times New Roman"/>
                <a:cs typeface="Times New Roman"/>
              </a:rPr>
              <a:t>{{</a:t>
            </a:r>
            <a:r>
              <a:rPr lang="ru-RU" sz="2400" b="1" i="1">
                <a:solidFill>
                  <a:srgbClr val="000000"/>
                </a:solidFill>
                <a:latin typeface="Times New Roman"/>
                <a:cs typeface="Times New Roman"/>
              </a:rPr>
              <a:t>base_url</a:t>
            </a:r>
            <a:r>
              <a:rPr lang="ru-RU" sz="2400" b="1" i="1">
                <a:solidFill>
                  <a:srgbClr val="000000"/>
                </a:solidFill>
                <a:latin typeface="Times New Roman"/>
                <a:cs typeface="Times New Roman"/>
              </a:rPr>
              <a:t>}}</a:t>
            </a:r>
            <a:r>
              <a:rPr lang="ru-RU" sz="2400">
                <a:solidFill>
                  <a:srgbClr val="000000"/>
                </a:solidFill>
                <a:latin typeface="Times New Roman"/>
                <a:cs typeface="Times New Roman"/>
              </a:rPr>
              <a:t>. Для того, чтобы отправить запрос на этот URL, мы подставим эту переменную в запрос. Выглядеть это будет так: </a:t>
            </a:r>
            <a:r>
              <a:rPr lang="ru-RU" sz="2400" b="1" i="1">
                <a:solidFill>
                  <a:srgbClr val="000000"/>
                </a:solidFill>
                <a:latin typeface="Times New Roman"/>
                <a:cs typeface="Times New Roman"/>
              </a:rPr>
              <a:t>{{</a:t>
            </a:r>
            <a:r>
              <a:rPr lang="ru-RU" sz="2400" b="1" i="1">
                <a:solidFill>
                  <a:srgbClr val="000000"/>
                </a:solidFill>
                <a:latin typeface="Times New Roman"/>
                <a:cs typeface="Times New Roman"/>
              </a:rPr>
              <a:t>base_url</a:t>
            </a:r>
            <a:r>
              <a:rPr lang="ru-RU" sz="2400" b="1" i="1">
                <a:solidFill>
                  <a:srgbClr val="000000"/>
                </a:solidFill>
                <a:latin typeface="Times New Roman"/>
                <a:cs typeface="Times New Roman"/>
              </a:rPr>
              <a:t>}}/</a:t>
            </a:r>
            <a:r>
              <a:rPr lang="ru-RU" sz="2400" b="1" i="1">
                <a:solidFill>
                  <a:srgbClr val="000000"/>
                </a:solidFill>
                <a:latin typeface="Times New Roman"/>
                <a:cs typeface="Times New Roman"/>
              </a:rPr>
              <a:t>get?customers</a:t>
            </a:r>
            <a:r>
              <a:rPr lang="ru-RU" sz="2400" b="1" i="1">
                <a:solidFill>
                  <a:srgbClr val="000000"/>
                </a:solidFill>
                <a:latin typeface="Times New Roman"/>
                <a:cs typeface="Times New Roman"/>
              </a:rPr>
              <a:t>=</a:t>
            </a:r>
            <a:r>
              <a:rPr lang="ru-RU" sz="2400" b="1" i="1">
                <a:solidFill>
                  <a:srgbClr val="000000"/>
                </a:solidFill>
                <a:latin typeface="Times New Roman"/>
                <a:cs typeface="Times New Roman"/>
              </a:rPr>
              <a:t>new</a:t>
            </a:r>
            <a:r>
              <a:rPr lang="ru-RU" sz="2400">
                <a:solidFill>
                  <a:srgbClr val="000000"/>
                </a:solidFill>
                <a:latin typeface="Times New Roman"/>
                <a:cs typeface="Times New Roman"/>
              </a:rPr>
              <a:t>. Запрос будет отправлен на </a:t>
            </a:r>
            <a:r>
              <a:rPr lang="ru-RU" sz="2400" b="1">
                <a:solidFill>
                  <a:srgbClr val="000000"/>
                </a:solidFill>
                <a:latin typeface="Times New Roman"/>
                <a:cs typeface="Times New Roman"/>
              </a:rPr>
              <a:t>https://testengineer.ru/get?customers=new</a:t>
            </a:r>
            <a:endParaRPr/>
          </a:p>
          <a:p>
            <a:pPr marL="0" indent="0" algn="just">
              <a:buNone/>
              <a:defRPr/>
            </a:pPr>
            <a:r>
              <a:rPr lang="ru-RU" sz="2400">
                <a:solidFill>
                  <a:srgbClr val="000000"/>
                </a:solidFill>
                <a:latin typeface="Times New Roman"/>
                <a:cs typeface="Times New Roman"/>
              </a:rPr>
              <a:t>Если все сделано правильно, значение переменной, которую мы создали, будет подставлено вместо ее имени и запрос выполнится успешно.</a:t>
            </a:r>
            <a:endParaRPr/>
          </a:p>
          <a:p>
            <a:pPr marL="0" indent="0" algn="just">
              <a:buNone/>
              <a:defRPr/>
            </a:pPr>
            <a:r>
              <a:rPr lang="ru-RU" sz="2400" b="1" i="1">
                <a:solidFill>
                  <a:srgbClr val="000000"/>
                </a:solidFill>
                <a:latin typeface="Times New Roman"/>
                <a:cs typeface="Times New Roman"/>
              </a:rPr>
              <a:t>Подробнее</a:t>
            </a:r>
            <a:r>
              <a:rPr lang="ru-RU" sz="2400">
                <a:solidFill>
                  <a:srgbClr val="000000"/>
                </a:solidFill>
                <a:latin typeface="Times New Roman"/>
                <a:cs typeface="Times New Roman"/>
              </a:rPr>
              <a:t>: </a:t>
            </a:r>
            <a:r>
              <a:rPr lang="en-US" sz="2400" u="sng">
                <a:solidFill>
                  <a:srgbClr val="000000"/>
                </a:solidFill>
                <a:latin typeface="Times New Roman"/>
                <a:cs typeface="Times New Roman"/>
                <a:hlinkClick r:id="rId2" tooltip="https://testengineer.ru/gajd-po-testirovaniyu-v-postman/#parametrizing"/>
              </a:rPr>
              <a:t>https://testengineer.ru/gajd-po-testirovaniyu-v-postman/#parametrizing</a:t>
            </a:r>
            <a:endParaRPr lang="ru-RU" sz="2400">
              <a:solidFill>
                <a:srgbClr val="000000"/>
              </a:solidFill>
              <a:latin typeface="Times New Roman"/>
              <a:cs typeface="Times New Roman"/>
            </a:endParaRPr>
          </a:p>
          <a:p>
            <a:pPr marL="0" indent="0" algn="just">
              <a:buNone/>
              <a:defRPr/>
            </a:pP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91440"/>
            <a:ext cx="9966959" cy="862149"/>
          </a:xfrm>
        </p:spPr>
        <p:txBody>
          <a:bodyPr>
            <a:normAutofit fontScale="90000"/>
          </a:bodyPr>
          <a:lstStyle/>
          <a:p>
            <a:pPr algn="ctr">
              <a:defRPr/>
            </a:pPr>
            <a:r>
              <a:rPr lang="ru-RU" sz="2900" b="1">
                <a:solidFill>
                  <a:srgbClr val="222222"/>
                </a:solidFill>
                <a:latin typeface="Times New Roman"/>
                <a:cs typeface="Arial"/>
              </a:rPr>
              <a:t>Пример получения курса валют с ЦБР</a:t>
            </a:r>
            <a:br>
              <a:rPr lang="ru-RU" sz="2900" b="1">
                <a:solidFill>
                  <a:srgbClr val="222222"/>
                </a:solidFill>
                <a:latin typeface="Times New Roman"/>
                <a:cs typeface="Arial"/>
              </a:rPr>
            </a:br>
            <a:r>
              <a:rPr lang="en-US" sz="2200" b="1">
                <a:solidFill>
                  <a:srgbClr val="222222"/>
                </a:solidFill>
                <a:latin typeface="Times New Roman"/>
                <a:cs typeface="Times New Roman"/>
              </a:rPr>
              <a:t>GET-</a:t>
            </a:r>
            <a:r>
              <a:rPr lang="ru-RU" sz="2200" b="1">
                <a:solidFill>
                  <a:srgbClr val="222222"/>
                </a:solidFill>
                <a:latin typeface="Times New Roman"/>
                <a:cs typeface="Times New Roman"/>
              </a:rPr>
              <a:t>запрос </a:t>
            </a:r>
            <a:r>
              <a:rPr lang="en-US" sz="2200" b="0" i="0">
                <a:solidFill>
                  <a:srgbClr val="212121"/>
                </a:solidFill>
                <a:latin typeface="Times New Roman"/>
                <a:cs typeface="Times New Roman"/>
              </a:rPr>
              <a:t>https://www.cbr.ru/scripts/XML_daily.asp?date_req=28/02/2024</a:t>
            </a:r>
            <a:br>
              <a:rPr lang="en-US" sz="2600" b="1">
                <a:solidFill>
                  <a:srgbClr val="222222"/>
                </a:solidFill>
                <a:latin typeface="Times New Roman"/>
                <a:cs typeface="Arial"/>
              </a:rPr>
            </a:br>
            <a:br>
              <a:rPr lang="en-US" sz="2600" b="1">
                <a:solidFill>
                  <a:srgbClr val="222222"/>
                </a:solidFill>
                <a:latin typeface="Times New Roman"/>
                <a:cs typeface="Arial"/>
              </a:rPr>
            </a:br>
            <a:endParaRPr lang="ru-RU" sz="2600" b="1">
              <a:solidFill>
                <a:srgbClr val="222222"/>
              </a:solidFill>
              <a:latin typeface="Times New Roman"/>
              <a:cs typeface="Arial"/>
            </a:endParaRPr>
          </a:p>
        </p:txBody>
      </p:sp>
      <p:pic>
        <p:nvPicPr>
          <p:cNvPr id="7" name="Объект 6"/>
          <p:cNvPicPr>
            <a:picLocks noChangeAspect="1" noGrp="1"/>
          </p:cNvPicPr>
          <p:nvPr>
            <p:ph idx="1"/>
          </p:nvPr>
        </p:nvPicPr>
        <p:blipFill>
          <a:blip r:embed="rId2"/>
          <a:stretch/>
        </p:blipFill>
        <p:spPr bwMode="auto">
          <a:xfrm>
            <a:off x="1664597" y="1045033"/>
            <a:ext cx="10372648" cy="560396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91440"/>
            <a:ext cx="9966959" cy="862149"/>
          </a:xfrm>
        </p:spPr>
        <p:txBody>
          <a:bodyPr>
            <a:normAutofit fontScale="90000"/>
          </a:bodyPr>
          <a:lstStyle/>
          <a:p>
            <a:pPr algn="ctr">
              <a:defRPr/>
            </a:pPr>
            <a:r>
              <a:rPr lang="ru-RU" sz="2900" b="1">
                <a:solidFill>
                  <a:srgbClr val="222222"/>
                </a:solidFill>
                <a:latin typeface="Times New Roman"/>
                <a:cs typeface="Arial"/>
              </a:rPr>
              <a:t>Пример получения прогноза погоды</a:t>
            </a:r>
            <a:br>
              <a:rPr lang="ru-RU" sz="2900" b="1">
                <a:solidFill>
                  <a:srgbClr val="222222"/>
                </a:solidFill>
                <a:latin typeface="Times New Roman"/>
                <a:cs typeface="Arial"/>
              </a:rPr>
            </a:br>
            <a:r>
              <a:rPr lang="en-US" sz="2200" b="1">
                <a:solidFill>
                  <a:srgbClr val="222222"/>
                </a:solidFill>
                <a:latin typeface="Times New Roman"/>
                <a:cs typeface="Times New Roman"/>
              </a:rPr>
              <a:t>GET-</a:t>
            </a:r>
            <a:r>
              <a:rPr lang="ru-RU" sz="1300" b="1">
                <a:solidFill>
                  <a:srgbClr val="222222"/>
                </a:solidFill>
                <a:latin typeface="Times New Roman"/>
                <a:cs typeface="Times New Roman"/>
              </a:rPr>
              <a:t>запрос </a:t>
            </a:r>
            <a:r>
              <a:rPr lang="en-US" sz="1300" b="0" i="0">
                <a:solidFill>
                  <a:srgbClr val="212121"/>
                </a:solidFill>
                <a:latin typeface="Times New Roman"/>
                <a:cs typeface="Times New Roman"/>
              </a:rPr>
              <a:t>https://api.openweathermap.org/data/2.5/weather?q=Krasnodar,RU&amp;appid=2959d797169df3e83032e9d9432b9854&amp;units=metric&amp;lang=ru</a:t>
            </a:r>
            <a:br>
              <a:rPr lang="en-US" sz="1300" b="1">
                <a:solidFill>
                  <a:srgbClr val="222222"/>
                </a:solidFill>
                <a:latin typeface="Times New Roman"/>
                <a:cs typeface="Times New Roman"/>
              </a:rPr>
            </a:br>
            <a:br>
              <a:rPr lang="en-US" sz="1300" b="1">
                <a:solidFill>
                  <a:srgbClr val="222222"/>
                </a:solidFill>
                <a:latin typeface="Times New Roman"/>
                <a:cs typeface="Times New Roman"/>
              </a:rPr>
            </a:br>
            <a:endParaRPr lang="ru-RU" sz="1300" b="1">
              <a:solidFill>
                <a:srgbClr val="222222"/>
              </a:solidFill>
              <a:latin typeface="Times New Roman"/>
              <a:cs typeface="Times New Roman"/>
            </a:endParaRPr>
          </a:p>
        </p:txBody>
      </p:sp>
      <p:pic>
        <p:nvPicPr>
          <p:cNvPr id="6" name="Объект 5"/>
          <p:cNvPicPr>
            <a:picLocks noChangeAspect="1" noGrp="1"/>
          </p:cNvPicPr>
          <p:nvPr>
            <p:ph idx="1"/>
          </p:nvPr>
        </p:nvPicPr>
        <p:blipFill>
          <a:blip r:embed="rId2"/>
          <a:stretch/>
        </p:blipFill>
        <p:spPr bwMode="auto">
          <a:xfrm>
            <a:off x="1731844" y="975360"/>
            <a:ext cx="10220670" cy="574632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ru-RU" sz="2900" b="1">
                <a:solidFill>
                  <a:srgbClr val="222222"/>
                </a:solidFill>
                <a:latin typeface="Times New Roman"/>
                <a:cs typeface="Arial"/>
              </a:rPr>
              <a:t>Создание тестов в </a:t>
            </a:r>
            <a:r>
              <a:rPr lang="en-US" sz="2900" b="1">
                <a:solidFill>
                  <a:srgbClr val="222222"/>
                </a:solidFill>
                <a:latin typeface="Times New Roman"/>
                <a:cs typeface="Arial"/>
              </a:rPr>
              <a:t>Postman</a:t>
            </a:r>
            <a:br>
              <a:rPr lang="en-US" sz="2600" b="1">
                <a:solidFill>
                  <a:srgbClr val="222222"/>
                </a:solidFill>
                <a:latin typeface="Times New Roman"/>
                <a:cs typeface="Arial"/>
              </a:rPr>
            </a:br>
            <a:br>
              <a:rPr lang="en-US" sz="2600" b="1">
                <a:solidFill>
                  <a:srgbClr val="222222"/>
                </a:solidFill>
                <a:latin typeface="Times New Roman"/>
                <a:cs typeface="Arial"/>
              </a:rPr>
            </a:br>
            <a:endParaRPr lang="ru-RU" sz="2600" b="1">
              <a:solidFill>
                <a:srgbClr val="222222"/>
              </a:solidFill>
              <a:latin typeface="Times New Roman"/>
              <a:cs typeface="Arial"/>
            </a:endParaRPr>
          </a:p>
        </p:txBody>
      </p:sp>
      <p:sp>
        <p:nvSpPr>
          <p:cNvPr id="3" name="Объект 2"/>
          <p:cNvSpPr>
            <a:spLocks noGrp="1"/>
          </p:cNvSpPr>
          <p:nvPr>
            <p:ph idx="1"/>
          </p:nvPr>
        </p:nvSpPr>
        <p:spPr bwMode="auto">
          <a:xfrm>
            <a:off x="1537653" y="574767"/>
            <a:ext cx="10493238" cy="6191794"/>
          </a:xfrm>
        </p:spPr>
        <p:txBody>
          <a:bodyPr>
            <a:normAutofit fontScale="70000" lnSpcReduction="20000"/>
          </a:bodyPr>
          <a:lstStyle/>
          <a:p>
            <a:pPr marL="0" indent="0" algn="just">
              <a:buNone/>
              <a:defRPr/>
            </a:pPr>
            <a:r>
              <a:rPr lang="ru-RU" sz="2400">
                <a:solidFill>
                  <a:srgbClr val="000000"/>
                </a:solidFill>
                <a:latin typeface="Times New Roman"/>
                <a:cs typeface="Times New Roman"/>
              </a:rPr>
              <a:t>Тесты в Postman позволяют убедиться, что API работает так, как этого от него ожидают. Давайте начнем с написания простого теста.</a:t>
            </a:r>
            <a:endParaRPr/>
          </a:p>
          <a:p>
            <a:pPr algn="just">
              <a:defRPr/>
            </a:pPr>
            <a:r>
              <a:rPr lang="ru-RU" sz="2400" b="1">
                <a:solidFill>
                  <a:srgbClr val="000000"/>
                </a:solidFill>
                <a:latin typeface="Times New Roman"/>
                <a:cs typeface="Times New Roman"/>
              </a:rPr>
              <a:t>Шаг 1</a:t>
            </a:r>
            <a:r>
              <a:rPr lang="ru-RU" sz="2400">
                <a:solidFill>
                  <a:srgbClr val="000000"/>
                </a:solidFill>
                <a:latin typeface="Times New Roman"/>
                <a:cs typeface="Times New Roman"/>
              </a:rPr>
              <a:t>: Возвращаемся к GET-запросу, который мы создали ранее и переключаемся во вкладку Tests (Тесты). В секции </a:t>
            </a:r>
            <a:r>
              <a:rPr lang="ru-RU" sz="2400">
                <a:solidFill>
                  <a:srgbClr val="000000"/>
                </a:solidFill>
                <a:latin typeface="Times New Roman"/>
                <a:cs typeface="Times New Roman"/>
              </a:rPr>
              <a:t>сниппетов</a:t>
            </a:r>
            <a:r>
              <a:rPr lang="ru-RU" sz="2400">
                <a:solidFill>
                  <a:srgbClr val="000000"/>
                </a:solidFill>
                <a:latin typeface="Times New Roman"/>
                <a:cs typeface="Times New Roman"/>
              </a:rPr>
              <a:t> нажимаем на сниппет «</a:t>
            </a:r>
            <a:r>
              <a:rPr lang="ru-RU" sz="2400">
                <a:solidFill>
                  <a:srgbClr val="000000"/>
                </a:solidFill>
                <a:latin typeface="Times New Roman"/>
                <a:cs typeface="Times New Roman"/>
              </a:rPr>
              <a:t>Status</a:t>
            </a:r>
            <a:r>
              <a:rPr lang="ru-RU" sz="2400">
                <a:solidFill>
                  <a:srgbClr val="000000"/>
                </a:solidFill>
                <a:latin typeface="Times New Roman"/>
                <a:cs typeface="Times New Roman"/>
              </a:rPr>
              <a:t> </a:t>
            </a:r>
            <a:r>
              <a:rPr lang="ru-RU" sz="2400">
                <a:solidFill>
                  <a:srgbClr val="000000"/>
                </a:solidFill>
                <a:latin typeface="Times New Roman"/>
                <a:cs typeface="Times New Roman"/>
              </a:rPr>
              <a:t>code</a:t>
            </a:r>
            <a:r>
              <a:rPr lang="ru-RU" sz="2400">
                <a:solidFill>
                  <a:srgbClr val="000000"/>
                </a:solidFill>
                <a:latin typeface="Times New Roman"/>
                <a:cs typeface="Times New Roman"/>
              </a:rPr>
              <a:t>: Code </a:t>
            </a:r>
            <a:r>
              <a:rPr lang="ru-RU" sz="2400">
                <a:solidFill>
                  <a:srgbClr val="000000"/>
                </a:solidFill>
                <a:latin typeface="Times New Roman"/>
                <a:cs typeface="Times New Roman"/>
              </a:rPr>
              <a:t>is</a:t>
            </a:r>
            <a:r>
              <a:rPr lang="ru-RU" sz="2400">
                <a:solidFill>
                  <a:srgbClr val="000000"/>
                </a:solidFill>
                <a:latin typeface="Times New Roman"/>
                <a:cs typeface="Times New Roman"/>
              </a:rPr>
              <a:t> 200». В окне теста появится скрипт. Этот скрипт будет проверять, что запрос возвращает код ответа 200.</a:t>
            </a:r>
            <a:endParaRPr/>
          </a:p>
          <a:p>
            <a:pPr algn="just">
              <a:defRPr/>
            </a:pPr>
            <a:r>
              <a:rPr lang="ru-RU" sz="2400" b="1">
                <a:solidFill>
                  <a:srgbClr val="000000"/>
                </a:solidFill>
                <a:latin typeface="Times New Roman"/>
                <a:cs typeface="Times New Roman"/>
              </a:rPr>
              <a:t>Шаг 2</a:t>
            </a:r>
            <a:r>
              <a:rPr lang="ru-RU" sz="2400">
                <a:solidFill>
                  <a:srgbClr val="000000"/>
                </a:solidFill>
                <a:latin typeface="Times New Roman"/>
                <a:cs typeface="Times New Roman"/>
              </a:rPr>
              <a:t>: Нажмите кнопку Send (Отправить). В нижней части окна вы увидите результат выполнения теста (в нашем случае он выполнился успешно).</a:t>
            </a:r>
            <a:endParaRPr/>
          </a:p>
          <a:p>
            <a:pPr algn="just">
              <a:defRPr/>
            </a:pPr>
            <a:r>
              <a:rPr lang="ru-RU" sz="2400" b="1">
                <a:solidFill>
                  <a:srgbClr val="000000"/>
                </a:solidFill>
                <a:latin typeface="Times New Roman"/>
                <a:cs typeface="Times New Roman"/>
              </a:rPr>
              <a:t>Шаг 3</a:t>
            </a:r>
            <a:r>
              <a:rPr lang="ru-RU" sz="2400">
                <a:solidFill>
                  <a:srgbClr val="000000"/>
                </a:solidFill>
                <a:latin typeface="Times New Roman"/>
                <a:cs typeface="Times New Roman"/>
              </a:rPr>
              <a:t>: Давайте добавим еще один тест. В этот тесте мы будем сравнивать полученный результат с ожидаемым. Чтобы это сделать, выбираем сниппет с названием «Response </a:t>
            </a:r>
            <a:r>
              <a:rPr lang="ru-RU" sz="2400">
                <a:solidFill>
                  <a:srgbClr val="000000"/>
                </a:solidFill>
                <a:latin typeface="Times New Roman"/>
                <a:cs typeface="Times New Roman"/>
              </a:rPr>
              <a:t>body:JSON</a:t>
            </a:r>
            <a:r>
              <a:rPr lang="ru-RU" sz="2400">
                <a:solidFill>
                  <a:srgbClr val="000000"/>
                </a:solidFill>
                <a:latin typeface="Times New Roman"/>
                <a:cs typeface="Times New Roman"/>
              </a:rPr>
              <a:t> </a:t>
            </a:r>
            <a:r>
              <a:rPr lang="ru-RU" sz="2400">
                <a:solidFill>
                  <a:srgbClr val="000000"/>
                </a:solidFill>
                <a:latin typeface="Times New Roman"/>
                <a:cs typeface="Times New Roman"/>
              </a:rPr>
              <a:t>value</a:t>
            </a:r>
            <a:r>
              <a:rPr lang="ru-RU" sz="2400">
                <a:solidFill>
                  <a:srgbClr val="000000"/>
                </a:solidFill>
                <a:latin typeface="Times New Roman"/>
                <a:cs typeface="Times New Roman"/>
              </a:rPr>
              <a:t> </a:t>
            </a:r>
            <a:r>
              <a:rPr lang="ru-RU" sz="2400">
                <a:solidFill>
                  <a:srgbClr val="000000"/>
                </a:solidFill>
                <a:latin typeface="Times New Roman"/>
                <a:cs typeface="Times New Roman"/>
              </a:rPr>
              <a:t>check</a:t>
            </a:r>
            <a:r>
              <a:rPr lang="ru-RU" sz="2400">
                <a:solidFill>
                  <a:srgbClr val="000000"/>
                </a:solidFill>
                <a:latin typeface="Times New Roman"/>
                <a:cs typeface="Times New Roman"/>
              </a:rPr>
              <a:t>». Давайте проверим, что пользователь с именем </a:t>
            </a:r>
            <a:r>
              <a:rPr lang="ru-RU" sz="2400">
                <a:solidFill>
                  <a:srgbClr val="000000"/>
                </a:solidFill>
                <a:latin typeface="Times New Roman"/>
                <a:cs typeface="Times New Roman"/>
              </a:rPr>
              <a:t>Leanne</a:t>
            </a:r>
            <a:r>
              <a:rPr lang="ru-RU" sz="2400">
                <a:solidFill>
                  <a:srgbClr val="000000"/>
                </a:solidFill>
                <a:latin typeface="Times New Roman"/>
                <a:cs typeface="Times New Roman"/>
              </a:rPr>
              <a:t> </a:t>
            </a:r>
            <a:r>
              <a:rPr lang="ru-RU" sz="2400">
                <a:solidFill>
                  <a:srgbClr val="000000"/>
                </a:solidFill>
                <a:latin typeface="Times New Roman"/>
                <a:cs typeface="Times New Roman"/>
              </a:rPr>
              <a:t>Graham</a:t>
            </a:r>
            <a:r>
              <a:rPr lang="ru-RU" sz="2400">
                <a:solidFill>
                  <a:srgbClr val="000000"/>
                </a:solidFill>
                <a:latin typeface="Times New Roman"/>
                <a:cs typeface="Times New Roman"/>
              </a:rPr>
              <a:t> имеет </a:t>
            </a:r>
            <a:r>
              <a:rPr lang="ru-RU" sz="2400">
                <a:solidFill>
                  <a:srgbClr val="000000"/>
                </a:solidFill>
                <a:latin typeface="Times New Roman"/>
                <a:cs typeface="Times New Roman"/>
              </a:rPr>
              <a:t>userid</a:t>
            </a:r>
            <a:r>
              <a:rPr lang="ru-RU" sz="2400">
                <a:solidFill>
                  <a:srgbClr val="000000"/>
                </a:solidFill>
                <a:latin typeface="Times New Roman"/>
                <a:cs typeface="Times New Roman"/>
              </a:rPr>
              <a:t> 1.</a:t>
            </a:r>
            <a:endParaRPr/>
          </a:p>
          <a:p>
            <a:pPr algn="just">
              <a:defRPr/>
            </a:pPr>
            <a:r>
              <a:rPr lang="ru-RU" sz="2400" b="1">
                <a:solidFill>
                  <a:srgbClr val="000000"/>
                </a:solidFill>
                <a:latin typeface="Times New Roman"/>
                <a:cs typeface="Times New Roman"/>
              </a:rPr>
              <a:t>Шаг 4</a:t>
            </a:r>
            <a:r>
              <a:rPr lang="ru-RU" sz="2400">
                <a:solidFill>
                  <a:srgbClr val="000000"/>
                </a:solidFill>
                <a:latin typeface="Times New Roman"/>
                <a:cs typeface="Times New Roman"/>
              </a:rPr>
              <a:t>: Заменим название теста на что-то более понятное: вместо «Your </a:t>
            </a:r>
            <a:r>
              <a:rPr lang="ru-RU" sz="2400">
                <a:solidFill>
                  <a:srgbClr val="000000"/>
                </a:solidFill>
                <a:latin typeface="Times New Roman"/>
                <a:cs typeface="Times New Roman"/>
              </a:rPr>
              <a:t>test</a:t>
            </a:r>
            <a:r>
              <a:rPr lang="ru-RU" sz="2400">
                <a:solidFill>
                  <a:srgbClr val="000000"/>
                </a:solidFill>
                <a:latin typeface="Times New Roman"/>
                <a:cs typeface="Times New Roman"/>
              </a:rPr>
              <a:t> </a:t>
            </a:r>
            <a:r>
              <a:rPr lang="ru-RU" sz="2400">
                <a:solidFill>
                  <a:srgbClr val="000000"/>
                </a:solidFill>
                <a:latin typeface="Times New Roman"/>
                <a:cs typeface="Times New Roman"/>
              </a:rPr>
              <a:t>name</a:t>
            </a:r>
            <a:r>
              <a:rPr lang="ru-RU" sz="2400">
                <a:solidFill>
                  <a:srgbClr val="000000"/>
                </a:solidFill>
                <a:latin typeface="Times New Roman"/>
                <a:cs typeface="Times New Roman"/>
              </a:rPr>
              <a:t>» напишем «Check </a:t>
            </a:r>
            <a:r>
              <a:rPr lang="ru-RU" sz="2400">
                <a:solidFill>
                  <a:srgbClr val="000000"/>
                </a:solidFill>
                <a:latin typeface="Times New Roman"/>
                <a:cs typeface="Times New Roman"/>
              </a:rPr>
              <a:t>if</a:t>
            </a:r>
            <a:r>
              <a:rPr lang="ru-RU" sz="2400">
                <a:solidFill>
                  <a:srgbClr val="000000"/>
                </a:solidFill>
                <a:latin typeface="Times New Roman"/>
                <a:cs typeface="Times New Roman"/>
              </a:rPr>
              <a:t> </a:t>
            </a:r>
            <a:r>
              <a:rPr lang="ru-RU" sz="2400">
                <a:solidFill>
                  <a:srgbClr val="000000"/>
                </a:solidFill>
                <a:latin typeface="Times New Roman"/>
                <a:cs typeface="Times New Roman"/>
              </a:rPr>
              <a:t>Leanne</a:t>
            </a:r>
            <a:r>
              <a:rPr lang="ru-RU" sz="2400">
                <a:solidFill>
                  <a:srgbClr val="000000"/>
                </a:solidFill>
                <a:latin typeface="Times New Roman"/>
                <a:cs typeface="Times New Roman"/>
              </a:rPr>
              <a:t> </a:t>
            </a:r>
            <a:r>
              <a:rPr lang="ru-RU" sz="2400">
                <a:solidFill>
                  <a:srgbClr val="000000"/>
                </a:solidFill>
                <a:latin typeface="Times New Roman"/>
                <a:cs typeface="Times New Roman"/>
              </a:rPr>
              <a:t>Graham</a:t>
            </a:r>
            <a:r>
              <a:rPr lang="ru-RU" sz="2400">
                <a:solidFill>
                  <a:srgbClr val="000000"/>
                </a:solidFill>
                <a:latin typeface="Times New Roman"/>
                <a:cs typeface="Times New Roman"/>
              </a:rPr>
              <a:t> </a:t>
            </a:r>
            <a:r>
              <a:rPr lang="ru-RU" sz="2400">
                <a:solidFill>
                  <a:srgbClr val="000000"/>
                </a:solidFill>
                <a:latin typeface="Times New Roman"/>
                <a:cs typeface="Times New Roman"/>
              </a:rPr>
              <a:t>has</a:t>
            </a:r>
            <a:r>
              <a:rPr lang="ru-RU" sz="2400">
                <a:solidFill>
                  <a:srgbClr val="000000"/>
                </a:solidFill>
                <a:latin typeface="Times New Roman"/>
                <a:cs typeface="Times New Roman"/>
              </a:rPr>
              <a:t> </a:t>
            </a:r>
            <a:r>
              <a:rPr lang="ru-RU" sz="2400">
                <a:solidFill>
                  <a:srgbClr val="000000"/>
                </a:solidFill>
                <a:latin typeface="Times New Roman"/>
                <a:cs typeface="Times New Roman"/>
              </a:rPr>
              <a:t>the</a:t>
            </a:r>
            <a:r>
              <a:rPr lang="ru-RU" sz="2400">
                <a:solidFill>
                  <a:srgbClr val="000000"/>
                </a:solidFill>
                <a:latin typeface="Times New Roman"/>
                <a:cs typeface="Times New Roman"/>
              </a:rPr>
              <a:t> </a:t>
            </a:r>
            <a:r>
              <a:rPr lang="ru-RU" sz="2400">
                <a:solidFill>
                  <a:srgbClr val="000000"/>
                </a:solidFill>
                <a:latin typeface="Times New Roman"/>
                <a:cs typeface="Times New Roman"/>
              </a:rPr>
              <a:t>userid</a:t>
            </a:r>
            <a:r>
              <a:rPr lang="ru-RU" sz="2400">
                <a:solidFill>
                  <a:srgbClr val="000000"/>
                </a:solidFill>
                <a:latin typeface="Times New Roman"/>
                <a:cs typeface="Times New Roman"/>
              </a:rPr>
              <a:t> 1». Также заменим </a:t>
            </a:r>
            <a:r>
              <a:rPr lang="en-US" sz="2400">
                <a:solidFill>
                  <a:srgbClr val="000000"/>
                </a:solidFill>
                <a:latin typeface="Times New Roman"/>
                <a:cs typeface="Times New Roman"/>
              </a:rPr>
              <a:t>jsonData.value</a:t>
            </a:r>
            <a:r>
              <a:rPr lang="en-US" sz="2400">
                <a:solidFill>
                  <a:srgbClr val="000000"/>
                </a:solidFill>
                <a:latin typeface="Times New Roman"/>
                <a:cs typeface="Times New Roman"/>
              </a:rPr>
              <a:t> </a:t>
            </a:r>
            <a:r>
              <a:rPr lang="ru-RU" sz="2400">
                <a:solidFill>
                  <a:srgbClr val="000000"/>
                </a:solidFill>
                <a:latin typeface="Times New Roman"/>
                <a:cs typeface="Times New Roman"/>
              </a:rPr>
              <a:t>на </a:t>
            </a:r>
            <a:r>
              <a:rPr lang="en-US" sz="2400">
                <a:solidFill>
                  <a:srgbClr val="000000"/>
                </a:solidFill>
                <a:latin typeface="Times New Roman"/>
                <a:cs typeface="Times New Roman"/>
              </a:rPr>
              <a:t>jsonData</a:t>
            </a:r>
            <a:r>
              <a:rPr lang="en-US" sz="2400">
                <a:solidFill>
                  <a:srgbClr val="000000"/>
                </a:solidFill>
                <a:latin typeface="Times New Roman"/>
                <a:cs typeface="Times New Roman"/>
              </a:rPr>
              <a:t>[0].name </a:t>
            </a:r>
            <a:r>
              <a:rPr lang="ru-RU" sz="2400">
                <a:solidFill>
                  <a:srgbClr val="000000"/>
                </a:solidFill>
                <a:latin typeface="Times New Roman"/>
                <a:cs typeface="Times New Roman"/>
              </a:rPr>
              <a:t>(массивы начинаются с 0).</a:t>
            </a:r>
            <a:endParaRPr/>
          </a:p>
          <a:p>
            <a:pPr marL="0" indent="0" algn="ctr">
              <a:buNone/>
              <a:defRPr/>
            </a:pPr>
            <a:r>
              <a:rPr lang="ru-RU" sz="2400">
                <a:solidFill>
                  <a:srgbClr val="000000"/>
                </a:solidFill>
                <a:latin typeface="Times New Roman"/>
                <a:cs typeface="Times New Roman"/>
              </a:rPr>
              <a:t>Код теста будет выглядеть следующим образом:</a:t>
            </a:r>
            <a:endParaRPr/>
          </a:p>
          <a:p>
            <a:pPr marL="0" indent="0" algn="l">
              <a:buNone/>
              <a:defRPr/>
            </a:pPr>
            <a:r>
              <a:rPr lang="en-US" sz="2400">
                <a:solidFill>
                  <a:srgbClr val="000000"/>
                </a:solidFill>
                <a:latin typeface="Times New Roman"/>
                <a:cs typeface="Times New Roman"/>
              </a:rPr>
              <a:t>pm.test</a:t>
            </a:r>
            <a:r>
              <a:rPr lang="en-US" sz="2400">
                <a:solidFill>
                  <a:srgbClr val="000000"/>
                </a:solidFill>
                <a:latin typeface="Times New Roman"/>
                <a:cs typeface="Times New Roman"/>
              </a:rPr>
              <a:t>("Check if user with id1 is Leanne Graham", function () {</a:t>
            </a:r>
            <a:endParaRPr lang="ru-RU" sz="2400">
              <a:solidFill>
                <a:srgbClr val="000000"/>
              </a:solidFill>
              <a:latin typeface="Times New Roman"/>
              <a:cs typeface="Times New Roman"/>
            </a:endParaRPr>
          </a:p>
          <a:p>
            <a:pPr marL="0" indent="0" algn="l">
              <a:buNone/>
              <a:defRPr/>
            </a:pPr>
            <a:r>
              <a:rPr lang="ru-RU" sz="2400">
                <a:solidFill>
                  <a:srgbClr val="000000"/>
                </a:solidFill>
                <a:latin typeface="Times New Roman"/>
                <a:cs typeface="Times New Roman"/>
              </a:rPr>
              <a:t>              </a:t>
            </a:r>
            <a:r>
              <a:rPr lang="en-US" sz="2400">
                <a:solidFill>
                  <a:srgbClr val="000000"/>
                </a:solidFill>
                <a:latin typeface="Times New Roman"/>
                <a:cs typeface="Times New Roman"/>
              </a:rPr>
              <a:t> var </a:t>
            </a:r>
            <a:r>
              <a:rPr lang="en-US" sz="2400">
                <a:solidFill>
                  <a:srgbClr val="000000"/>
                </a:solidFill>
                <a:latin typeface="Times New Roman"/>
                <a:cs typeface="Times New Roman"/>
              </a:rPr>
              <a:t>jsonData</a:t>
            </a:r>
            <a:r>
              <a:rPr lang="en-US" sz="2400">
                <a:solidFill>
                  <a:srgbClr val="000000"/>
                </a:solidFill>
                <a:latin typeface="Times New Roman"/>
                <a:cs typeface="Times New Roman"/>
              </a:rPr>
              <a:t> = </a:t>
            </a:r>
            <a:r>
              <a:rPr lang="en-US" sz="2400">
                <a:solidFill>
                  <a:srgbClr val="000000"/>
                </a:solidFill>
                <a:latin typeface="Times New Roman"/>
                <a:cs typeface="Times New Roman"/>
              </a:rPr>
              <a:t>pm.response.json</a:t>
            </a:r>
            <a:r>
              <a:rPr lang="en-US" sz="2400">
                <a:solidFill>
                  <a:srgbClr val="000000"/>
                </a:solidFill>
                <a:latin typeface="Times New Roman"/>
                <a:cs typeface="Times New Roman"/>
              </a:rPr>
              <a:t>();</a:t>
            </a:r>
            <a:endParaRPr lang="ru-RU" sz="2400">
              <a:solidFill>
                <a:srgbClr val="000000"/>
              </a:solidFill>
              <a:latin typeface="Times New Roman"/>
              <a:cs typeface="Times New Roman"/>
            </a:endParaRPr>
          </a:p>
          <a:p>
            <a:pPr marL="0" indent="0" algn="l">
              <a:buNone/>
              <a:defRPr/>
            </a:pPr>
            <a:r>
              <a:rPr lang="ru-RU" sz="2400">
                <a:solidFill>
                  <a:srgbClr val="000000"/>
                </a:solidFill>
                <a:latin typeface="Times New Roman"/>
                <a:cs typeface="Times New Roman"/>
              </a:rPr>
              <a:t>              </a:t>
            </a:r>
            <a:r>
              <a:rPr lang="en-US" sz="2400">
                <a:solidFill>
                  <a:srgbClr val="000000"/>
                </a:solidFill>
                <a:latin typeface="Times New Roman"/>
                <a:cs typeface="Times New Roman"/>
              </a:rPr>
              <a:t> </a:t>
            </a:r>
            <a:r>
              <a:rPr lang="en-US" sz="2400">
                <a:solidFill>
                  <a:srgbClr val="000000"/>
                </a:solidFill>
                <a:latin typeface="Times New Roman"/>
                <a:cs typeface="Times New Roman"/>
              </a:rPr>
              <a:t>pm.expect</a:t>
            </a:r>
            <a:r>
              <a:rPr lang="en-US" sz="2400">
                <a:solidFill>
                  <a:srgbClr val="000000"/>
                </a:solidFill>
                <a:latin typeface="Times New Roman"/>
                <a:cs typeface="Times New Roman"/>
              </a:rPr>
              <a:t>(</a:t>
            </a:r>
            <a:r>
              <a:rPr lang="en-US" sz="2400">
                <a:solidFill>
                  <a:srgbClr val="000000"/>
                </a:solidFill>
                <a:latin typeface="Times New Roman"/>
                <a:cs typeface="Times New Roman"/>
              </a:rPr>
              <a:t>jsonData</a:t>
            </a:r>
            <a:r>
              <a:rPr lang="en-US" sz="2400">
                <a:solidFill>
                  <a:srgbClr val="000000"/>
                </a:solidFill>
                <a:latin typeface="Times New Roman"/>
                <a:cs typeface="Times New Roman"/>
              </a:rPr>
              <a:t>[0].name).</a:t>
            </a:r>
            <a:r>
              <a:rPr lang="en-US" sz="2400">
                <a:solidFill>
                  <a:srgbClr val="000000"/>
                </a:solidFill>
                <a:latin typeface="Times New Roman"/>
                <a:cs typeface="Times New Roman"/>
              </a:rPr>
              <a:t>to.eql</a:t>
            </a:r>
            <a:r>
              <a:rPr lang="en-US" sz="2400">
                <a:solidFill>
                  <a:srgbClr val="000000"/>
                </a:solidFill>
                <a:latin typeface="Times New Roman"/>
                <a:cs typeface="Times New Roman"/>
              </a:rPr>
              <a:t>("Leanne Graham");</a:t>
            </a:r>
            <a:endParaRPr lang="ru-RU" sz="2400">
              <a:solidFill>
                <a:srgbClr val="000000"/>
              </a:solidFill>
              <a:latin typeface="Times New Roman"/>
              <a:cs typeface="Times New Roman"/>
            </a:endParaRPr>
          </a:p>
          <a:p>
            <a:pPr marL="0" indent="0" algn="l">
              <a:buNone/>
              <a:defRPr/>
            </a:pPr>
            <a:r>
              <a:rPr lang="en-US" sz="2400">
                <a:solidFill>
                  <a:srgbClr val="000000"/>
                </a:solidFill>
                <a:latin typeface="Times New Roman"/>
                <a:cs typeface="Times New Roman"/>
              </a:rPr>
              <a:t> });</a:t>
            </a:r>
            <a:endParaRPr/>
          </a:p>
          <a:p>
            <a:pPr algn="l">
              <a:defRPr/>
            </a:pPr>
            <a:r>
              <a:rPr lang="ru-RU" sz="2400" b="1">
                <a:solidFill>
                  <a:srgbClr val="000000"/>
                </a:solidFill>
                <a:latin typeface="Times New Roman"/>
                <a:cs typeface="Times New Roman"/>
              </a:rPr>
              <a:t>Шаг 5</a:t>
            </a:r>
            <a:r>
              <a:rPr lang="ru-RU" sz="2400">
                <a:solidFill>
                  <a:srgbClr val="000000"/>
                </a:solidFill>
                <a:latin typeface="Times New Roman"/>
                <a:cs typeface="Times New Roman"/>
              </a:rPr>
              <a:t>: Нажимаем </a:t>
            </a:r>
            <a:r>
              <a:rPr lang="en-US" sz="2400">
                <a:solidFill>
                  <a:srgbClr val="000000"/>
                </a:solidFill>
                <a:latin typeface="Times New Roman"/>
                <a:cs typeface="Times New Roman"/>
              </a:rPr>
              <a:t>Send (</a:t>
            </a:r>
            <a:r>
              <a:rPr lang="ru-RU" sz="2400">
                <a:solidFill>
                  <a:srgbClr val="000000"/>
                </a:solidFill>
                <a:latin typeface="Times New Roman"/>
                <a:cs typeface="Times New Roman"/>
              </a:rPr>
              <a:t>Отправить).</a:t>
            </a:r>
            <a:endParaRPr/>
          </a:p>
          <a:p>
            <a:pPr marL="0" indent="0" algn="l">
              <a:buNone/>
              <a:defRPr/>
            </a:pPr>
            <a:endParaRPr lang="ru-RU" sz="2400">
              <a:solidFill>
                <a:srgbClr val="000000"/>
              </a:solidFill>
              <a:latin typeface="Times New Roman"/>
              <a:cs typeface="Times New Roman"/>
            </a:endParaRPr>
          </a:p>
          <a:p>
            <a:pPr marL="0" indent="0" algn="r">
              <a:buNone/>
              <a:defRPr/>
            </a:pPr>
            <a:r>
              <a:rPr lang="ru-RU" sz="2400" b="1" i="1">
                <a:solidFill>
                  <a:srgbClr val="000000"/>
                </a:solidFill>
                <a:latin typeface="Times New Roman"/>
                <a:cs typeface="Times New Roman"/>
              </a:rPr>
              <a:t>Подробнее</a:t>
            </a:r>
            <a:r>
              <a:rPr lang="ru-RU" sz="2400">
                <a:solidFill>
                  <a:srgbClr val="000000"/>
                </a:solidFill>
                <a:latin typeface="Times New Roman"/>
                <a:cs typeface="Times New Roman"/>
              </a:rPr>
              <a:t>: </a:t>
            </a:r>
            <a:r>
              <a:rPr lang="en-US" sz="2400" u="sng">
                <a:solidFill>
                  <a:srgbClr val="000000"/>
                </a:solidFill>
                <a:latin typeface="Times New Roman"/>
                <a:cs typeface="Times New Roman"/>
                <a:hlinkClick r:id="rId2" tooltip="https://testengineer.ru/gajd-po-testirovaniyu-v-postman/#test-create"/>
              </a:rPr>
              <a:t>https://testengineer.ru/gajd-po-testirovaniyu-v-postman/#test-create</a:t>
            </a: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ru-RU" sz="2900" b="1">
                <a:solidFill>
                  <a:srgbClr val="222222"/>
                </a:solidFill>
                <a:latin typeface="Times New Roman"/>
                <a:cs typeface="Arial"/>
              </a:rPr>
              <a:t>Примеры тестовых сценариев </a:t>
            </a:r>
            <a:r>
              <a:rPr lang="en-US" sz="2900" b="1">
                <a:solidFill>
                  <a:srgbClr val="222222"/>
                </a:solidFill>
                <a:latin typeface="Times New Roman"/>
                <a:cs typeface="Arial"/>
              </a:rPr>
              <a:t>Postman</a:t>
            </a:r>
            <a:br>
              <a:rPr lang="en-US" sz="2600" b="1">
                <a:solidFill>
                  <a:srgbClr val="222222"/>
                </a:solidFill>
                <a:latin typeface="Times New Roman"/>
                <a:cs typeface="Arial"/>
              </a:rPr>
            </a:br>
            <a:br>
              <a:rPr lang="en-US" sz="2600" b="1">
                <a:solidFill>
                  <a:srgbClr val="222222"/>
                </a:solidFill>
                <a:latin typeface="Times New Roman"/>
                <a:cs typeface="Arial"/>
              </a:rPr>
            </a:br>
            <a:endParaRPr lang="ru-RU" sz="2600" b="1">
              <a:solidFill>
                <a:srgbClr val="222222"/>
              </a:solidFill>
              <a:latin typeface="Times New Roman"/>
              <a:cs typeface="Arial"/>
            </a:endParaRPr>
          </a:p>
        </p:txBody>
      </p:sp>
      <p:sp>
        <p:nvSpPr>
          <p:cNvPr id="3" name="Объект 2"/>
          <p:cNvSpPr>
            <a:spLocks noGrp="1"/>
          </p:cNvSpPr>
          <p:nvPr>
            <p:ph idx="1"/>
          </p:nvPr>
        </p:nvSpPr>
        <p:spPr bwMode="auto">
          <a:xfrm>
            <a:off x="1537653" y="574767"/>
            <a:ext cx="10493238" cy="6191794"/>
          </a:xfrm>
        </p:spPr>
        <p:txBody>
          <a:bodyPr>
            <a:normAutofit fontScale="92500" lnSpcReduction="10000"/>
          </a:bodyPr>
          <a:lstStyle/>
          <a:p>
            <a:pPr marL="0" indent="0" algn="just">
              <a:buNone/>
              <a:defRPr/>
            </a:pPr>
            <a:r>
              <a:rPr lang="ru-RU" sz="2400">
                <a:solidFill>
                  <a:srgbClr val="000000"/>
                </a:solidFill>
                <a:latin typeface="Times New Roman"/>
                <a:cs typeface="Times New Roman"/>
              </a:rPr>
              <a:t>Postman предоставляет API-интерфейсы JavaScript, которые вы можете использовать в своих сценариях запросов. Объект </a:t>
            </a:r>
            <a:r>
              <a:rPr lang="ru-RU" sz="2400">
                <a:solidFill>
                  <a:srgbClr val="000000"/>
                </a:solidFill>
                <a:latin typeface="Times New Roman"/>
                <a:cs typeface="Times New Roman"/>
              </a:rPr>
              <a:t>pm</a:t>
            </a:r>
            <a:r>
              <a:rPr lang="ru-RU" sz="2400">
                <a:solidFill>
                  <a:srgbClr val="000000"/>
                </a:solidFill>
                <a:latin typeface="Times New Roman"/>
                <a:cs typeface="Times New Roman"/>
              </a:rPr>
              <a:t> предоставляет большую часть функциональных возможностей для тестирования данных запроса и ответа, а объект </a:t>
            </a:r>
            <a:r>
              <a:rPr lang="ru-RU" sz="2400">
                <a:solidFill>
                  <a:srgbClr val="000000"/>
                </a:solidFill>
                <a:latin typeface="Times New Roman"/>
                <a:cs typeface="Times New Roman"/>
              </a:rPr>
              <a:t>postman</a:t>
            </a:r>
            <a:r>
              <a:rPr lang="ru-RU" sz="2400">
                <a:solidFill>
                  <a:srgbClr val="000000"/>
                </a:solidFill>
                <a:latin typeface="Times New Roman"/>
                <a:cs typeface="Times New Roman"/>
              </a:rPr>
              <a:t> обеспечивает некоторый дополнительный контроль рабочего процесса.</a:t>
            </a:r>
            <a:endParaRPr/>
          </a:p>
          <a:p>
            <a:pPr marL="0" indent="0" algn="just">
              <a:buNone/>
              <a:defRPr/>
            </a:pPr>
            <a:r>
              <a:rPr lang="ru-RU" sz="2400">
                <a:solidFill>
                  <a:srgbClr val="000000"/>
                </a:solidFill>
                <a:latin typeface="Times New Roman"/>
                <a:cs typeface="Times New Roman"/>
              </a:rPr>
              <a:t>Вы можете использовать вкладку Tests в своих запросах и коллекциях для написания тестов, которые будут выполняться, когда Postman получит ответ от API, которому вы отправили запрос. Вы можете добавить столько тестов, сколько вам нужно для каждого запроса. Когда вы добавляете тесты в </a:t>
            </a:r>
            <a:r>
              <a:rPr lang="ru-RU" sz="2400">
                <a:solidFill>
                  <a:srgbClr val="000000"/>
                </a:solidFill>
                <a:latin typeface="Times New Roman"/>
                <a:cs typeface="Times New Roman"/>
              </a:rPr>
              <a:t>Collections</a:t>
            </a:r>
            <a:r>
              <a:rPr lang="ru-RU" sz="2400">
                <a:solidFill>
                  <a:srgbClr val="000000"/>
                </a:solidFill>
                <a:latin typeface="Times New Roman"/>
                <a:cs typeface="Times New Roman"/>
              </a:rPr>
              <a:t>, они будут выполняться после каждого запроса внутри неё.</a:t>
            </a:r>
            <a:endParaRPr/>
          </a:p>
          <a:p>
            <a:pPr marL="0" indent="0" algn="just">
              <a:buNone/>
              <a:defRPr/>
            </a:pPr>
            <a:r>
              <a:rPr lang="ru-RU" sz="2400">
                <a:solidFill>
                  <a:srgbClr val="000000"/>
                </a:solidFill>
                <a:latin typeface="Times New Roman"/>
                <a:cs typeface="Times New Roman"/>
              </a:rPr>
              <a:t>Чтобы попробовать написать тестовый сценарий в первый раз, откройте запрос в приложении Postman и откройте вкладку </a:t>
            </a:r>
            <a:r>
              <a:rPr lang="ru-RU" sz="2400" b="1">
                <a:solidFill>
                  <a:srgbClr val="000000"/>
                </a:solidFill>
                <a:latin typeface="Times New Roman"/>
                <a:cs typeface="Times New Roman"/>
              </a:rPr>
              <a:t>Tests</a:t>
            </a:r>
            <a:r>
              <a:rPr lang="ru-RU" sz="2400">
                <a:solidFill>
                  <a:srgbClr val="000000"/>
                </a:solidFill>
                <a:latin typeface="Times New Roman"/>
                <a:cs typeface="Times New Roman"/>
              </a:rPr>
              <a:t>. Введите следующий код JavaScript и нажмите </a:t>
            </a:r>
            <a:r>
              <a:rPr lang="en-US" sz="2400">
                <a:solidFill>
                  <a:srgbClr val="000000"/>
                </a:solidFill>
                <a:latin typeface="Times New Roman"/>
                <a:cs typeface="Times New Roman"/>
              </a:rPr>
              <a:t>Send</a:t>
            </a:r>
            <a:r>
              <a:rPr lang="ru-RU" sz="2400">
                <a:solidFill>
                  <a:srgbClr val="000000"/>
                </a:solidFill>
                <a:latin typeface="Times New Roman"/>
                <a:cs typeface="Times New Roman"/>
              </a:rPr>
              <a:t>:</a:t>
            </a:r>
            <a:endParaRPr/>
          </a:p>
          <a:p>
            <a:pPr marL="0" indent="0" algn="just">
              <a:buNone/>
              <a:defRPr/>
            </a:pPr>
            <a:r>
              <a:rPr lang="en-US" sz="2400" b="0" i="0">
                <a:solidFill>
                  <a:srgbClr val="000000"/>
                </a:solidFill>
                <a:latin typeface="Times New Roman"/>
                <a:cs typeface="Times New Roman"/>
              </a:rPr>
              <a:t>pm.test</a:t>
            </a:r>
            <a:r>
              <a:rPr lang="en-US" sz="2400" b="0" i="0">
                <a:solidFill>
                  <a:srgbClr val="000000"/>
                </a:solidFill>
                <a:latin typeface="Times New Roman"/>
                <a:cs typeface="Times New Roman"/>
              </a:rPr>
              <a:t>(</a:t>
            </a:r>
            <a:r>
              <a:rPr lang="en-US" sz="2400" b="0" i="0">
                <a:solidFill>
                  <a:srgbClr val="C41A16"/>
                </a:solidFill>
                <a:latin typeface="Times New Roman"/>
                <a:cs typeface="Times New Roman"/>
              </a:rPr>
              <a:t>"Status code is 200"</a:t>
            </a:r>
            <a:r>
              <a:rPr lang="en-US" sz="2400" b="0" i="0">
                <a:solidFill>
                  <a:srgbClr val="000000"/>
                </a:solidFill>
                <a:latin typeface="Times New Roman"/>
                <a:cs typeface="Times New Roman"/>
              </a:rPr>
              <a:t>, </a:t>
            </a:r>
            <a:r>
              <a:rPr lang="en-US" sz="2400" b="0" i="0">
                <a:solidFill>
                  <a:srgbClr val="AA0D91"/>
                </a:solidFill>
                <a:latin typeface="Times New Roman"/>
                <a:cs typeface="Times New Roman"/>
              </a:rPr>
              <a:t>function</a:t>
            </a:r>
            <a:r>
              <a:rPr lang="en-US" sz="2400" b="0" i="0">
                <a:solidFill>
                  <a:srgbClr val="000000"/>
                </a:solidFill>
                <a:latin typeface="Times New Roman"/>
                <a:cs typeface="Times New Roman"/>
              </a:rPr>
              <a:t> </a:t>
            </a:r>
            <a:r>
              <a:rPr lang="en-US" sz="2400" b="0" i="0">
                <a:solidFill>
                  <a:srgbClr val="5C2699"/>
                </a:solidFill>
                <a:latin typeface="Times New Roman"/>
                <a:cs typeface="Times New Roman"/>
              </a:rPr>
              <a:t>()</a:t>
            </a:r>
            <a:r>
              <a:rPr lang="en-US" sz="2400" b="0" i="0">
                <a:solidFill>
                  <a:srgbClr val="000000"/>
                </a:solidFill>
                <a:latin typeface="Times New Roman"/>
                <a:cs typeface="Times New Roman"/>
              </a:rPr>
              <a:t> {</a:t>
            </a:r>
            <a:endParaRPr lang="ru-RU" sz="2400" b="0" i="0">
              <a:solidFill>
                <a:srgbClr val="000000"/>
              </a:solidFill>
              <a:latin typeface="Times New Roman"/>
              <a:cs typeface="Times New Roman"/>
            </a:endParaRPr>
          </a:p>
          <a:p>
            <a:pPr marL="0" indent="0" algn="just">
              <a:buNone/>
              <a:defRPr/>
            </a:pPr>
            <a:r>
              <a:rPr lang="en-US" sz="2400" b="0" i="0">
                <a:solidFill>
                  <a:srgbClr val="000000"/>
                </a:solidFill>
                <a:latin typeface="Times New Roman"/>
                <a:cs typeface="Times New Roman"/>
              </a:rPr>
              <a:t> </a:t>
            </a:r>
            <a:r>
              <a:rPr lang="ru-RU" sz="2400" b="0" i="0">
                <a:solidFill>
                  <a:srgbClr val="000000"/>
                </a:solidFill>
                <a:latin typeface="Times New Roman"/>
                <a:cs typeface="Times New Roman"/>
              </a:rPr>
              <a:t>            </a:t>
            </a:r>
            <a:r>
              <a:rPr lang="en-US" sz="2400" b="0" i="0">
                <a:solidFill>
                  <a:srgbClr val="000000"/>
                </a:solidFill>
                <a:latin typeface="Times New Roman"/>
                <a:cs typeface="Times New Roman"/>
              </a:rPr>
              <a:t>pm.response.to.have.status</a:t>
            </a:r>
            <a:r>
              <a:rPr lang="en-US" sz="2400" b="0" i="0">
                <a:solidFill>
                  <a:srgbClr val="000000"/>
                </a:solidFill>
                <a:latin typeface="Times New Roman"/>
                <a:cs typeface="Times New Roman"/>
              </a:rPr>
              <a:t>(</a:t>
            </a:r>
            <a:r>
              <a:rPr lang="en-US" sz="2400" b="0" i="0">
                <a:solidFill>
                  <a:srgbClr val="1C00CF"/>
                </a:solidFill>
                <a:latin typeface="Times New Roman"/>
                <a:cs typeface="Times New Roman"/>
              </a:rPr>
              <a:t>200</a:t>
            </a:r>
            <a:r>
              <a:rPr lang="en-US" sz="2400" b="0" i="0">
                <a:solidFill>
                  <a:srgbClr val="000000"/>
                </a:solidFill>
                <a:latin typeface="Times New Roman"/>
                <a:cs typeface="Times New Roman"/>
              </a:rPr>
              <a:t>); });</a:t>
            </a:r>
            <a:endParaRPr lang="ru-RU" sz="2400">
              <a:solidFill>
                <a:srgbClr val="000000"/>
              </a:solidFill>
              <a:latin typeface="Times New Roman"/>
              <a:cs typeface="Times New Roman"/>
            </a:endParaRPr>
          </a:p>
          <a:p>
            <a:pPr marL="0" indent="0" algn="l">
              <a:buNone/>
              <a:defRPr/>
            </a:pPr>
            <a:endParaRPr lang="ru-RU" sz="2400">
              <a:solidFill>
                <a:srgbClr val="000000"/>
              </a:solidFill>
              <a:latin typeface="Times New Roman"/>
              <a:cs typeface="Times New Roman"/>
            </a:endParaRPr>
          </a:p>
          <a:p>
            <a:pPr marL="0" indent="0" algn="r">
              <a:buNone/>
              <a:defRPr/>
            </a:pPr>
            <a:r>
              <a:rPr lang="ru-RU" sz="2400" b="1" i="1">
                <a:solidFill>
                  <a:srgbClr val="000000"/>
                </a:solidFill>
                <a:latin typeface="Times New Roman"/>
                <a:cs typeface="Times New Roman"/>
              </a:rPr>
              <a:t>Подробнее</a:t>
            </a:r>
            <a:r>
              <a:rPr lang="ru-RU" sz="2400">
                <a:solidFill>
                  <a:srgbClr val="000000"/>
                </a:solidFill>
                <a:latin typeface="Times New Roman"/>
                <a:cs typeface="Times New Roman"/>
              </a:rPr>
              <a:t>: </a:t>
            </a:r>
            <a:r>
              <a:rPr lang="en-US" sz="2400" u="sng">
                <a:solidFill>
                  <a:srgbClr val="000000"/>
                </a:solidFill>
                <a:latin typeface="Times New Roman"/>
                <a:cs typeface="Times New Roman"/>
                <a:hlinkClick r:id="rId2" tooltip="https://infostart.ru/1c/articles/1545930"/>
              </a:rPr>
              <a:t>https://infostart.ru/1c/articles/1545930</a:t>
            </a: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ru-RU" sz="2900" b="1">
                <a:solidFill>
                  <a:srgbClr val="222222"/>
                </a:solidFill>
                <a:latin typeface="Times New Roman"/>
                <a:cs typeface="Arial"/>
              </a:rPr>
              <a:t>Примеры тестовых сценариев на </a:t>
            </a:r>
            <a:r>
              <a:rPr lang="en-US" sz="2900" b="1">
                <a:solidFill>
                  <a:srgbClr val="222222"/>
                </a:solidFill>
                <a:latin typeface="Times New Roman"/>
                <a:cs typeface="Arial"/>
              </a:rPr>
              <a:t>JS </a:t>
            </a:r>
            <a:r>
              <a:rPr lang="ru-RU" sz="2900" b="1">
                <a:solidFill>
                  <a:srgbClr val="222222"/>
                </a:solidFill>
                <a:latin typeface="Times New Roman"/>
                <a:cs typeface="Arial"/>
              </a:rPr>
              <a:t>для</a:t>
            </a:r>
            <a:r>
              <a:rPr lang="en-US" sz="2900" b="1">
                <a:solidFill>
                  <a:srgbClr val="222222"/>
                </a:solidFill>
                <a:latin typeface="Times New Roman"/>
                <a:cs typeface="Arial"/>
              </a:rPr>
              <a:t> </a:t>
            </a:r>
            <a:r>
              <a:rPr lang="ru-RU" sz="2900" b="1">
                <a:solidFill>
                  <a:srgbClr val="222222"/>
                </a:solidFill>
                <a:latin typeface="Times New Roman"/>
                <a:cs typeface="Arial"/>
              </a:rPr>
              <a:t>аутентификации</a:t>
            </a:r>
            <a:endParaRPr lang="ru-RU" sz="2600" b="1">
              <a:solidFill>
                <a:srgbClr val="222222"/>
              </a:solidFill>
              <a:latin typeface="Times New Roman"/>
              <a:cs typeface="Arial"/>
            </a:endParaRPr>
          </a:p>
        </p:txBody>
      </p:sp>
      <p:sp>
        <p:nvSpPr>
          <p:cNvPr id="3" name="Объект 2"/>
          <p:cNvSpPr>
            <a:spLocks noGrp="1"/>
          </p:cNvSpPr>
          <p:nvPr>
            <p:ph idx="1"/>
          </p:nvPr>
        </p:nvSpPr>
        <p:spPr bwMode="auto">
          <a:xfrm>
            <a:off x="1537653" y="574767"/>
            <a:ext cx="10493238" cy="6191794"/>
          </a:xfrm>
        </p:spPr>
        <p:txBody>
          <a:bodyPr>
            <a:normAutofit/>
          </a:bodyPr>
          <a:lstStyle/>
          <a:p>
            <a:pPr marL="0" indent="0" algn="just">
              <a:buNone/>
              <a:defRPr/>
            </a:pPr>
            <a:r>
              <a:rPr lang="ru-RU" sz="2400">
                <a:solidFill>
                  <a:srgbClr val="333333"/>
                </a:solidFill>
                <a:latin typeface="Times New Roman"/>
                <a:cs typeface="Times New Roman"/>
              </a:rPr>
              <a:t>Допустим, необходимо протестировать работоспособность API в которых: </a:t>
            </a:r>
            <a:endParaRPr/>
          </a:p>
          <a:p>
            <a:pPr marL="0" indent="0" algn="just">
              <a:buNone/>
              <a:defRPr/>
            </a:pPr>
            <a:r>
              <a:rPr lang="ru-RU" sz="2400">
                <a:solidFill>
                  <a:srgbClr val="333333"/>
                </a:solidFill>
                <a:latin typeface="Times New Roman"/>
                <a:cs typeface="Times New Roman"/>
              </a:rPr>
              <a:t>1) используется </a:t>
            </a:r>
            <a:r>
              <a:rPr lang="ru-RU" sz="2400">
                <a:solidFill>
                  <a:srgbClr val="333333"/>
                </a:solidFill>
                <a:latin typeface="Times New Roman"/>
                <a:cs typeface="Times New Roman"/>
              </a:rPr>
              <a:t>Oauth</a:t>
            </a:r>
            <a:r>
              <a:rPr lang="ru-RU" sz="2400">
                <a:solidFill>
                  <a:srgbClr val="333333"/>
                </a:solidFill>
                <a:latin typeface="Times New Roman"/>
                <a:cs typeface="Times New Roman"/>
              </a:rPr>
              <a:t> аутентификация с RS256, пример Google API используя сервисного пользователя  (</a:t>
            </a:r>
            <a:r>
              <a:rPr lang="ru-RU" sz="2400" u="sng">
                <a:solidFill>
                  <a:srgbClr val="333333"/>
                </a:solidFill>
                <a:latin typeface="Times New Roman"/>
                <a:cs typeface="Times New Roman"/>
                <a:hlinkClick r:id="rId2" tooltip="https://developers.google.com/identity/protocols/oauth2/service-account?hl=ru"/>
              </a:rPr>
              <a:t>документация</a:t>
            </a:r>
            <a:r>
              <a:rPr lang="ru-RU" sz="2400">
                <a:solidFill>
                  <a:srgbClr val="333333"/>
                </a:solidFill>
                <a:latin typeface="Times New Roman"/>
                <a:cs typeface="Times New Roman"/>
              </a:rPr>
              <a:t>)</a:t>
            </a:r>
            <a:endParaRPr/>
          </a:p>
          <a:p>
            <a:pPr marL="0" indent="0" algn="just">
              <a:buNone/>
              <a:defRPr/>
            </a:pPr>
            <a:r>
              <a:rPr lang="ru-RU" sz="2400" b="0" i="0">
                <a:solidFill>
                  <a:srgbClr val="333333"/>
                </a:solidFill>
                <a:latin typeface="Times New Roman"/>
                <a:cs typeface="Times New Roman"/>
              </a:rPr>
              <a:t>2) используется </a:t>
            </a:r>
            <a:r>
              <a:rPr lang="ru-RU" sz="2400" b="0" i="0">
                <a:solidFill>
                  <a:srgbClr val="333333"/>
                </a:solidFill>
                <a:latin typeface="Times New Roman"/>
                <a:cs typeface="Times New Roman"/>
              </a:rPr>
              <a:t>Oauth</a:t>
            </a:r>
            <a:r>
              <a:rPr lang="ru-RU" sz="2400" b="0" i="0">
                <a:solidFill>
                  <a:srgbClr val="333333"/>
                </a:solidFill>
                <a:latin typeface="Times New Roman"/>
                <a:cs typeface="Times New Roman"/>
              </a:rPr>
              <a:t> аутентификация, пример Google API используя доступ обычного </a:t>
            </a:r>
            <a:r>
              <a:rPr lang="ru-RU" sz="2400">
                <a:solidFill>
                  <a:srgbClr val="333333"/>
                </a:solidFill>
                <a:latin typeface="Times New Roman"/>
                <a:cs typeface="Times New Roman"/>
              </a:rPr>
              <a:t>пользователя (</a:t>
            </a:r>
            <a:r>
              <a:rPr lang="ru-RU" sz="2400" u="sng">
                <a:solidFill>
                  <a:srgbClr val="333333"/>
                </a:solidFill>
                <a:latin typeface="Times New Roman"/>
                <a:cs typeface="Times New Roman"/>
                <a:hlinkClick r:id="rId3" tooltip="https://developers.google.com/identity/protocols/oauth2/native-app?hl=ru"/>
              </a:rPr>
              <a:t>документация</a:t>
            </a:r>
            <a:r>
              <a:rPr lang="ru-RU" sz="2400">
                <a:solidFill>
                  <a:srgbClr val="333333"/>
                </a:solidFill>
                <a:latin typeface="Times New Roman"/>
                <a:cs typeface="Times New Roman"/>
              </a:rPr>
              <a:t>)</a:t>
            </a:r>
            <a:endParaRPr/>
          </a:p>
          <a:p>
            <a:pPr marL="0" indent="0" algn="just">
              <a:buNone/>
              <a:defRPr/>
            </a:pPr>
            <a:r>
              <a:rPr lang="ru-RU" sz="2400">
                <a:solidFill>
                  <a:srgbClr val="333333"/>
                </a:solidFill>
                <a:latin typeface="Times New Roman"/>
                <a:cs typeface="Times New Roman"/>
              </a:rPr>
              <a:t>В первом случае, д</a:t>
            </a:r>
            <a:r>
              <a:rPr lang="ru-RU" sz="2400" b="0" i="0">
                <a:solidFill>
                  <a:srgbClr val="333333"/>
                </a:solidFill>
                <a:latin typeface="Times New Roman"/>
                <a:cs typeface="Times New Roman"/>
              </a:rPr>
              <a:t>ля работы с сервисом нужен токен доступа, для получения которого нужно отправить JWT запрос, у Google применяется формат JWT RS 256, в котором используется RSA.</a:t>
            </a:r>
            <a:endParaRPr/>
          </a:p>
          <a:p>
            <a:pPr marL="0" indent="0" algn="just">
              <a:buNone/>
              <a:defRPr/>
            </a:pPr>
            <a:r>
              <a:rPr lang="ru-RU" sz="2400" b="0" i="0">
                <a:solidFill>
                  <a:srgbClr val="333333"/>
                </a:solidFill>
                <a:latin typeface="Times New Roman"/>
                <a:cs typeface="Times New Roman"/>
              </a:rPr>
              <a:t>Необходимо реализовать получение токена в обработчике перед запросом, кешировать токен в переменных окружения с фиксацией срока действия.</a:t>
            </a:r>
            <a:endParaRPr/>
          </a:p>
          <a:p>
            <a:pPr marL="0" indent="0" algn="just">
              <a:buNone/>
              <a:defRPr/>
            </a:pPr>
            <a:r>
              <a:rPr lang="ru-RU" sz="2400" b="0" i="0">
                <a:solidFill>
                  <a:srgbClr val="333333"/>
                </a:solidFill>
                <a:latin typeface="Times New Roman"/>
                <a:cs typeface="Times New Roman"/>
              </a:rPr>
              <a:t>Решение находится по </a:t>
            </a:r>
            <a:r>
              <a:rPr lang="ru-RU" sz="2400" b="0" i="0" u="sng">
                <a:solidFill>
                  <a:srgbClr val="333333"/>
                </a:solidFill>
                <a:latin typeface="Times New Roman"/>
                <a:cs typeface="Times New Roman"/>
                <a:hlinkClick r:id="rId4" tooltip="https://gist.github.com/dinvlad/425a072c8d23c1895e9d345b67909af0"/>
              </a:rPr>
              <a:t>ссылке</a:t>
            </a:r>
            <a:r>
              <a:rPr lang="ru-RU" sz="2400" b="0" i="0">
                <a:solidFill>
                  <a:srgbClr val="333333"/>
                </a:solidFill>
                <a:latin typeface="Times New Roman"/>
                <a:cs typeface="Times New Roman"/>
              </a:rPr>
              <a:t>.</a:t>
            </a:r>
            <a:endParaRPr/>
          </a:p>
          <a:p>
            <a:pPr marL="0" indent="0" algn="just">
              <a:buNone/>
              <a:defRPr/>
            </a:pPr>
            <a:endParaRPr lang="ru-RU" sz="2400">
              <a:solidFill>
                <a:srgbClr val="000000"/>
              </a:solidFill>
              <a:latin typeface="Times New Roman"/>
              <a:cs typeface="Times New Roman"/>
            </a:endParaRPr>
          </a:p>
          <a:p>
            <a:pPr marL="0" indent="0" algn="r">
              <a:buNone/>
              <a:defRPr/>
            </a:pPr>
            <a:r>
              <a:rPr lang="ru-RU" sz="2400" b="1" i="1">
                <a:solidFill>
                  <a:srgbClr val="000000"/>
                </a:solidFill>
                <a:latin typeface="Times New Roman"/>
                <a:cs typeface="Times New Roman"/>
              </a:rPr>
              <a:t>Подробнее</a:t>
            </a:r>
            <a:r>
              <a:rPr lang="ru-RU" sz="2400">
                <a:solidFill>
                  <a:srgbClr val="000000"/>
                </a:solidFill>
                <a:latin typeface="Times New Roman"/>
                <a:cs typeface="Times New Roman"/>
              </a:rPr>
              <a:t>: </a:t>
            </a:r>
            <a:r>
              <a:rPr lang="en-US" sz="2400" u="sng">
                <a:solidFill>
                  <a:srgbClr val="000000"/>
                </a:solidFill>
                <a:latin typeface="Times New Roman"/>
                <a:cs typeface="Times New Roman"/>
                <a:hlinkClick r:id="rId5" tooltip="https://infostart.ru/1c/articles/1282851"/>
              </a:rPr>
              <a:t>https://infostart.ru/1c/articles/1282851</a:t>
            </a: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ru-RU" sz="2900" b="1">
                <a:solidFill>
                  <a:srgbClr val="222222"/>
                </a:solidFill>
                <a:latin typeface="Times New Roman"/>
                <a:cs typeface="Arial"/>
              </a:rPr>
              <a:t>Примеры тестовых сценариев на </a:t>
            </a:r>
            <a:r>
              <a:rPr lang="en-US" sz="2900" b="1">
                <a:solidFill>
                  <a:srgbClr val="222222"/>
                </a:solidFill>
                <a:latin typeface="Times New Roman"/>
                <a:cs typeface="Arial"/>
              </a:rPr>
              <a:t>JS </a:t>
            </a:r>
            <a:r>
              <a:rPr lang="ru-RU" sz="2900" b="1">
                <a:solidFill>
                  <a:srgbClr val="222222"/>
                </a:solidFill>
                <a:latin typeface="Times New Roman"/>
                <a:cs typeface="Arial"/>
              </a:rPr>
              <a:t>для</a:t>
            </a:r>
            <a:r>
              <a:rPr lang="en-US" sz="2900" b="1">
                <a:solidFill>
                  <a:srgbClr val="222222"/>
                </a:solidFill>
                <a:latin typeface="Times New Roman"/>
                <a:cs typeface="Arial"/>
              </a:rPr>
              <a:t> </a:t>
            </a:r>
            <a:r>
              <a:rPr lang="ru-RU" sz="2900" b="1">
                <a:solidFill>
                  <a:srgbClr val="222222"/>
                </a:solidFill>
                <a:latin typeface="Times New Roman"/>
                <a:cs typeface="Arial"/>
              </a:rPr>
              <a:t>аутентификации</a:t>
            </a:r>
            <a:endParaRPr lang="ru-RU" sz="2600" b="1">
              <a:solidFill>
                <a:srgbClr val="222222"/>
              </a:solidFill>
              <a:latin typeface="Times New Roman"/>
              <a:cs typeface="Arial"/>
            </a:endParaRPr>
          </a:p>
        </p:txBody>
      </p:sp>
      <p:sp>
        <p:nvSpPr>
          <p:cNvPr id="3" name="Объект 2"/>
          <p:cNvSpPr>
            <a:spLocks noGrp="1"/>
          </p:cNvSpPr>
          <p:nvPr>
            <p:ph idx="1"/>
          </p:nvPr>
        </p:nvSpPr>
        <p:spPr bwMode="auto">
          <a:xfrm>
            <a:off x="1537653" y="574767"/>
            <a:ext cx="10493238" cy="6191794"/>
          </a:xfrm>
        </p:spPr>
        <p:txBody>
          <a:bodyPr>
            <a:normAutofit/>
          </a:bodyPr>
          <a:lstStyle/>
          <a:p>
            <a:pPr marL="0" indent="0" algn="just">
              <a:buNone/>
              <a:defRPr/>
            </a:pPr>
            <a:r>
              <a:rPr lang="ru-RU" sz="2400">
                <a:solidFill>
                  <a:srgbClr val="333333"/>
                </a:solidFill>
                <a:latin typeface="Times New Roman"/>
                <a:cs typeface="Times New Roman"/>
              </a:rPr>
              <a:t>Во втором случае, для работы с сервисом формируем GET запрос, переносим в браузер, на уровне браузера подтверждаем права доступа, получаем код. Используем код для получения </a:t>
            </a:r>
            <a:r>
              <a:rPr lang="ru-RU" sz="2400">
                <a:solidFill>
                  <a:srgbClr val="333333"/>
                </a:solidFill>
                <a:latin typeface="Times New Roman"/>
                <a:cs typeface="Times New Roman"/>
              </a:rPr>
              <a:t>access</a:t>
            </a:r>
            <a:r>
              <a:rPr lang="ru-RU" sz="2400">
                <a:solidFill>
                  <a:srgbClr val="333333"/>
                </a:solidFill>
                <a:latin typeface="Times New Roman"/>
                <a:cs typeface="Times New Roman"/>
              </a:rPr>
              <a:t> и </a:t>
            </a:r>
            <a:r>
              <a:rPr lang="ru-RU" sz="2400">
                <a:solidFill>
                  <a:srgbClr val="333333"/>
                </a:solidFill>
                <a:latin typeface="Times New Roman"/>
                <a:cs typeface="Times New Roman"/>
              </a:rPr>
              <a:t>refresh</a:t>
            </a:r>
            <a:r>
              <a:rPr lang="ru-RU" sz="2400">
                <a:solidFill>
                  <a:srgbClr val="333333"/>
                </a:solidFill>
                <a:latin typeface="Times New Roman"/>
                <a:cs typeface="Times New Roman"/>
              </a:rPr>
              <a:t> токенов.</a:t>
            </a:r>
            <a:endParaRPr/>
          </a:p>
          <a:p>
            <a:pPr marL="0" indent="0" algn="just">
              <a:buNone/>
              <a:defRPr/>
            </a:pPr>
            <a:endParaRPr lang="ru-RU"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ctr">
              <a:buNone/>
              <a:defRPr/>
            </a:pPr>
            <a:endParaRPr lang="ru-RU"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just">
              <a:buNone/>
              <a:defRPr/>
            </a:pPr>
            <a:endParaRPr lang="ru-RU" sz="2400" b="0" i="0">
              <a:solidFill>
                <a:srgbClr val="333333"/>
              </a:solidFill>
              <a:latin typeface="Times New Roman"/>
              <a:cs typeface="Times New Roman"/>
            </a:endParaRPr>
          </a:p>
          <a:p>
            <a:pPr marL="0" indent="0" algn="just">
              <a:buNone/>
              <a:defRPr/>
            </a:pPr>
            <a:endParaRPr lang="ru-RU" sz="2400" b="0" i="0">
              <a:solidFill>
                <a:srgbClr val="333333"/>
              </a:solidFill>
              <a:latin typeface="Times New Roman"/>
              <a:cs typeface="Times New Roman"/>
            </a:endParaRPr>
          </a:p>
          <a:p>
            <a:pPr marL="0" indent="0" algn="just">
              <a:buNone/>
              <a:defRPr/>
            </a:pPr>
            <a:endParaRPr lang="ru-RU" sz="2400">
              <a:solidFill>
                <a:srgbClr val="000000"/>
              </a:solidFill>
              <a:latin typeface="Times New Roman"/>
              <a:cs typeface="Times New Roman"/>
            </a:endParaRPr>
          </a:p>
          <a:p>
            <a:pPr marL="0" indent="0" algn="r">
              <a:buNone/>
              <a:defRPr/>
            </a:pPr>
            <a:r>
              <a:rPr lang="ru-RU" sz="2400" b="1" i="1">
                <a:solidFill>
                  <a:srgbClr val="000000"/>
                </a:solidFill>
                <a:latin typeface="Times New Roman"/>
                <a:cs typeface="Times New Roman"/>
              </a:rPr>
              <a:t>Подробнее</a:t>
            </a:r>
            <a:r>
              <a:rPr lang="ru-RU" sz="2400">
                <a:solidFill>
                  <a:srgbClr val="000000"/>
                </a:solidFill>
                <a:latin typeface="Times New Roman"/>
                <a:cs typeface="Times New Roman"/>
              </a:rPr>
              <a:t>: </a:t>
            </a:r>
            <a:r>
              <a:rPr lang="en-US" sz="2400" u="sng">
                <a:solidFill>
                  <a:srgbClr val="000000"/>
                </a:solidFill>
                <a:latin typeface="Times New Roman"/>
                <a:cs typeface="Times New Roman"/>
                <a:hlinkClick r:id="rId2" tooltip="https://infostart.ru/1c/articles/1282851"/>
              </a:rPr>
              <a:t>https://infostart.ru/1c/articles/1282851</a:t>
            </a: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7" name="Picture 2"/>
          <p:cNvPicPr>
            <a:picLocks noChangeAspect="1" noChangeArrowheads="1"/>
          </p:cNvPicPr>
          <p:nvPr/>
        </p:nvPicPr>
        <p:blipFill>
          <a:blip r:embed="rId3"/>
          <a:stretch/>
        </p:blipFill>
        <p:spPr bwMode="auto">
          <a:xfrm>
            <a:off x="1830982" y="1768384"/>
            <a:ext cx="9964779" cy="4514849"/>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ctrTitle"/>
          </p:nvPr>
        </p:nvSpPr>
        <p:spPr bwMode="auto">
          <a:xfrm>
            <a:off x="1685109" y="1554478"/>
            <a:ext cx="10306593" cy="3958044"/>
          </a:xfrm>
        </p:spPr>
        <p:txBody>
          <a:bodyPr>
            <a:normAutofit/>
          </a:bodyPr>
          <a:lstStyle/>
          <a:p>
            <a:pPr algn="ctr">
              <a:defRPr/>
            </a:pPr>
            <a:r>
              <a:rPr lang="ru-RU" b="1">
                <a:solidFill>
                  <a:srgbClr val="222222"/>
                </a:solidFill>
                <a:latin typeface="Times New Roman"/>
                <a:cs typeface="Arial"/>
              </a:rPr>
              <a:t>Перехват и работа с сетевым трафиком с помощью Charles</a:t>
            </a:r>
            <a:br>
              <a:rPr lang="ru-RU" b="1">
                <a:solidFill>
                  <a:srgbClr val="222222"/>
                </a:solidFill>
                <a:latin typeface="Times New Roman"/>
                <a:ea typeface="Arial"/>
                <a:cs typeface="Arial"/>
              </a:rPr>
            </a:b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en-US" sz="2900" b="1">
                <a:solidFill>
                  <a:srgbClr val="222222"/>
                </a:solidFill>
                <a:latin typeface="Times New Roman"/>
                <a:cs typeface="Arial"/>
              </a:rPr>
              <a:t>Charles Proxy </a:t>
            </a:r>
            <a:r>
              <a:rPr lang="en-US" sz="2900">
                <a:solidFill>
                  <a:srgbClr val="222222"/>
                </a:solidFill>
                <a:latin typeface="Times New Roman"/>
                <a:cs typeface="Arial"/>
              </a:rPr>
              <a:t>(</a:t>
            </a:r>
            <a:r>
              <a:rPr lang="ru-RU" sz="2900">
                <a:solidFill>
                  <a:srgbClr val="222222"/>
                </a:solidFill>
                <a:latin typeface="Times New Roman"/>
                <a:cs typeface="Arial"/>
              </a:rPr>
              <a:t>программа</a:t>
            </a:r>
            <a:r>
              <a:rPr lang="ru-RU" sz="2900" b="1">
                <a:solidFill>
                  <a:srgbClr val="222222"/>
                </a:solidFill>
                <a:latin typeface="Times New Roman"/>
                <a:cs typeface="Arial"/>
              </a:rPr>
              <a:t>-</a:t>
            </a:r>
            <a:r>
              <a:rPr lang="ru-RU" sz="3200">
                <a:solidFill>
                  <a:srgbClr val="333333"/>
                </a:solidFill>
                <a:latin typeface="Times New Roman"/>
                <a:cs typeface="Times New Roman"/>
              </a:rPr>
              <a:t>сниффер</a:t>
            </a:r>
            <a:r>
              <a:rPr lang="en-US" sz="2900">
                <a:solidFill>
                  <a:srgbClr val="222222"/>
                </a:solidFill>
                <a:latin typeface="Times New Roman"/>
                <a:cs typeface="Arial"/>
              </a:rPr>
              <a:t>)</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37653" y="574767"/>
            <a:ext cx="10493238" cy="6191794"/>
          </a:xfrm>
        </p:spPr>
        <p:txBody>
          <a:bodyPr>
            <a:normAutofit/>
          </a:bodyPr>
          <a:lstStyle/>
          <a:p>
            <a:pPr marL="0" indent="0" algn="just">
              <a:buNone/>
              <a:defRPr/>
            </a:pPr>
            <a:endParaRPr lang="ru-RU" sz="2400" b="1">
              <a:solidFill>
                <a:srgbClr val="333333"/>
              </a:solidFill>
              <a:latin typeface="Times New Roman"/>
              <a:cs typeface="Times New Roman"/>
            </a:endParaRPr>
          </a:p>
          <a:p>
            <a:pPr marL="0" indent="0" algn="just">
              <a:buNone/>
              <a:defRPr/>
            </a:pPr>
            <a:r>
              <a:rPr lang="ru-RU" sz="2400" b="1">
                <a:solidFill>
                  <a:srgbClr val="333333"/>
                </a:solidFill>
                <a:latin typeface="Times New Roman"/>
                <a:cs typeface="Times New Roman"/>
              </a:rPr>
              <a:t>Charles Web </a:t>
            </a:r>
            <a:r>
              <a:rPr lang="ru-RU" sz="2400" b="1">
                <a:solidFill>
                  <a:srgbClr val="333333"/>
                </a:solidFill>
                <a:latin typeface="Times New Roman"/>
                <a:cs typeface="Times New Roman"/>
              </a:rPr>
              <a:t>Debugging</a:t>
            </a:r>
            <a:r>
              <a:rPr lang="ru-RU" sz="2400" b="1">
                <a:solidFill>
                  <a:srgbClr val="333333"/>
                </a:solidFill>
                <a:latin typeface="Times New Roman"/>
                <a:cs typeface="Times New Roman"/>
              </a:rPr>
              <a:t> </a:t>
            </a:r>
            <a:r>
              <a:rPr lang="ru-RU" sz="2400" b="1">
                <a:solidFill>
                  <a:srgbClr val="333333"/>
                </a:solidFill>
                <a:latin typeface="Times New Roman"/>
                <a:cs typeface="Times New Roman"/>
              </a:rPr>
              <a:t>Proxy</a:t>
            </a:r>
            <a:r>
              <a:rPr lang="ru-RU" sz="2400">
                <a:solidFill>
                  <a:srgbClr val="333333"/>
                </a:solidFill>
                <a:latin typeface="Times New Roman"/>
                <a:cs typeface="Times New Roman"/>
              </a:rPr>
              <a:t> - это инструмент мониторинга HTTP и HTTPS трафика. Он выступает в роли прокси-сервера (промежуточного звена) между тестируемым приложением и сервером на бэкенде, позволяя не только видеть, но также перехватывать и редактировать запросы.</a:t>
            </a:r>
            <a:endParaRPr/>
          </a:p>
          <a:p>
            <a:pPr marL="0" indent="0" algn="just">
              <a:buNone/>
              <a:defRPr/>
            </a:pPr>
            <a:r>
              <a:rPr lang="ru-RU" sz="2400">
                <a:solidFill>
                  <a:srgbClr val="333333"/>
                </a:solidFill>
                <a:latin typeface="Times New Roman"/>
                <a:cs typeface="Times New Roman"/>
              </a:rPr>
              <a:t>Главное преимущество Charles </a:t>
            </a:r>
            <a:r>
              <a:rPr lang="ru-RU" sz="2400">
                <a:solidFill>
                  <a:srgbClr val="333333"/>
                </a:solidFill>
                <a:latin typeface="Times New Roman"/>
                <a:cs typeface="Times New Roman"/>
              </a:rPr>
              <a:t>Proxy</a:t>
            </a:r>
            <a:r>
              <a:rPr lang="ru-RU" sz="2400">
                <a:solidFill>
                  <a:srgbClr val="333333"/>
                </a:solidFill>
                <a:latin typeface="Times New Roman"/>
                <a:cs typeface="Times New Roman"/>
              </a:rPr>
              <a:t> и </a:t>
            </a:r>
            <a:r>
              <a:rPr lang="ru-RU" sz="2400">
                <a:solidFill>
                  <a:srgbClr val="333333"/>
                </a:solidFill>
                <a:latin typeface="Times New Roman"/>
                <a:cs typeface="Times New Roman"/>
              </a:rPr>
              <a:t>снифферов</a:t>
            </a:r>
            <a:r>
              <a:rPr lang="ru-RU" sz="2400">
                <a:solidFill>
                  <a:srgbClr val="333333"/>
                </a:solidFill>
                <a:latin typeface="Times New Roman"/>
                <a:cs typeface="Times New Roman"/>
              </a:rPr>
              <a:t> в целом - возможность просмотра трафика, в том числе с мобильных устройств, что значительно облегчает работу тестировщика клиент-серверных мобильных приложений.</a:t>
            </a:r>
            <a:endParaRPr/>
          </a:p>
          <a:p>
            <a:pPr marL="0" indent="0" algn="just">
              <a:buNone/>
              <a:defRPr/>
            </a:pPr>
            <a:endParaRPr lang="en-US"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just">
              <a:buNone/>
              <a:defRPr/>
            </a:pPr>
            <a:endParaRPr lang="ru-RU" sz="2400">
              <a:solidFill>
                <a:srgbClr val="000000"/>
              </a:solidFill>
              <a:latin typeface="Times New Roman"/>
              <a:cs typeface="Times New Roman"/>
            </a:endParaRPr>
          </a:p>
          <a:p>
            <a:pPr marL="0" indent="0">
              <a:buNone/>
              <a:defRPr/>
            </a:pPr>
            <a:r>
              <a:rPr lang="ru-RU" sz="2000" b="1" i="1">
                <a:solidFill>
                  <a:srgbClr val="000000"/>
                </a:solidFill>
                <a:latin typeface="Times New Roman"/>
                <a:cs typeface="Times New Roman"/>
              </a:rPr>
              <a:t>Подробнее</a:t>
            </a:r>
            <a:r>
              <a:rPr lang="ru-RU" sz="2000">
                <a:solidFill>
                  <a:srgbClr val="000000"/>
                </a:solidFill>
                <a:latin typeface="Times New Roman"/>
                <a:cs typeface="Times New Roman"/>
              </a:rPr>
              <a:t>: </a:t>
            </a:r>
            <a:r>
              <a:rPr lang="en-US" sz="2000" u="sng">
                <a:solidFill>
                  <a:srgbClr val="000000"/>
                </a:solidFill>
                <a:latin typeface="Times New Roman"/>
                <a:cs typeface="Times New Roman"/>
                <a:hlinkClick r:id="rId2" tooltip="https://timeweb.com/ru/community/articles/pogruzhenie-v-udivitelnyy-mir-charles"/>
              </a:rPr>
              <a:t>https://timeweb.com/ru/community/articles/pogruzhenie-v-udivitelnyy-mir-charles</a:t>
            </a:r>
            <a:endParaRPr lang="en-US" sz="2000">
              <a:solidFill>
                <a:srgbClr val="000000"/>
              </a:solidFill>
              <a:latin typeface="Times New Roman"/>
              <a:cs typeface="Times New Roman"/>
            </a:endParaRPr>
          </a:p>
          <a:p>
            <a:pPr marL="0" indent="0">
              <a:buNone/>
              <a:defRPr/>
            </a:pPr>
            <a:endParaRPr lang="en-US" sz="2000">
              <a:solidFill>
                <a:srgbClr val="000000"/>
              </a:solidFill>
              <a:latin typeface="Times New Roman"/>
              <a:cs typeface="Times New Roman"/>
            </a:endParaRPr>
          </a:p>
          <a:p>
            <a:pPr marL="0" indent="0" algn="just">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ru-RU" sz="2900" b="1">
                <a:solidFill>
                  <a:srgbClr val="222222"/>
                </a:solidFill>
                <a:latin typeface="Times New Roman"/>
                <a:cs typeface="Arial"/>
              </a:rPr>
              <a:t>Главное окно </a:t>
            </a:r>
            <a:r>
              <a:rPr lang="en-US" sz="2900" b="1">
                <a:solidFill>
                  <a:srgbClr val="222222"/>
                </a:solidFill>
                <a:latin typeface="Times New Roman"/>
                <a:cs typeface="Arial"/>
              </a:rPr>
              <a:t>Charles Proxy</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37653" y="574767"/>
            <a:ext cx="10493238" cy="6191794"/>
          </a:xfrm>
        </p:spPr>
        <p:txBody>
          <a:bodyPr>
            <a:normAutofit fontScale="62500" lnSpcReduction="20000"/>
          </a:bodyPr>
          <a:lstStyle/>
          <a:p>
            <a:pPr marL="0" indent="0" algn="just">
              <a:buNone/>
              <a:defRPr/>
            </a:pPr>
            <a:r>
              <a:rPr lang="ru-RU" sz="2400">
                <a:solidFill>
                  <a:srgbClr val="333333"/>
                </a:solidFill>
                <a:latin typeface="Times New Roman"/>
                <a:cs typeface="Times New Roman"/>
              </a:rPr>
              <a:t> </a:t>
            </a:r>
            <a:endParaRPr/>
          </a:p>
          <a:p>
            <a:pPr marL="0" indent="0" algn="just">
              <a:buNone/>
              <a:defRPr/>
            </a:pPr>
            <a:endParaRPr lang="ru-RU" sz="2400">
              <a:solidFill>
                <a:srgbClr val="000000"/>
              </a:solidFill>
              <a:latin typeface="Times New Roman"/>
              <a:cs typeface="Times New Roman"/>
            </a:endParaRPr>
          </a:p>
          <a:p>
            <a:pPr marL="0" indent="0" algn="just">
              <a:buNone/>
              <a:defRPr/>
            </a:pPr>
            <a:endParaRPr lang="ru-RU" sz="2400">
              <a:solidFill>
                <a:srgbClr val="000000"/>
              </a:solidFill>
              <a:latin typeface="Times New Roman"/>
              <a:cs typeface="Times New Roman"/>
            </a:endParaRPr>
          </a:p>
          <a:p>
            <a:pPr marL="0" indent="0" algn="just">
              <a:buNone/>
              <a:defRPr/>
            </a:pPr>
            <a:endParaRPr lang="ru-RU" sz="2400">
              <a:solidFill>
                <a:srgbClr val="000000"/>
              </a:solidFill>
              <a:latin typeface="Times New Roman"/>
              <a:cs typeface="Times New Roman"/>
            </a:endParaRPr>
          </a:p>
          <a:p>
            <a:pPr marL="0" indent="0" algn="just">
              <a:buNone/>
              <a:defRPr/>
            </a:pPr>
            <a:endParaRPr lang="ru-RU" sz="2400">
              <a:solidFill>
                <a:srgbClr val="000000"/>
              </a:solidFill>
              <a:latin typeface="Times New Roman"/>
              <a:cs typeface="Times New Roman"/>
            </a:endParaRPr>
          </a:p>
          <a:p>
            <a:pPr marL="0" indent="0" algn="ctr">
              <a:buNone/>
              <a:defRPr/>
            </a:pPr>
            <a:endParaRPr lang="ru-RU" sz="2400">
              <a:solidFill>
                <a:srgbClr val="000000"/>
              </a:solidFill>
              <a:latin typeface="Times New Roman"/>
              <a:cs typeface="Times New Roman"/>
            </a:endParaRPr>
          </a:p>
          <a:p>
            <a:pPr marL="0" indent="0" algn="just">
              <a:buNone/>
              <a:defRPr/>
            </a:pPr>
            <a:endParaRPr lang="ru-RU" sz="2400">
              <a:solidFill>
                <a:srgbClr val="000000"/>
              </a:solidFill>
              <a:latin typeface="Times New Roman"/>
              <a:cs typeface="Times New Roman"/>
            </a:endParaRPr>
          </a:p>
          <a:p>
            <a:pPr marL="0" indent="0" algn="just">
              <a:buNone/>
              <a:defRPr/>
            </a:pPr>
            <a:endParaRPr lang="ru-RU" sz="2400">
              <a:solidFill>
                <a:srgbClr val="000000"/>
              </a:solidFill>
              <a:latin typeface="Times New Roman"/>
              <a:cs typeface="Times New Roman"/>
            </a:endParaRPr>
          </a:p>
          <a:p>
            <a:pPr marL="0" indent="0" algn="just">
              <a:buNone/>
              <a:defRPr/>
            </a:pPr>
            <a:endParaRPr lang="ru-RU" sz="2400">
              <a:solidFill>
                <a:srgbClr val="000000"/>
              </a:solidFill>
              <a:latin typeface="Times New Roman"/>
              <a:cs typeface="Times New Roman"/>
            </a:endParaRPr>
          </a:p>
          <a:p>
            <a:pPr marL="0" indent="0">
              <a:buNone/>
              <a:defRPr/>
            </a:pPr>
            <a:endParaRPr lang="ru-RU" sz="2400" b="1" i="1">
              <a:solidFill>
                <a:srgbClr val="000000"/>
              </a:solidFill>
              <a:latin typeface="Times New Roman"/>
              <a:cs typeface="Times New Roman"/>
            </a:endParaRPr>
          </a:p>
          <a:p>
            <a:pPr marL="0" indent="0">
              <a:buNone/>
              <a:defRPr/>
            </a:pPr>
            <a:endParaRPr lang="ru-RU" sz="2400" b="1" i="1">
              <a:solidFill>
                <a:srgbClr val="000000"/>
              </a:solidFill>
              <a:latin typeface="Times New Roman"/>
              <a:cs typeface="Times New Roman"/>
            </a:endParaRPr>
          </a:p>
          <a:p>
            <a:pPr marL="0" indent="0">
              <a:buNone/>
              <a:defRPr/>
            </a:pPr>
            <a:endParaRPr lang="ru-RU" sz="2400" b="1" i="1">
              <a:solidFill>
                <a:srgbClr val="000000"/>
              </a:solidFill>
              <a:latin typeface="Times New Roman"/>
              <a:cs typeface="Times New Roman"/>
            </a:endParaRPr>
          </a:p>
          <a:p>
            <a:pPr marL="0" indent="0">
              <a:buNone/>
              <a:defRPr/>
            </a:pPr>
            <a:endParaRPr lang="ru-RU" sz="2400" b="1" i="1">
              <a:solidFill>
                <a:srgbClr val="000000"/>
              </a:solidFill>
              <a:latin typeface="Times New Roman"/>
              <a:cs typeface="Times New Roman"/>
            </a:endParaRPr>
          </a:p>
          <a:p>
            <a:pPr marL="0" indent="0">
              <a:buNone/>
              <a:defRPr/>
            </a:pPr>
            <a:endParaRPr lang="ru-RU" sz="2400" b="1" i="1">
              <a:solidFill>
                <a:srgbClr val="000000"/>
              </a:solidFill>
              <a:latin typeface="Times New Roman"/>
              <a:cs typeface="Times New Roman"/>
            </a:endParaRPr>
          </a:p>
          <a:p>
            <a:pPr marL="0" indent="0">
              <a:buNone/>
              <a:defRPr/>
            </a:pPr>
            <a:endParaRPr lang="ru-RU" sz="2400" b="1" i="1">
              <a:solidFill>
                <a:srgbClr val="000000"/>
              </a:solidFill>
              <a:latin typeface="Times New Roman"/>
              <a:cs typeface="Times New Roman"/>
            </a:endParaRPr>
          </a:p>
          <a:p>
            <a:pPr marL="0" indent="0">
              <a:buNone/>
              <a:defRPr/>
            </a:pPr>
            <a:endParaRPr lang="ru-RU" sz="2400" b="1" i="1">
              <a:solidFill>
                <a:srgbClr val="000000"/>
              </a:solidFill>
              <a:latin typeface="Times New Roman"/>
              <a:cs typeface="Times New Roman"/>
            </a:endParaRPr>
          </a:p>
          <a:p>
            <a:pPr marL="0" indent="0">
              <a:buNone/>
              <a:defRPr/>
            </a:pPr>
            <a:endParaRPr lang="ru-RU" sz="2400" b="1" i="1">
              <a:solidFill>
                <a:srgbClr val="000000"/>
              </a:solidFill>
              <a:latin typeface="Times New Roman"/>
              <a:cs typeface="Times New Roman"/>
            </a:endParaRPr>
          </a:p>
          <a:p>
            <a:pPr marL="0" indent="0">
              <a:buNone/>
              <a:defRPr/>
            </a:pPr>
            <a:endParaRPr lang="ru-RU" sz="2400" b="1" i="1">
              <a:solidFill>
                <a:srgbClr val="000000"/>
              </a:solidFill>
              <a:latin typeface="Times New Roman"/>
              <a:cs typeface="Times New Roman"/>
            </a:endParaRPr>
          </a:p>
          <a:p>
            <a:pPr marL="0" indent="0">
              <a:buNone/>
              <a:defRPr/>
            </a:pPr>
            <a:endParaRPr lang="ru-RU" sz="2400" b="1" i="1">
              <a:solidFill>
                <a:srgbClr val="000000"/>
              </a:solidFill>
              <a:latin typeface="Times New Roman"/>
              <a:cs typeface="Times New Roman"/>
            </a:endParaRPr>
          </a:p>
          <a:p>
            <a:pPr marL="0" indent="0" algn="r">
              <a:buNone/>
              <a:defRPr/>
            </a:pPr>
            <a:r>
              <a:rPr lang="ru-RU" sz="2400" b="1" i="1">
                <a:solidFill>
                  <a:srgbClr val="000000"/>
                </a:solidFill>
                <a:latin typeface="Times New Roman"/>
                <a:cs typeface="Times New Roman"/>
              </a:rPr>
              <a:t>Подробнее</a:t>
            </a:r>
            <a:r>
              <a:rPr lang="ru-RU" sz="2400">
                <a:solidFill>
                  <a:srgbClr val="000000"/>
                </a:solidFill>
                <a:latin typeface="Times New Roman"/>
                <a:cs typeface="Times New Roman"/>
              </a:rPr>
              <a:t>: </a:t>
            </a:r>
            <a:r>
              <a:rPr lang="en-US" sz="2400" u="sng">
                <a:solidFill>
                  <a:srgbClr val="000000"/>
                </a:solidFill>
                <a:latin typeface="Times New Roman"/>
                <a:cs typeface="Times New Roman"/>
                <a:hlinkClick r:id="rId2" tooltip="https://www.software-testing.ru/library/testing/testing-for-beginners/3613-charles-proxy"/>
              </a:rPr>
              <a:t>https://www.software-testing.ru/library/testing/testing-for-beginners/3613-charles-proxy</a:t>
            </a:r>
            <a:endParaRPr lang="en-US" sz="2400">
              <a:solidFill>
                <a:srgbClr val="000000"/>
              </a:solidFill>
              <a:latin typeface="Times New Roman"/>
              <a:cs typeface="Times New Roman"/>
            </a:endParaRPr>
          </a:p>
          <a:p>
            <a:pPr marL="0" indent="0" algn="just">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7" name="Picture 2"/>
          <p:cNvPicPr>
            <a:picLocks noChangeAspect="1" noChangeArrowheads="1"/>
          </p:cNvPicPr>
          <p:nvPr/>
        </p:nvPicPr>
        <p:blipFill>
          <a:blip r:embed="rId3"/>
          <a:stretch/>
        </p:blipFill>
        <p:spPr bwMode="auto">
          <a:xfrm>
            <a:off x="1561903" y="574766"/>
            <a:ext cx="10521241" cy="5538651"/>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ru-RU" sz="2900" b="1">
                <a:solidFill>
                  <a:srgbClr val="222222"/>
                </a:solidFill>
                <a:latin typeface="Times New Roman"/>
                <a:cs typeface="Arial"/>
              </a:rPr>
              <a:t>Установка и настройка </a:t>
            </a:r>
            <a:r>
              <a:rPr lang="en-US" sz="2900" b="1">
                <a:solidFill>
                  <a:srgbClr val="222222"/>
                </a:solidFill>
                <a:latin typeface="Times New Roman"/>
                <a:cs typeface="Arial"/>
              </a:rPr>
              <a:t>Charles Proxy</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37653" y="574767"/>
            <a:ext cx="10493238" cy="6165668"/>
          </a:xfrm>
        </p:spPr>
        <p:txBody>
          <a:bodyPr>
            <a:normAutofit fontScale="47500" lnSpcReduction="20000"/>
          </a:bodyPr>
          <a:lstStyle/>
          <a:p>
            <a:pPr marL="0" indent="0" algn="just">
              <a:buNone/>
              <a:defRPr/>
            </a:pPr>
            <a:endParaRPr lang="ru-RU" sz="2400" b="1">
              <a:solidFill>
                <a:srgbClr val="333333"/>
              </a:solidFill>
              <a:latin typeface="Times New Roman"/>
              <a:cs typeface="Times New Roman"/>
            </a:endParaRPr>
          </a:p>
          <a:p>
            <a:pPr marL="0" indent="0" algn="just">
              <a:buFont typeface="Wingdings 3"/>
              <a:buNone/>
              <a:defRPr/>
            </a:pPr>
            <a:r>
              <a:rPr lang="ru-RU" sz="3600" u="sng">
                <a:solidFill>
                  <a:srgbClr val="333333"/>
                </a:solidFill>
                <a:latin typeface="Times New Roman"/>
                <a:cs typeface="Times New Roman"/>
                <a:hlinkClick r:id="rId2" tooltip="https://www.charlesproxy.com/documentation/installation/"/>
              </a:rPr>
              <a:t>1) Устанавливаем</a:t>
            </a:r>
            <a:r>
              <a:rPr lang="ru-RU" sz="3600">
                <a:solidFill>
                  <a:srgbClr val="333333"/>
                </a:solidFill>
                <a:latin typeface="Times New Roman"/>
                <a:cs typeface="Times New Roman"/>
              </a:rPr>
              <a:t> и запускаем Charles </a:t>
            </a:r>
            <a:r>
              <a:rPr lang="ru-RU" sz="3600">
                <a:solidFill>
                  <a:srgbClr val="333333"/>
                </a:solidFill>
                <a:latin typeface="Times New Roman"/>
                <a:cs typeface="Times New Roman"/>
              </a:rPr>
              <a:t>Proxy</a:t>
            </a:r>
            <a:r>
              <a:rPr lang="ru-RU" sz="3600">
                <a:solidFill>
                  <a:srgbClr val="333333"/>
                </a:solidFill>
                <a:latin typeface="Times New Roman"/>
                <a:cs typeface="Times New Roman"/>
              </a:rPr>
              <a:t>.</a:t>
            </a:r>
            <a:endParaRPr/>
          </a:p>
          <a:p>
            <a:pPr marL="0" indent="0" algn="just">
              <a:buFont typeface="Wingdings 3"/>
              <a:buNone/>
              <a:defRPr/>
            </a:pPr>
            <a:r>
              <a:rPr lang="ru-RU" sz="3600">
                <a:solidFill>
                  <a:srgbClr val="333333"/>
                </a:solidFill>
                <a:latin typeface="Times New Roman"/>
                <a:cs typeface="Times New Roman"/>
              </a:rPr>
              <a:t>2) Для расшифровки SSL-соединений потребуется установка сертификата. Переходим по ссылке </a:t>
            </a:r>
            <a:r>
              <a:rPr lang="ru-RU" sz="3600" u="sng">
                <a:solidFill>
                  <a:srgbClr val="333333"/>
                </a:solidFill>
                <a:latin typeface="Times New Roman"/>
                <a:cs typeface="Times New Roman"/>
                <a:hlinkClick r:id="rId3" tooltip="http://www.charlesproxy.com/getssl/"/>
              </a:rPr>
              <a:t>chls.pro/</a:t>
            </a:r>
            <a:r>
              <a:rPr lang="ru-RU" sz="3600" u="sng">
                <a:solidFill>
                  <a:srgbClr val="333333"/>
                </a:solidFill>
                <a:latin typeface="Times New Roman"/>
                <a:cs typeface="Times New Roman"/>
                <a:hlinkClick r:id="rId3" tooltip="http://www.charlesproxy.com/getssl/"/>
              </a:rPr>
              <a:t>ssl</a:t>
            </a:r>
            <a:r>
              <a:rPr lang="ru-RU" sz="3600">
                <a:solidFill>
                  <a:srgbClr val="333333"/>
                </a:solidFill>
                <a:latin typeface="Times New Roman"/>
                <a:cs typeface="Times New Roman"/>
              </a:rPr>
              <a:t> на тестовом устройстве.</a:t>
            </a:r>
            <a:endParaRPr/>
          </a:p>
          <a:p>
            <a:pPr marL="0" indent="0" algn="just">
              <a:buFont typeface="Wingdings 3"/>
              <a:buNone/>
              <a:defRPr/>
            </a:pPr>
            <a:r>
              <a:rPr lang="ru-RU" sz="3600">
                <a:solidFill>
                  <a:srgbClr val="333333"/>
                </a:solidFill>
                <a:latin typeface="Times New Roman"/>
                <a:cs typeface="Times New Roman"/>
              </a:rPr>
              <a:t>3) Для </a:t>
            </a:r>
            <a:r>
              <a:rPr lang="ru-RU" sz="3600">
                <a:solidFill>
                  <a:srgbClr val="333333"/>
                </a:solidFill>
                <a:latin typeface="Times New Roman"/>
                <a:cs typeface="Times New Roman"/>
              </a:rPr>
              <a:t>iOS</a:t>
            </a:r>
            <a:r>
              <a:rPr lang="ru-RU" sz="3600">
                <a:solidFill>
                  <a:srgbClr val="333333"/>
                </a:solidFill>
                <a:latin typeface="Times New Roman"/>
                <a:cs typeface="Times New Roman"/>
              </a:rPr>
              <a:t> необходимо дополнительно подтвердить доверие сертификату в настройках: General -&gt; </a:t>
            </a:r>
            <a:r>
              <a:rPr lang="ru-RU" sz="3600">
                <a:solidFill>
                  <a:srgbClr val="333333"/>
                </a:solidFill>
                <a:latin typeface="Times New Roman"/>
                <a:cs typeface="Times New Roman"/>
              </a:rPr>
              <a:t>About</a:t>
            </a:r>
            <a:r>
              <a:rPr lang="ru-RU" sz="3600">
                <a:solidFill>
                  <a:srgbClr val="333333"/>
                </a:solidFill>
                <a:latin typeface="Times New Roman"/>
                <a:cs typeface="Times New Roman"/>
              </a:rPr>
              <a:t> -&gt; Trust </a:t>
            </a:r>
            <a:r>
              <a:rPr lang="ru-RU" sz="3600">
                <a:solidFill>
                  <a:srgbClr val="333333"/>
                </a:solidFill>
                <a:latin typeface="Times New Roman"/>
                <a:cs typeface="Times New Roman"/>
              </a:rPr>
              <a:t>Certificates</a:t>
            </a:r>
            <a:r>
              <a:rPr lang="ru-RU" sz="3600">
                <a:solidFill>
                  <a:srgbClr val="333333"/>
                </a:solidFill>
                <a:latin typeface="Times New Roman"/>
                <a:cs typeface="Times New Roman"/>
              </a:rPr>
              <a:t>. Для </a:t>
            </a:r>
            <a:r>
              <a:rPr lang="ru-RU" sz="3600">
                <a:solidFill>
                  <a:srgbClr val="333333"/>
                </a:solidFill>
                <a:latin typeface="Times New Roman"/>
                <a:cs typeface="Times New Roman"/>
              </a:rPr>
              <a:t>Android</a:t>
            </a:r>
            <a:r>
              <a:rPr lang="ru-RU" sz="3600">
                <a:solidFill>
                  <a:srgbClr val="333333"/>
                </a:solidFill>
                <a:latin typeface="Times New Roman"/>
                <a:cs typeface="Times New Roman"/>
              </a:rPr>
              <a:t> 7.0 и выше в код приложения должен быть добавлен </a:t>
            </a:r>
            <a:r>
              <a:rPr lang="ru-RU" sz="3600">
                <a:solidFill>
                  <a:srgbClr val="333333"/>
                </a:solidFill>
                <a:latin typeface="Times New Roman"/>
                <a:cs typeface="Times New Roman"/>
              </a:rPr>
              <a:t>network_security_config</a:t>
            </a:r>
            <a:r>
              <a:rPr lang="ru-RU" sz="3600">
                <a:solidFill>
                  <a:srgbClr val="333333"/>
                </a:solidFill>
                <a:latin typeface="Times New Roman"/>
                <a:cs typeface="Times New Roman"/>
              </a:rPr>
              <a:t>. Подробно описывается </a:t>
            </a:r>
            <a:r>
              <a:rPr lang="ru-RU" sz="3600" u="sng">
                <a:solidFill>
                  <a:srgbClr val="333333"/>
                </a:solidFill>
                <a:latin typeface="Times New Roman"/>
                <a:cs typeface="Times New Roman"/>
                <a:hlinkClick r:id="rId4" tooltip="https://www.charlesproxy.com/documentation/using-charles/ssl-certificates/"/>
              </a:rPr>
              <a:t>здесь</a:t>
            </a:r>
            <a:r>
              <a:rPr lang="ru-RU" sz="3600">
                <a:solidFill>
                  <a:srgbClr val="333333"/>
                </a:solidFill>
                <a:latin typeface="Times New Roman"/>
                <a:cs typeface="Times New Roman"/>
              </a:rPr>
              <a:t>.</a:t>
            </a:r>
            <a:endParaRPr/>
          </a:p>
          <a:p>
            <a:pPr marL="0" indent="0">
              <a:buFont typeface="Wingdings 3"/>
              <a:buNone/>
              <a:defRPr/>
            </a:pPr>
            <a:r>
              <a:rPr lang="ru-RU" sz="3600">
                <a:solidFill>
                  <a:srgbClr val="333333"/>
                </a:solidFill>
                <a:latin typeface="Times New Roman"/>
                <a:cs typeface="Times New Roman"/>
              </a:rPr>
              <a:t>4) Настраиваем </a:t>
            </a:r>
            <a:r>
              <a:rPr lang="ru-RU" sz="3600">
                <a:solidFill>
                  <a:srgbClr val="333333"/>
                </a:solidFill>
                <a:latin typeface="Times New Roman"/>
                <a:cs typeface="Times New Roman"/>
              </a:rPr>
              <a:t>проксирование</a:t>
            </a:r>
            <a:r>
              <a:rPr lang="ru-RU" sz="3600">
                <a:solidFill>
                  <a:srgbClr val="333333"/>
                </a:solidFill>
                <a:latin typeface="Times New Roman"/>
                <a:cs typeface="Times New Roman"/>
              </a:rPr>
              <a:t> через Charles:</a:t>
            </a:r>
            <a:br>
              <a:rPr lang="ru-RU" sz="3600">
                <a:solidFill>
                  <a:srgbClr val="333333"/>
                </a:solidFill>
                <a:latin typeface="Times New Roman"/>
                <a:cs typeface="Times New Roman"/>
              </a:rPr>
            </a:br>
            <a:endParaRPr lang="ru-RU" sz="3600">
              <a:solidFill>
                <a:srgbClr val="333333"/>
              </a:solidFill>
              <a:latin typeface="Times New Roman"/>
              <a:cs typeface="Times New Roman"/>
            </a:endParaRPr>
          </a:p>
          <a:p>
            <a:pPr lvl="1" algn="just">
              <a:defRPr/>
            </a:pPr>
            <a:r>
              <a:rPr lang="ru-RU" sz="3600">
                <a:solidFill>
                  <a:srgbClr val="333333"/>
                </a:solidFill>
                <a:latin typeface="Times New Roman"/>
                <a:cs typeface="Times New Roman"/>
              </a:rPr>
              <a:t>если ПК c Charles и тестовое устройство принадлежат одной </a:t>
            </a:r>
            <a:r>
              <a:rPr lang="ru-RU" sz="3600">
                <a:solidFill>
                  <a:srgbClr val="333333"/>
                </a:solidFill>
                <a:latin typeface="Times New Roman"/>
                <a:cs typeface="Times New Roman"/>
              </a:rPr>
              <a:t>Wi</a:t>
            </a:r>
            <a:r>
              <a:rPr lang="ru-RU" sz="3600">
                <a:solidFill>
                  <a:srgbClr val="333333"/>
                </a:solidFill>
                <a:latin typeface="Times New Roman"/>
                <a:cs typeface="Times New Roman"/>
              </a:rPr>
              <a:t>-Fi сети, переходим в настройки </a:t>
            </a:r>
            <a:r>
              <a:rPr lang="ru-RU" sz="3600">
                <a:solidFill>
                  <a:srgbClr val="333333"/>
                </a:solidFill>
                <a:latin typeface="Times New Roman"/>
                <a:cs typeface="Times New Roman"/>
              </a:rPr>
              <a:t>Wi</a:t>
            </a:r>
            <a:r>
              <a:rPr lang="ru-RU" sz="3600">
                <a:solidFill>
                  <a:srgbClr val="333333"/>
                </a:solidFill>
                <a:latin typeface="Times New Roman"/>
                <a:cs typeface="Times New Roman"/>
              </a:rPr>
              <a:t>-Fi тестового девайса, прописываем настройки прокси-сервера: IP-адрес устройства, на котором запущен Charles, в поле Server (</a:t>
            </a:r>
            <a:r>
              <a:rPr lang="ru-RU" sz="3600">
                <a:solidFill>
                  <a:srgbClr val="333333"/>
                </a:solidFill>
                <a:latin typeface="Times New Roman"/>
                <a:cs typeface="Times New Roman"/>
              </a:rPr>
              <a:t>Hostname</a:t>
            </a:r>
            <a:r>
              <a:rPr lang="ru-RU" sz="3600">
                <a:solidFill>
                  <a:srgbClr val="333333"/>
                </a:solidFill>
                <a:latin typeface="Times New Roman"/>
                <a:cs typeface="Times New Roman"/>
              </a:rPr>
              <a:t>), порт 8888;</a:t>
            </a:r>
            <a:endParaRPr/>
          </a:p>
          <a:p>
            <a:pPr lvl="1" algn="just">
              <a:defRPr/>
            </a:pPr>
            <a:r>
              <a:rPr lang="ru-RU" sz="3600">
                <a:solidFill>
                  <a:srgbClr val="333333"/>
                </a:solidFill>
                <a:latin typeface="Times New Roman"/>
                <a:cs typeface="Times New Roman"/>
              </a:rPr>
              <a:t>если ПК с Charles подключен к проводной сети, но с него можно раздать </a:t>
            </a:r>
            <a:r>
              <a:rPr lang="ru-RU" sz="3600">
                <a:solidFill>
                  <a:srgbClr val="333333"/>
                </a:solidFill>
                <a:latin typeface="Times New Roman"/>
                <a:cs typeface="Times New Roman"/>
              </a:rPr>
              <a:t>Wi</a:t>
            </a:r>
            <a:r>
              <a:rPr lang="ru-RU" sz="3600">
                <a:solidFill>
                  <a:srgbClr val="333333"/>
                </a:solidFill>
                <a:latin typeface="Times New Roman"/>
                <a:cs typeface="Times New Roman"/>
              </a:rPr>
              <a:t>-Fi, то делаем это;</a:t>
            </a:r>
            <a:endParaRPr/>
          </a:p>
          <a:p>
            <a:pPr lvl="1" algn="just">
              <a:defRPr/>
            </a:pPr>
            <a:r>
              <a:rPr lang="ru-RU" sz="3600">
                <a:solidFill>
                  <a:srgbClr val="333333"/>
                </a:solidFill>
                <a:latin typeface="Times New Roman"/>
                <a:cs typeface="Times New Roman"/>
              </a:rPr>
              <a:t>если ПК с Charles подключен к проводной сети и раздать интернет с него нельзя, нам понадобится дополнительное устройство, способное раздавать беспроводной интернет (роутер), на нём настраиваем Port </a:t>
            </a:r>
            <a:r>
              <a:rPr lang="ru-RU" sz="3600">
                <a:solidFill>
                  <a:srgbClr val="333333"/>
                </a:solidFill>
                <a:latin typeface="Times New Roman"/>
                <a:cs typeface="Times New Roman"/>
              </a:rPr>
              <a:t>Forwarding</a:t>
            </a:r>
            <a:r>
              <a:rPr lang="ru-RU" sz="3600">
                <a:solidFill>
                  <a:srgbClr val="333333"/>
                </a:solidFill>
                <a:latin typeface="Times New Roman"/>
                <a:cs typeface="Times New Roman"/>
              </a:rPr>
              <a:t> на адрес нашего ПК. Ищем «проброс портов &lt;модель роутера&gt;».</a:t>
            </a:r>
            <a:endParaRPr/>
          </a:p>
          <a:p>
            <a:pPr marL="0" indent="0" algn="just">
              <a:buFont typeface="Wingdings 3"/>
              <a:buNone/>
              <a:defRPr/>
            </a:pPr>
            <a:r>
              <a:rPr lang="ru-RU" sz="3600">
                <a:solidFill>
                  <a:srgbClr val="333333"/>
                </a:solidFill>
                <a:latin typeface="Times New Roman"/>
                <a:cs typeface="Times New Roman"/>
              </a:rPr>
              <a:t>5) После того, как мы связали тестовое устройство и ПК со </a:t>
            </a:r>
            <a:r>
              <a:rPr lang="ru-RU" sz="3600">
                <a:solidFill>
                  <a:srgbClr val="333333"/>
                </a:solidFill>
                <a:latin typeface="Times New Roman"/>
                <a:cs typeface="Times New Roman"/>
              </a:rPr>
              <a:t>сниффером</a:t>
            </a:r>
            <a:r>
              <a:rPr lang="ru-RU" sz="3600">
                <a:solidFill>
                  <a:srgbClr val="333333"/>
                </a:solidFill>
                <a:latin typeface="Times New Roman"/>
                <a:cs typeface="Times New Roman"/>
              </a:rPr>
              <a:t>, в Charles появится запрос на разрешение подключиться мобильному устройству.</a:t>
            </a:r>
            <a:endParaRPr/>
          </a:p>
          <a:p>
            <a:pPr marL="0" indent="0" algn="just">
              <a:buFont typeface="Wingdings 3"/>
              <a:buNone/>
              <a:defRPr/>
            </a:pPr>
            <a:r>
              <a:rPr lang="ru-RU" sz="3600">
                <a:solidFill>
                  <a:srgbClr val="333333"/>
                </a:solidFill>
                <a:latin typeface="Times New Roman"/>
                <a:cs typeface="Times New Roman"/>
              </a:rPr>
              <a:t>6) Включаем SSL </a:t>
            </a:r>
            <a:r>
              <a:rPr lang="ru-RU" sz="3600">
                <a:solidFill>
                  <a:srgbClr val="333333"/>
                </a:solidFill>
                <a:latin typeface="Times New Roman"/>
                <a:cs typeface="Times New Roman"/>
              </a:rPr>
              <a:t>Proxying</a:t>
            </a:r>
            <a:r>
              <a:rPr lang="ru-RU" sz="3600">
                <a:solidFill>
                  <a:srgbClr val="333333"/>
                </a:solidFill>
                <a:latin typeface="Times New Roman"/>
                <a:cs typeface="Times New Roman"/>
              </a:rPr>
              <a:t> </a:t>
            </a:r>
            <a:r>
              <a:rPr lang="ru-RU" sz="3600">
                <a:solidFill>
                  <a:srgbClr val="333333"/>
                </a:solidFill>
                <a:latin typeface="Times New Roman"/>
                <a:cs typeface="Times New Roman"/>
              </a:rPr>
              <a:t>Settings</a:t>
            </a:r>
            <a:r>
              <a:rPr lang="ru-RU" sz="3600">
                <a:solidFill>
                  <a:srgbClr val="333333"/>
                </a:solidFill>
                <a:latin typeface="Times New Roman"/>
                <a:cs typeface="Times New Roman"/>
              </a:rPr>
              <a:t> на нужных хостах.</a:t>
            </a:r>
            <a:endParaRPr/>
          </a:p>
          <a:p>
            <a:pPr marL="0" indent="0" algn="r">
              <a:buNone/>
              <a:defRPr/>
            </a:pPr>
            <a:endParaRPr lang="ru-RU" sz="2400" b="1" i="1">
              <a:solidFill>
                <a:srgbClr val="000000"/>
              </a:solidFill>
              <a:latin typeface="Times New Roman"/>
              <a:cs typeface="Times New Roman"/>
            </a:endParaRPr>
          </a:p>
          <a:p>
            <a:pPr marL="0" indent="0" algn="r">
              <a:buNone/>
              <a:defRPr/>
            </a:pPr>
            <a:r>
              <a:rPr lang="ru-RU" sz="3800" b="1" i="1">
                <a:solidFill>
                  <a:srgbClr val="000000"/>
                </a:solidFill>
                <a:latin typeface="Times New Roman"/>
                <a:cs typeface="Times New Roman"/>
              </a:rPr>
              <a:t>Подробнее</a:t>
            </a:r>
            <a:r>
              <a:rPr lang="ru-RU" sz="3800">
                <a:solidFill>
                  <a:srgbClr val="000000"/>
                </a:solidFill>
                <a:latin typeface="Times New Roman"/>
                <a:cs typeface="Times New Roman"/>
              </a:rPr>
              <a:t>: </a:t>
            </a:r>
            <a:r>
              <a:rPr lang="en-US" sz="3800" u="sng">
                <a:solidFill>
                  <a:srgbClr val="000000"/>
                </a:solidFill>
                <a:latin typeface="Times New Roman"/>
                <a:cs typeface="Times New Roman"/>
                <a:hlinkClick r:id="rId5" tooltip="https://habr.com/ru/articles/663926"/>
              </a:rPr>
              <a:t>https://habr.com/ru/articles/663926</a:t>
            </a:r>
            <a:endParaRPr lang="ru-RU" sz="3800">
              <a:solidFill>
                <a:srgbClr val="000000"/>
              </a:solidFill>
              <a:latin typeface="Times New Roman"/>
              <a:cs typeface="Times New Roman"/>
            </a:endParaRPr>
          </a:p>
          <a:p>
            <a:pPr marL="0" indent="0">
              <a:buNone/>
              <a:defRPr/>
            </a:pPr>
            <a:endParaRPr lang="en-US" sz="3800">
              <a:solidFill>
                <a:srgbClr val="000000"/>
              </a:solidFill>
              <a:latin typeface="Times New Roman"/>
              <a:cs typeface="Times New Roman"/>
            </a:endParaRPr>
          </a:p>
          <a:p>
            <a:pPr marL="0" indent="0" algn="just">
              <a:buNone/>
              <a:defRPr/>
            </a:pPr>
            <a:endParaRPr lang="ru-RU" sz="38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ru-RU" sz="2900" b="1">
                <a:solidFill>
                  <a:srgbClr val="222222"/>
                </a:solidFill>
                <a:latin typeface="Times New Roman"/>
                <a:cs typeface="Arial"/>
              </a:rPr>
              <a:t>Установка сертификата </a:t>
            </a:r>
            <a:r>
              <a:rPr lang="en-US" sz="2900" b="1">
                <a:solidFill>
                  <a:srgbClr val="222222"/>
                </a:solidFill>
                <a:latin typeface="Times New Roman"/>
                <a:cs typeface="Arial"/>
              </a:rPr>
              <a:t>SSL </a:t>
            </a:r>
            <a:r>
              <a:rPr lang="ru-RU" sz="2900" b="1">
                <a:solidFill>
                  <a:srgbClr val="222222"/>
                </a:solidFill>
                <a:latin typeface="Times New Roman"/>
                <a:cs typeface="Arial"/>
              </a:rPr>
              <a:t>для перехвата </a:t>
            </a:r>
            <a:r>
              <a:rPr lang="en-US" sz="2900" b="1">
                <a:solidFill>
                  <a:srgbClr val="222222"/>
                </a:solidFill>
                <a:latin typeface="Times New Roman"/>
                <a:cs typeface="Arial"/>
              </a:rPr>
              <a:t>HTTPS</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37653" y="574767"/>
            <a:ext cx="10493238" cy="6165668"/>
          </a:xfrm>
        </p:spPr>
        <p:txBody>
          <a:bodyPr>
            <a:normAutofit fontScale="55000" lnSpcReduction="20000"/>
          </a:bodyPr>
          <a:lstStyle/>
          <a:p>
            <a:pPr marL="0" indent="0" algn="just">
              <a:buNone/>
              <a:defRPr/>
            </a:pPr>
            <a:endParaRPr lang="ru-RU" sz="2400" b="1">
              <a:solidFill>
                <a:srgbClr val="333333"/>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en-US" sz="2400" b="1" i="1">
              <a:solidFill>
                <a:srgbClr val="000000"/>
              </a:solidFill>
              <a:latin typeface="Times New Roman"/>
              <a:cs typeface="Times New Roman"/>
            </a:endParaRPr>
          </a:p>
          <a:p>
            <a:pPr marL="0" indent="0" algn="r">
              <a:buNone/>
              <a:defRPr/>
            </a:pPr>
            <a:endParaRPr lang="ru-RU" sz="2400" b="1" i="1">
              <a:solidFill>
                <a:srgbClr val="000000"/>
              </a:solidFill>
              <a:latin typeface="Times New Roman"/>
              <a:cs typeface="Times New Roman"/>
            </a:endParaRPr>
          </a:p>
          <a:p>
            <a:pPr marL="0" indent="0" algn="r">
              <a:buNone/>
              <a:defRPr/>
            </a:pPr>
            <a:r>
              <a:rPr lang="ru-RU" sz="3800" b="1" i="1">
                <a:solidFill>
                  <a:srgbClr val="000000"/>
                </a:solidFill>
                <a:latin typeface="Times New Roman"/>
                <a:cs typeface="Times New Roman"/>
              </a:rPr>
              <a:t>Подробнее</a:t>
            </a:r>
            <a:r>
              <a:rPr lang="ru-RU" sz="3800">
                <a:solidFill>
                  <a:srgbClr val="000000"/>
                </a:solidFill>
                <a:latin typeface="Times New Roman"/>
                <a:cs typeface="Times New Roman"/>
              </a:rPr>
              <a:t>: </a:t>
            </a:r>
            <a:r>
              <a:rPr lang="en-US" sz="3800" u="sng">
                <a:solidFill>
                  <a:srgbClr val="000000"/>
                </a:solidFill>
                <a:latin typeface="Times New Roman"/>
                <a:cs typeface="Times New Roman"/>
                <a:hlinkClick r:id="rId2" tooltip="https://habr.com/ru/articles/663926"/>
              </a:rPr>
              <a:t>https://habr.com/ru/articles/663926</a:t>
            </a:r>
            <a:endParaRPr lang="ru-RU" sz="3800">
              <a:solidFill>
                <a:srgbClr val="000000"/>
              </a:solidFill>
              <a:latin typeface="Times New Roman"/>
              <a:cs typeface="Times New Roman"/>
            </a:endParaRPr>
          </a:p>
          <a:p>
            <a:pPr marL="0" indent="0">
              <a:buNone/>
              <a:defRPr/>
            </a:pPr>
            <a:endParaRPr lang="en-US" sz="3800">
              <a:solidFill>
                <a:srgbClr val="000000"/>
              </a:solidFill>
              <a:latin typeface="Times New Roman"/>
              <a:cs typeface="Times New Roman"/>
            </a:endParaRPr>
          </a:p>
          <a:p>
            <a:pPr marL="0" indent="0" algn="just">
              <a:buNone/>
              <a:defRPr/>
            </a:pPr>
            <a:endParaRPr lang="ru-RU" sz="38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6" name="Объект 4"/>
          <p:cNvPicPr>
            <a:picLocks noChangeAspect="1"/>
          </p:cNvPicPr>
          <p:nvPr/>
        </p:nvPicPr>
        <p:blipFill>
          <a:blip r:embed="rId3"/>
          <a:stretch/>
        </p:blipFill>
        <p:spPr bwMode="auto">
          <a:xfrm>
            <a:off x="1555366" y="574766"/>
            <a:ext cx="9980586" cy="539214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ru-RU" sz="2900" b="1">
                <a:solidFill>
                  <a:srgbClr val="222222"/>
                </a:solidFill>
                <a:latin typeface="Times New Roman"/>
                <a:cs typeface="Arial"/>
              </a:rPr>
              <a:t>Вкладки </a:t>
            </a:r>
            <a:r>
              <a:rPr lang="en-US" sz="2900" b="1">
                <a:solidFill>
                  <a:srgbClr val="222222"/>
                </a:solidFill>
                <a:latin typeface="Times New Roman"/>
                <a:cs typeface="Arial"/>
              </a:rPr>
              <a:t>Structure </a:t>
            </a:r>
            <a:r>
              <a:rPr lang="ru-RU" sz="2900" b="1">
                <a:solidFill>
                  <a:srgbClr val="222222"/>
                </a:solidFill>
                <a:latin typeface="Times New Roman"/>
                <a:cs typeface="Arial"/>
              </a:rPr>
              <a:t>и </a:t>
            </a:r>
            <a:r>
              <a:rPr lang="en-US" sz="2900" b="1">
                <a:solidFill>
                  <a:srgbClr val="222222"/>
                </a:solidFill>
                <a:latin typeface="Times New Roman"/>
                <a:cs typeface="Arial"/>
              </a:rPr>
              <a:t>Sequence</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37653" y="574767"/>
            <a:ext cx="10493238" cy="6165668"/>
          </a:xfrm>
        </p:spPr>
        <p:txBody>
          <a:bodyPr>
            <a:normAutofit fontScale="55000" lnSpcReduction="20000"/>
          </a:bodyPr>
          <a:lstStyle/>
          <a:p>
            <a:pPr marL="0" indent="0" algn="just">
              <a:buNone/>
              <a:defRPr/>
            </a:pPr>
            <a:endParaRPr lang="ru-RU" sz="2400" b="1">
              <a:solidFill>
                <a:srgbClr val="333333"/>
              </a:solidFill>
              <a:latin typeface="Times New Roman"/>
              <a:cs typeface="Times New Roman"/>
            </a:endParaRPr>
          </a:p>
          <a:p>
            <a:pPr marL="0" indent="0" algn="l">
              <a:buNone/>
              <a:defRPr/>
            </a:pPr>
            <a:r>
              <a:rPr lang="ru-RU" sz="3600">
                <a:solidFill>
                  <a:srgbClr val="333333"/>
                </a:solidFill>
                <a:latin typeface="Times New Roman"/>
                <a:cs typeface="Times New Roman"/>
              </a:rPr>
              <a:t>В списке запросов есть две основные вкладки - </a:t>
            </a:r>
            <a:r>
              <a:rPr lang="ru-RU" sz="3600">
                <a:solidFill>
                  <a:srgbClr val="333333"/>
                </a:solidFill>
                <a:latin typeface="Times New Roman"/>
                <a:cs typeface="Times New Roman"/>
              </a:rPr>
              <a:t>Structure</a:t>
            </a:r>
            <a:r>
              <a:rPr lang="ru-RU" sz="3600">
                <a:solidFill>
                  <a:srgbClr val="333333"/>
                </a:solidFill>
                <a:latin typeface="Times New Roman"/>
                <a:cs typeface="Times New Roman"/>
              </a:rPr>
              <a:t> и </a:t>
            </a:r>
            <a:r>
              <a:rPr lang="ru-RU" sz="3600">
                <a:solidFill>
                  <a:srgbClr val="333333"/>
                </a:solidFill>
                <a:latin typeface="Times New Roman"/>
                <a:cs typeface="Times New Roman"/>
              </a:rPr>
              <a:t>Sequence</a:t>
            </a:r>
            <a:r>
              <a:rPr lang="ru-RU" sz="3600">
                <a:solidFill>
                  <a:srgbClr val="333333"/>
                </a:solidFill>
                <a:latin typeface="Times New Roman"/>
                <a:cs typeface="Times New Roman"/>
              </a:rPr>
              <a:t>.</a:t>
            </a:r>
            <a:endParaRPr/>
          </a:p>
          <a:p>
            <a:pPr algn="just">
              <a:defRPr/>
            </a:pPr>
            <a:r>
              <a:rPr lang="ru-RU" sz="3600">
                <a:solidFill>
                  <a:srgbClr val="333333"/>
                </a:solidFill>
                <a:latin typeface="Times New Roman"/>
                <a:cs typeface="Times New Roman"/>
              </a:rPr>
              <a:t>На вкладке </a:t>
            </a:r>
            <a:r>
              <a:rPr lang="ru-RU" sz="3600" b="1">
                <a:solidFill>
                  <a:srgbClr val="333333"/>
                </a:solidFill>
                <a:latin typeface="Times New Roman"/>
                <a:cs typeface="Times New Roman"/>
              </a:rPr>
              <a:t>Structure</a:t>
            </a:r>
            <a:r>
              <a:rPr lang="ru-RU" sz="3600">
                <a:solidFill>
                  <a:srgbClr val="333333"/>
                </a:solidFill>
                <a:latin typeface="Times New Roman"/>
                <a:cs typeface="Times New Roman"/>
              </a:rPr>
              <a:t> запросы рассортированы по хостам-папкам. Наведя на любой из них, можно получить всю информацию о количестве запросов к этому корневому хосту, доле удачных, таймингах, размерах и т.п. Фактически, здесь представлена вся та же информация, которую можно получить из панели разработчика в браузере. Выбрав конкретный URL, можно увидеть код ответа, версии протоколов, контент и т.п. Тело запроса, заголовки, </a:t>
            </a:r>
            <a:r>
              <a:rPr lang="ru-RU" sz="3600">
                <a:solidFill>
                  <a:srgbClr val="333333"/>
                </a:solidFill>
                <a:latin typeface="Times New Roman"/>
                <a:cs typeface="Times New Roman"/>
              </a:rPr>
              <a:t>cookie</a:t>
            </a:r>
            <a:r>
              <a:rPr lang="ru-RU" sz="3600">
                <a:solidFill>
                  <a:srgbClr val="333333"/>
                </a:solidFill>
                <a:latin typeface="Times New Roman"/>
                <a:cs typeface="Times New Roman"/>
              </a:rPr>
              <a:t> (если есть) можно посмотреть в разных форматах - даже в HEX.</a:t>
            </a:r>
            <a:endParaRPr/>
          </a:p>
          <a:p>
            <a:pPr algn="just">
              <a:defRPr/>
            </a:pPr>
            <a:r>
              <a:rPr lang="ru-RU" sz="3600">
                <a:solidFill>
                  <a:srgbClr val="333333"/>
                </a:solidFill>
                <a:latin typeface="Times New Roman"/>
                <a:cs typeface="Times New Roman"/>
              </a:rPr>
              <a:t>С помощью контекстного меню запроса можно настраивать блокировки, повторять и изменять запросы.</a:t>
            </a:r>
            <a:endParaRPr/>
          </a:p>
          <a:p>
            <a:pPr algn="just">
              <a:defRPr/>
            </a:pPr>
            <a:r>
              <a:rPr lang="ru-RU" sz="3600">
                <a:solidFill>
                  <a:srgbClr val="333333"/>
                </a:solidFill>
                <a:latin typeface="Times New Roman"/>
                <a:cs typeface="Times New Roman"/>
              </a:rPr>
              <a:t>На вкладке </a:t>
            </a:r>
            <a:r>
              <a:rPr lang="ru-RU" sz="3600" b="1">
                <a:solidFill>
                  <a:srgbClr val="333333"/>
                </a:solidFill>
                <a:latin typeface="Times New Roman"/>
                <a:cs typeface="Times New Roman"/>
              </a:rPr>
              <a:t>Sequence</a:t>
            </a:r>
            <a:r>
              <a:rPr lang="ru-RU" sz="3600">
                <a:solidFill>
                  <a:srgbClr val="333333"/>
                </a:solidFill>
                <a:latin typeface="Times New Roman"/>
                <a:cs typeface="Times New Roman"/>
              </a:rPr>
              <a:t> запросы выведены по времени в виде настраиваемой таблицы. Видно, когда начался запрос, сколько он длился, его размер, статус и т.п. Наведя на конкретную строку, мы получим ту же информацию о теле, заголовках и т.п.</a:t>
            </a:r>
            <a:endParaRPr/>
          </a:p>
          <a:p>
            <a:pPr algn="just">
              <a:defRPr/>
            </a:pPr>
            <a:r>
              <a:rPr lang="ru-RU" sz="3600">
                <a:solidFill>
                  <a:srgbClr val="333333"/>
                </a:solidFill>
                <a:latin typeface="Times New Roman"/>
                <a:cs typeface="Times New Roman"/>
              </a:rPr>
              <a:t>Если запросов на экране слишком много, с помощью панели инструментов их можно очистить или вообще остановить перехват. Там же есть возможность включить и выключить </a:t>
            </a:r>
            <a:r>
              <a:rPr lang="ru-RU" sz="3600">
                <a:solidFill>
                  <a:srgbClr val="333333"/>
                </a:solidFill>
                <a:latin typeface="Times New Roman"/>
                <a:cs typeface="Times New Roman"/>
              </a:rPr>
              <a:t>троттлинг</a:t>
            </a:r>
            <a:r>
              <a:rPr lang="ru-RU" sz="3600">
                <a:solidFill>
                  <a:srgbClr val="333333"/>
                </a:solidFill>
                <a:latin typeface="Times New Roman"/>
                <a:cs typeface="Times New Roman"/>
              </a:rPr>
              <a:t> (имитация медленного Интернета). Базовая настройка каждой из функций осуществляется через меню, а кнопки панели управления выступают своего рода тумблерами On / </a:t>
            </a:r>
            <a:r>
              <a:rPr lang="ru-RU" sz="3600">
                <a:solidFill>
                  <a:srgbClr val="333333"/>
                </a:solidFill>
                <a:latin typeface="Times New Roman"/>
                <a:cs typeface="Times New Roman"/>
              </a:rPr>
              <a:t>Off</a:t>
            </a:r>
            <a:r>
              <a:rPr lang="ru-RU" sz="3600">
                <a:solidFill>
                  <a:srgbClr val="333333"/>
                </a:solidFill>
                <a:latin typeface="Times New Roman"/>
                <a:cs typeface="Times New Roman"/>
              </a:rPr>
              <a:t>.</a:t>
            </a:r>
            <a:endParaRPr/>
          </a:p>
          <a:p>
            <a:pPr algn="l">
              <a:defRPr/>
            </a:pPr>
            <a:endParaRPr lang="ru-RU" sz="3600">
              <a:solidFill>
                <a:srgbClr val="333333"/>
              </a:solidFill>
              <a:latin typeface="Times New Roman"/>
              <a:cs typeface="Times New Roman"/>
            </a:endParaRPr>
          </a:p>
          <a:p>
            <a:pPr algn="l">
              <a:defRPr/>
            </a:pPr>
            <a:endParaRPr lang="ru-RU" sz="3600">
              <a:solidFill>
                <a:srgbClr val="333333"/>
              </a:solidFill>
              <a:latin typeface="Times New Roman"/>
              <a:cs typeface="Times New Roman"/>
            </a:endParaRPr>
          </a:p>
          <a:p>
            <a:pPr marL="0" indent="0" algn="just">
              <a:buNone/>
              <a:defRPr/>
            </a:pPr>
            <a:r>
              <a:rPr lang="ru-RU" sz="3300" b="1" i="1">
                <a:solidFill>
                  <a:srgbClr val="000000"/>
                </a:solidFill>
                <a:latin typeface="Times New Roman"/>
                <a:cs typeface="Times New Roman"/>
              </a:rPr>
              <a:t>Подробнее</a:t>
            </a:r>
            <a:r>
              <a:rPr lang="ru-RU" sz="3300">
                <a:solidFill>
                  <a:srgbClr val="000000"/>
                </a:solidFill>
                <a:latin typeface="Times New Roman"/>
                <a:cs typeface="Times New Roman"/>
              </a:rPr>
              <a:t>: </a:t>
            </a:r>
            <a:r>
              <a:rPr lang="en-US" sz="3300" u="sng">
                <a:solidFill>
                  <a:srgbClr val="000000"/>
                </a:solidFill>
                <a:latin typeface="Times New Roman"/>
                <a:cs typeface="Times New Roman"/>
                <a:hlinkClick r:id="rId2" tooltip="https://www.software-testing.ru/library/testing/testing-for-beginners/3613-charles-proxy"/>
              </a:rPr>
              <a:t>https://www.software-testing.ru/library/testing/testing-for-beginners/3613-charles-proxy</a:t>
            </a:r>
            <a:endParaRPr lang="ru-RU" sz="3300">
              <a:solidFill>
                <a:srgbClr val="000000"/>
              </a:solidFill>
              <a:latin typeface="Times New Roman"/>
              <a:cs typeface="Times New Roman"/>
            </a:endParaRPr>
          </a:p>
          <a:p>
            <a:pPr marL="0" indent="0" algn="r">
              <a:buNone/>
              <a:defRPr/>
            </a:pPr>
            <a:endParaRPr lang="ru-RU" sz="3800">
              <a:solidFill>
                <a:srgbClr val="000000"/>
              </a:solidFill>
              <a:latin typeface="Times New Roman"/>
              <a:cs typeface="Times New Roman"/>
            </a:endParaRPr>
          </a:p>
          <a:p>
            <a:pPr marL="0" indent="0">
              <a:buNone/>
              <a:defRPr/>
            </a:pPr>
            <a:endParaRPr lang="en-US" sz="3800">
              <a:solidFill>
                <a:srgbClr val="000000"/>
              </a:solidFill>
              <a:latin typeface="Times New Roman"/>
              <a:cs typeface="Times New Roman"/>
            </a:endParaRPr>
          </a:p>
          <a:p>
            <a:pPr marL="0" indent="0" algn="just">
              <a:buNone/>
              <a:defRPr/>
            </a:pPr>
            <a:endParaRPr lang="ru-RU" sz="38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ru-RU" sz="2900" b="1">
                <a:solidFill>
                  <a:srgbClr val="222222"/>
                </a:solidFill>
                <a:latin typeface="Times New Roman"/>
                <a:cs typeface="Arial"/>
              </a:rPr>
              <a:t>Фильтрация запросов</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37653" y="574767"/>
            <a:ext cx="10493238" cy="6165668"/>
          </a:xfrm>
        </p:spPr>
        <p:txBody>
          <a:bodyPr>
            <a:normAutofit fontScale="47500" lnSpcReduction="20000"/>
          </a:bodyPr>
          <a:lstStyle/>
          <a:p>
            <a:pPr marL="0" indent="0" algn="just">
              <a:buNone/>
              <a:defRPr/>
            </a:pPr>
            <a:endParaRPr lang="ru-RU" sz="2400" b="1">
              <a:solidFill>
                <a:srgbClr val="333333"/>
              </a:solidFill>
              <a:latin typeface="Times New Roman"/>
              <a:cs typeface="Times New Roman"/>
            </a:endParaRPr>
          </a:p>
          <a:p>
            <a:pPr marL="0" indent="0" algn="just">
              <a:buNone/>
              <a:defRPr/>
            </a:pPr>
            <a:r>
              <a:rPr lang="ru-RU" sz="3400">
                <a:solidFill>
                  <a:srgbClr val="333333"/>
                </a:solidFill>
                <a:latin typeface="Times New Roman"/>
                <a:cs typeface="Times New Roman"/>
              </a:rPr>
              <a:t>В Charles </a:t>
            </a:r>
            <a:r>
              <a:rPr lang="ru-RU" sz="3400">
                <a:solidFill>
                  <a:srgbClr val="333333"/>
                </a:solidFill>
                <a:latin typeface="Times New Roman"/>
                <a:cs typeface="Times New Roman"/>
              </a:rPr>
              <a:t>Proxy</a:t>
            </a:r>
            <a:r>
              <a:rPr lang="ru-RU" sz="3400">
                <a:solidFill>
                  <a:srgbClr val="333333"/>
                </a:solidFill>
                <a:latin typeface="Times New Roman"/>
                <a:cs typeface="Times New Roman"/>
              </a:rPr>
              <a:t> очень много вариантов фильтрации запросов. </a:t>
            </a:r>
            <a:endParaRPr/>
          </a:p>
          <a:p>
            <a:pPr algn="just">
              <a:defRPr/>
            </a:pPr>
            <a:r>
              <a:rPr lang="ru-RU" sz="3400">
                <a:solidFill>
                  <a:srgbClr val="333333"/>
                </a:solidFill>
                <a:latin typeface="Times New Roman"/>
                <a:cs typeface="Times New Roman"/>
              </a:rPr>
              <a:t>Начнем с вкладки </a:t>
            </a:r>
            <a:r>
              <a:rPr lang="ru-RU" sz="3400">
                <a:solidFill>
                  <a:srgbClr val="333333"/>
                </a:solidFill>
                <a:latin typeface="Times New Roman"/>
                <a:cs typeface="Times New Roman"/>
              </a:rPr>
              <a:t>Structure</a:t>
            </a:r>
            <a:r>
              <a:rPr lang="ru-RU" sz="3400">
                <a:solidFill>
                  <a:srgbClr val="333333"/>
                </a:solidFill>
                <a:latin typeface="Times New Roman"/>
                <a:cs typeface="Times New Roman"/>
              </a:rPr>
              <a:t>. Самое примитивное - скопировать хост и вставить в поле Filter (слева\внизу). Так мы увидим только запросы с этого хоста. Примерно того же результата можно добиться, если в контекстном меню хоста выбрать Focus. Остальные запросы будут собраны в </a:t>
            </a:r>
            <a:r>
              <a:rPr lang="ru-RU" sz="3400">
                <a:solidFill>
                  <a:srgbClr val="333333"/>
                </a:solidFill>
                <a:latin typeface="Times New Roman"/>
                <a:cs typeface="Times New Roman"/>
              </a:rPr>
              <a:t>Other</a:t>
            </a:r>
            <a:r>
              <a:rPr lang="ru-RU" sz="3400">
                <a:solidFill>
                  <a:srgbClr val="333333"/>
                </a:solidFill>
                <a:latin typeface="Times New Roman"/>
                <a:cs typeface="Times New Roman"/>
              </a:rPr>
              <a:t> </a:t>
            </a:r>
            <a:r>
              <a:rPr lang="ru-RU" sz="3400">
                <a:solidFill>
                  <a:srgbClr val="333333"/>
                </a:solidFill>
                <a:latin typeface="Times New Roman"/>
                <a:cs typeface="Times New Roman"/>
              </a:rPr>
              <a:t>Hosts</a:t>
            </a:r>
            <a:r>
              <a:rPr lang="ru-RU" sz="3400">
                <a:solidFill>
                  <a:srgbClr val="333333"/>
                </a:solidFill>
                <a:latin typeface="Times New Roman"/>
                <a:cs typeface="Times New Roman"/>
              </a:rPr>
              <a:t>. Если при этом перейти на закладку </a:t>
            </a:r>
            <a:r>
              <a:rPr lang="ru-RU" sz="3400">
                <a:solidFill>
                  <a:srgbClr val="333333"/>
                </a:solidFill>
                <a:latin typeface="Times New Roman"/>
                <a:cs typeface="Times New Roman"/>
              </a:rPr>
              <a:t>Sequence</a:t>
            </a:r>
            <a:r>
              <a:rPr lang="ru-RU" sz="3400">
                <a:solidFill>
                  <a:srgbClr val="333333"/>
                </a:solidFill>
                <a:latin typeface="Times New Roman"/>
                <a:cs typeface="Times New Roman"/>
              </a:rPr>
              <a:t> и отметить настройку </a:t>
            </a:r>
            <a:r>
              <a:rPr lang="ru-RU" sz="3400">
                <a:solidFill>
                  <a:srgbClr val="333333"/>
                </a:solidFill>
                <a:latin typeface="Times New Roman"/>
                <a:cs typeface="Times New Roman"/>
              </a:rPr>
              <a:t>Focused</a:t>
            </a:r>
            <a:r>
              <a:rPr lang="ru-RU" sz="3400">
                <a:solidFill>
                  <a:srgbClr val="333333"/>
                </a:solidFill>
                <a:latin typeface="Times New Roman"/>
                <a:cs typeface="Times New Roman"/>
              </a:rPr>
              <a:t>, то в списке окажется информация только о тех запросах, которые были выбраны на вкладке </a:t>
            </a:r>
            <a:r>
              <a:rPr lang="ru-RU" sz="3400">
                <a:solidFill>
                  <a:srgbClr val="333333"/>
                </a:solidFill>
                <a:latin typeface="Times New Roman"/>
                <a:cs typeface="Times New Roman"/>
              </a:rPr>
              <a:t>Structure</a:t>
            </a:r>
            <a:r>
              <a:rPr lang="ru-RU" sz="3400">
                <a:solidFill>
                  <a:srgbClr val="333333"/>
                </a:solidFill>
                <a:latin typeface="Times New Roman"/>
                <a:cs typeface="Times New Roman"/>
              </a:rPr>
              <a:t>. </a:t>
            </a:r>
            <a:endParaRPr/>
          </a:p>
          <a:p>
            <a:pPr algn="just">
              <a:defRPr/>
            </a:pPr>
            <a:r>
              <a:rPr lang="ru-RU" sz="3400">
                <a:solidFill>
                  <a:srgbClr val="333333"/>
                </a:solidFill>
                <a:latin typeface="Times New Roman"/>
                <a:cs typeface="Times New Roman"/>
              </a:rPr>
              <a:t>На вкладке </a:t>
            </a:r>
            <a:r>
              <a:rPr lang="ru-RU" sz="3400">
                <a:solidFill>
                  <a:srgbClr val="333333"/>
                </a:solidFill>
                <a:latin typeface="Times New Roman"/>
                <a:cs typeface="Times New Roman"/>
              </a:rPr>
              <a:t>Sequence</a:t>
            </a:r>
            <a:r>
              <a:rPr lang="ru-RU" sz="3400">
                <a:solidFill>
                  <a:srgbClr val="333333"/>
                </a:solidFill>
                <a:latin typeface="Times New Roman"/>
                <a:cs typeface="Times New Roman"/>
              </a:rPr>
              <a:t> есть аналогичный фильтр.</a:t>
            </a:r>
            <a:endParaRPr/>
          </a:p>
          <a:p>
            <a:pPr algn="just">
              <a:defRPr/>
            </a:pPr>
            <a:r>
              <a:rPr lang="ru-RU" sz="3400">
                <a:solidFill>
                  <a:srgbClr val="333333"/>
                </a:solidFill>
                <a:latin typeface="Times New Roman"/>
                <a:cs typeface="Times New Roman"/>
              </a:rPr>
              <a:t>Charles </a:t>
            </a:r>
            <a:r>
              <a:rPr lang="ru-RU" sz="3400">
                <a:solidFill>
                  <a:srgbClr val="333333"/>
                </a:solidFill>
                <a:latin typeface="Times New Roman"/>
                <a:cs typeface="Times New Roman"/>
              </a:rPr>
              <a:t>Proxy</a:t>
            </a:r>
            <a:r>
              <a:rPr lang="ru-RU" sz="3400">
                <a:solidFill>
                  <a:srgbClr val="333333"/>
                </a:solidFill>
                <a:latin typeface="Times New Roman"/>
                <a:cs typeface="Times New Roman"/>
              </a:rPr>
              <a:t> умеет работать с регулярными выражениями. Для этого на вкладке </a:t>
            </a:r>
            <a:r>
              <a:rPr lang="ru-RU" sz="3400">
                <a:solidFill>
                  <a:srgbClr val="333333"/>
                </a:solidFill>
                <a:latin typeface="Times New Roman"/>
                <a:cs typeface="Times New Roman"/>
              </a:rPr>
              <a:t>Sequence</a:t>
            </a:r>
            <a:r>
              <a:rPr lang="ru-RU" sz="3400">
                <a:solidFill>
                  <a:srgbClr val="333333"/>
                </a:solidFill>
                <a:latin typeface="Times New Roman"/>
                <a:cs typeface="Times New Roman"/>
              </a:rPr>
              <a:t> выбираем </a:t>
            </a:r>
            <a:r>
              <a:rPr lang="ru-RU" sz="3400">
                <a:solidFill>
                  <a:srgbClr val="333333"/>
                </a:solidFill>
                <a:latin typeface="Times New Roman"/>
                <a:cs typeface="Times New Roman"/>
              </a:rPr>
              <a:t>Settings</a:t>
            </a:r>
            <a:r>
              <a:rPr lang="ru-RU" sz="3400">
                <a:solidFill>
                  <a:srgbClr val="333333"/>
                </a:solidFill>
                <a:latin typeface="Times New Roman"/>
                <a:cs typeface="Times New Roman"/>
              </a:rPr>
              <a:t> и отмечаем пункт Filter </a:t>
            </a:r>
            <a:r>
              <a:rPr lang="ru-RU" sz="3400">
                <a:solidFill>
                  <a:srgbClr val="333333"/>
                </a:solidFill>
                <a:latin typeface="Times New Roman"/>
                <a:cs typeface="Times New Roman"/>
              </a:rPr>
              <a:t>uses</a:t>
            </a:r>
            <a:r>
              <a:rPr lang="ru-RU" sz="3400">
                <a:solidFill>
                  <a:srgbClr val="333333"/>
                </a:solidFill>
                <a:latin typeface="Times New Roman"/>
                <a:cs typeface="Times New Roman"/>
              </a:rPr>
              <a:t> </a:t>
            </a:r>
            <a:r>
              <a:rPr lang="ru-RU" sz="3400">
                <a:solidFill>
                  <a:srgbClr val="333333"/>
                </a:solidFill>
                <a:latin typeface="Times New Roman"/>
                <a:cs typeface="Times New Roman"/>
              </a:rPr>
              <a:t>regex</a:t>
            </a:r>
            <a:r>
              <a:rPr lang="ru-RU" sz="3400">
                <a:solidFill>
                  <a:srgbClr val="333333"/>
                </a:solidFill>
                <a:latin typeface="Times New Roman"/>
                <a:cs typeface="Times New Roman"/>
              </a:rPr>
              <a:t>. И вписываем в поле поиска элементарную регулярку, например, вот так </a:t>
            </a:r>
            <a:r>
              <a:rPr lang="ru-RU" sz="3400">
                <a:solidFill>
                  <a:srgbClr val="333333"/>
                </a:solidFill>
                <a:latin typeface="Times New Roman"/>
                <a:cs typeface="Times New Roman"/>
              </a:rPr>
              <a:t>^\w{4}\. </a:t>
            </a:r>
            <a:r>
              <a:rPr lang="ru-RU" sz="3400">
                <a:solidFill>
                  <a:srgbClr val="333333"/>
                </a:solidFill>
                <a:latin typeface="Times New Roman"/>
                <a:cs typeface="Times New Roman"/>
              </a:rPr>
              <a:t>можно выбрать все запросы, в которых в начале имени хоста находится четыре буквы, а потом идет точка. Там же можно включить </a:t>
            </a:r>
            <a:r>
              <a:rPr lang="ru-RU" sz="3400">
                <a:solidFill>
                  <a:srgbClr val="333333"/>
                </a:solidFill>
                <a:latin typeface="Times New Roman"/>
                <a:cs typeface="Times New Roman"/>
              </a:rPr>
              <a:t>Autoscroll</a:t>
            </a:r>
            <a:r>
              <a:rPr lang="ru-RU" sz="3400">
                <a:solidFill>
                  <a:srgbClr val="333333"/>
                </a:solidFill>
                <a:latin typeface="Times New Roman"/>
                <a:cs typeface="Times New Roman"/>
              </a:rPr>
              <a:t> списка запросов или указать максимальное количество строк.</a:t>
            </a:r>
            <a:endParaRPr lang="ru-RU" sz="3400">
              <a:solidFill>
                <a:srgbClr val="333333"/>
              </a:solidFill>
              <a:latin typeface="Times New Roman"/>
              <a:cs typeface="Times New Roman"/>
            </a:endParaRPr>
          </a:p>
          <a:p>
            <a:pPr algn="just">
              <a:defRPr/>
            </a:pPr>
            <a:r>
              <a:rPr lang="ru-RU" sz="3400">
                <a:solidFill>
                  <a:srgbClr val="333333"/>
                </a:solidFill>
                <a:latin typeface="Times New Roman"/>
                <a:cs typeface="Times New Roman"/>
              </a:rPr>
              <a:t>В Charles </a:t>
            </a:r>
            <a:r>
              <a:rPr lang="ru-RU" sz="3400">
                <a:solidFill>
                  <a:srgbClr val="333333"/>
                </a:solidFill>
                <a:latin typeface="Times New Roman"/>
                <a:cs typeface="Times New Roman"/>
              </a:rPr>
              <a:t>Proxy</a:t>
            </a:r>
            <a:r>
              <a:rPr lang="ru-RU" sz="3400">
                <a:solidFill>
                  <a:srgbClr val="333333"/>
                </a:solidFill>
                <a:latin typeface="Times New Roman"/>
                <a:cs typeface="Times New Roman"/>
              </a:rPr>
              <a:t> можно фильтровать не только отображение, но и запись запросов. Для этого надо зайти в </a:t>
            </a:r>
            <a:r>
              <a:rPr lang="ru-RU" sz="3400">
                <a:solidFill>
                  <a:srgbClr val="333333"/>
                </a:solidFill>
                <a:latin typeface="Times New Roman"/>
                <a:cs typeface="Times New Roman"/>
              </a:rPr>
              <a:t>Proxy</a:t>
            </a:r>
            <a:r>
              <a:rPr lang="ru-RU" sz="3400">
                <a:solidFill>
                  <a:srgbClr val="333333"/>
                </a:solidFill>
                <a:latin typeface="Times New Roman"/>
                <a:cs typeface="Times New Roman"/>
              </a:rPr>
              <a:t> -&gt; </a:t>
            </a:r>
            <a:r>
              <a:rPr lang="ru-RU" sz="3400">
                <a:solidFill>
                  <a:srgbClr val="333333"/>
                </a:solidFill>
                <a:latin typeface="Times New Roman"/>
                <a:cs typeface="Times New Roman"/>
              </a:rPr>
              <a:t>Record</a:t>
            </a:r>
            <a:r>
              <a:rPr lang="ru-RU" sz="3400">
                <a:solidFill>
                  <a:srgbClr val="333333"/>
                </a:solidFill>
                <a:latin typeface="Times New Roman"/>
                <a:cs typeface="Times New Roman"/>
              </a:rPr>
              <a:t> </a:t>
            </a:r>
            <a:r>
              <a:rPr lang="ru-RU" sz="3400">
                <a:solidFill>
                  <a:srgbClr val="333333"/>
                </a:solidFill>
                <a:latin typeface="Times New Roman"/>
                <a:cs typeface="Times New Roman"/>
              </a:rPr>
              <a:t>settings</a:t>
            </a:r>
            <a:r>
              <a:rPr lang="ru-RU" sz="3400">
                <a:solidFill>
                  <a:srgbClr val="333333"/>
                </a:solidFill>
                <a:latin typeface="Times New Roman"/>
                <a:cs typeface="Times New Roman"/>
              </a:rPr>
              <a:t> и задать условия на одной из вкладок - </a:t>
            </a:r>
            <a:r>
              <a:rPr lang="ru-RU" sz="3400">
                <a:solidFill>
                  <a:srgbClr val="333333"/>
                </a:solidFill>
                <a:latin typeface="Times New Roman"/>
                <a:cs typeface="Times New Roman"/>
              </a:rPr>
              <a:t>Include</a:t>
            </a:r>
            <a:r>
              <a:rPr lang="ru-RU" sz="3400">
                <a:solidFill>
                  <a:srgbClr val="333333"/>
                </a:solidFill>
                <a:latin typeface="Times New Roman"/>
                <a:cs typeface="Times New Roman"/>
              </a:rPr>
              <a:t> или </a:t>
            </a:r>
            <a:r>
              <a:rPr lang="ru-RU" sz="3400">
                <a:solidFill>
                  <a:srgbClr val="333333"/>
                </a:solidFill>
                <a:latin typeface="Times New Roman"/>
                <a:cs typeface="Times New Roman"/>
              </a:rPr>
              <a:t>Exclude</a:t>
            </a:r>
            <a:r>
              <a:rPr lang="ru-RU" sz="3400">
                <a:solidFill>
                  <a:srgbClr val="333333"/>
                </a:solidFill>
                <a:latin typeface="Times New Roman"/>
                <a:cs typeface="Times New Roman"/>
              </a:rPr>
              <a:t> - так мы включаем или выключаем запись запросов данного хоста.</a:t>
            </a:r>
            <a:endParaRPr/>
          </a:p>
          <a:p>
            <a:pPr algn="just">
              <a:defRPr/>
            </a:pPr>
            <a:r>
              <a:rPr lang="ru-RU" sz="3400">
                <a:solidFill>
                  <a:srgbClr val="333333"/>
                </a:solidFill>
                <a:latin typeface="Times New Roman"/>
                <a:cs typeface="Times New Roman"/>
              </a:rPr>
              <a:t>Похожего результата можно добиться, используя блок-листы. Включить хост в блок лист можно из контекстного меню (команда Block </a:t>
            </a:r>
            <a:r>
              <a:rPr lang="ru-RU" sz="3400">
                <a:solidFill>
                  <a:srgbClr val="333333"/>
                </a:solidFill>
                <a:latin typeface="Times New Roman"/>
                <a:cs typeface="Times New Roman"/>
              </a:rPr>
              <a:t>list</a:t>
            </a:r>
            <a:r>
              <a:rPr lang="ru-RU" sz="3400">
                <a:solidFill>
                  <a:srgbClr val="333333"/>
                </a:solidFill>
                <a:latin typeface="Times New Roman"/>
                <a:cs typeface="Times New Roman"/>
              </a:rPr>
              <a:t>) или через добавление в Tools -&gt; Block </a:t>
            </a:r>
            <a:r>
              <a:rPr lang="ru-RU" sz="3400">
                <a:solidFill>
                  <a:srgbClr val="333333"/>
                </a:solidFill>
                <a:latin typeface="Times New Roman"/>
                <a:cs typeface="Times New Roman"/>
              </a:rPr>
              <a:t>list</a:t>
            </a:r>
            <a:r>
              <a:rPr lang="ru-RU" sz="3400">
                <a:solidFill>
                  <a:srgbClr val="333333"/>
                </a:solidFill>
                <a:latin typeface="Times New Roman"/>
                <a:cs typeface="Times New Roman"/>
              </a:rPr>
              <a:t>, где следует отметить </a:t>
            </a:r>
            <a:r>
              <a:rPr lang="ru-RU" sz="3400">
                <a:solidFill>
                  <a:srgbClr val="333333"/>
                </a:solidFill>
                <a:latin typeface="Times New Roman"/>
                <a:cs typeface="Times New Roman"/>
              </a:rPr>
              <a:t>Enable</a:t>
            </a:r>
            <a:r>
              <a:rPr lang="ru-RU" sz="3400">
                <a:solidFill>
                  <a:srgbClr val="333333"/>
                </a:solidFill>
                <a:latin typeface="Times New Roman"/>
                <a:cs typeface="Times New Roman"/>
              </a:rPr>
              <a:t> Block </a:t>
            </a:r>
            <a:r>
              <a:rPr lang="ru-RU" sz="3400">
                <a:solidFill>
                  <a:srgbClr val="333333"/>
                </a:solidFill>
                <a:latin typeface="Times New Roman"/>
                <a:cs typeface="Times New Roman"/>
              </a:rPr>
              <a:t>list</a:t>
            </a:r>
            <a:r>
              <a:rPr lang="ru-RU" sz="3400">
                <a:solidFill>
                  <a:srgbClr val="333333"/>
                </a:solidFill>
                <a:latin typeface="Times New Roman"/>
                <a:cs typeface="Times New Roman"/>
              </a:rPr>
              <a:t>.</a:t>
            </a:r>
            <a:endParaRPr/>
          </a:p>
          <a:p>
            <a:pPr marL="0" indent="0" algn="just">
              <a:buNone/>
              <a:defRPr/>
            </a:pPr>
            <a:r>
              <a:rPr lang="ru-RU" sz="3400">
                <a:solidFill>
                  <a:srgbClr val="333333"/>
                </a:solidFill>
                <a:latin typeface="Times New Roman"/>
                <a:cs typeface="Times New Roman"/>
              </a:rPr>
              <a:t>Блокируемый запрос можно прервать двумя способами (подходящий надо выбрать в настройках):</a:t>
            </a:r>
            <a:endParaRPr/>
          </a:p>
          <a:p>
            <a:pPr algn="just">
              <a:buFont typeface="Arial"/>
              <a:buChar char="•"/>
              <a:defRPr/>
            </a:pPr>
            <a:r>
              <a:rPr lang="ru-RU" sz="3400">
                <a:solidFill>
                  <a:srgbClr val="333333"/>
                </a:solidFill>
                <a:latin typeface="Times New Roman"/>
                <a:cs typeface="Times New Roman"/>
              </a:rPr>
              <a:t>сбросить соединение;</a:t>
            </a:r>
            <a:endParaRPr/>
          </a:p>
          <a:p>
            <a:pPr algn="just">
              <a:buFont typeface="Arial"/>
              <a:buChar char="•"/>
              <a:defRPr/>
            </a:pPr>
            <a:r>
              <a:rPr lang="ru-RU" sz="3400">
                <a:solidFill>
                  <a:srgbClr val="333333"/>
                </a:solidFill>
                <a:latin typeface="Times New Roman"/>
                <a:cs typeface="Times New Roman"/>
              </a:rPr>
              <a:t>вернуть ошибку 403.</a:t>
            </a:r>
            <a:endParaRPr/>
          </a:p>
          <a:p>
            <a:pPr marL="0" indent="0" algn="just">
              <a:buNone/>
              <a:defRPr/>
            </a:pPr>
            <a:r>
              <a:rPr lang="ru-RU" sz="3400">
                <a:solidFill>
                  <a:srgbClr val="333333"/>
                </a:solidFill>
                <a:latin typeface="Times New Roman"/>
                <a:cs typeface="Times New Roman"/>
              </a:rPr>
              <a:t>От выбранного способа блокировки зависит, какой ответ мы получим.</a:t>
            </a:r>
            <a:endParaRPr/>
          </a:p>
          <a:p>
            <a:pPr marL="0" indent="0" algn="just">
              <a:buNone/>
              <a:defRPr/>
            </a:pPr>
            <a:endParaRPr lang="ru-RU" sz="3300" b="1" i="1">
              <a:solidFill>
                <a:srgbClr val="000000"/>
              </a:solidFill>
              <a:latin typeface="Times New Roman"/>
              <a:cs typeface="Times New Roman"/>
            </a:endParaRPr>
          </a:p>
          <a:p>
            <a:pPr marL="0" indent="0" algn="just">
              <a:buNone/>
              <a:defRPr/>
            </a:pPr>
            <a:r>
              <a:rPr lang="ru-RU" sz="3300" b="1" i="1">
                <a:solidFill>
                  <a:srgbClr val="000000"/>
                </a:solidFill>
                <a:latin typeface="Times New Roman"/>
                <a:cs typeface="Times New Roman"/>
              </a:rPr>
              <a:t>Подробнее</a:t>
            </a:r>
            <a:r>
              <a:rPr lang="ru-RU" sz="3300">
                <a:solidFill>
                  <a:srgbClr val="000000"/>
                </a:solidFill>
                <a:latin typeface="Times New Roman"/>
                <a:cs typeface="Times New Roman"/>
              </a:rPr>
              <a:t>: </a:t>
            </a:r>
            <a:r>
              <a:rPr lang="en-US" sz="3300" u="sng">
                <a:solidFill>
                  <a:srgbClr val="000000"/>
                </a:solidFill>
                <a:latin typeface="Times New Roman"/>
                <a:cs typeface="Times New Roman"/>
                <a:hlinkClick r:id="rId2" tooltip="https://www.software-testing.ru/library/testing/testing-for-beginners/3613-charles-proxy"/>
              </a:rPr>
              <a:t>https://www.software-testing.ru/library/testing/testing-for-beginners/3613-charles-proxy</a:t>
            </a:r>
            <a:endParaRPr lang="ru-RU" sz="3300">
              <a:solidFill>
                <a:srgbClr val="000000"/>
              </a:solidFill>
              <a:latin typeface="Times New Roman"/>
              <a:cs typeface="Times New Roman"/>
            </a:endParaRPr>
          </a:p>
          <a:p>
            <a:pPr marL="0" indent="0" algn="r">
              <a:buNone/>
              <a:defRPr/>
            </a:pPr>
            <a:endParaRPr lang="ru-RU" sz="3800">
              <a:solidFill>
                <a:srgbClr val="000000"/>
              </a:solidFill>
              <a:latin typeface="Times New Roman"/>
              <a:cs typeface="Times New Roman"/>
            </a:endParaRPr>
          </a:p>
          <a:p>
            <a:pPr marL="0" indent="0">
              <a:buNone/>
              <a:defRPr/>
            </a:pPr>
            <a:endParaRPr lang="en-US" sz="3800">
              <a:solidFill>
                <a:srgbClr val="000000"/>
              </a:solidFill>
              <a:latin typeface="Times New Roman"/>
              <a:cs typeface="Times New Roman"/>
            </a:endParaRPr>
          </a:p>
          <a:p>
            <a:pPr marL="0" indent="0" algn="just">
              <a:buNone/>
              <a:defRPr/>
            </a:pPr>
            <a:endParaRPr lang="ru-RU" sz="38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ru-RU" sz="2900" b="1">
                <a:solidFill>
                  <a:srgbClr val="222222"/>
                </a:solidFill>
                <a:latin typeface="Times New Roman"/>
                <a:cs typeface="Arial"/>
              </a:rPr>
              <a:t>Просмотр </a:t>
            </a:r>
            <a:r>
              <a:rPr lang="en-US" sz="2900" b="1">
                <a:solidFill>
                  <a:srgbClr val="222222"/>
                </a:solidFill>
                <a:latin typeface="Times New Roman"/>
                <a:cs typeface="Arial"/>
              </a:rPr>
              <a:t>SSL</a:t>
            </a:r>
            <a:r>
              <a:rPr lang="ru-RU" sz="2900" b="1">
                <a:solidFill>
                  <a:srgbClr val="222222"/>
                </a:solidFill>
                <a:latin typeface="Times New Roman"/>
                <a:cs typeface="Arial"/>
              </a:rPr>
              <a:t>-трафика</a:t>
            </a:r>
            <a:endParaRPr/>
          </a:p>
        </p:txBody>
      </p:sp>
      <p:sp>
        <p:nvSpPr>
          <p:cNvPr id="3" name="Объект 2"/>
          <p:cNvSpPr>
            <a:spLocks noGrp="1"/>
          </p:cNvSpPr>
          <p:nvPr>
            <p:ph idx="1"/>
          </p:nvPr>
        </p:nvSpPr>
        <p:spPr bwMode="auto">
          <a:xfrm>
            <a:off x="1537653" y="574767"/>
            <a:ext cx="10493238" cy="6165668"/>
          </a:xfrm>
        </p:spPr>
        <p:txBody>
          <a:bodyPr>
            <a:normAutofit fontScale="55000" lnSpcReduction="20000"/>
          </a:bodyPr>
          <a:lstStyle/>
          <a:p>
            <a:pPr marL="0" indent="0" algn="just">
              <a:buNone/>
              <a:defRPr/>
            </a:pPr>
            <a:r>
              <a:rPr lang="ru-RU" sz="3400">
                <a:solidFill>
                  <a:srgbClr val="333333"/>
                </a:solidFill>
                <a:latin typeface="Times New Roman"/>
                <a:cs typeface="Times New Roman"/>
              </a:rPr>
              <a:t>Если ранее мы успешно установили SSL-сертификат, для просмотра зашифрованного трафика остается только включить SSL </a:t>
            </a:r>
            <a:r>
              <a:rPr lang="ru-RU" sz="3400">
                <a:solidFill>
                  <a:srgbClr val="333333"/>
                </a:solidFill>
                <a:latin typeface="Times New Roman"/>
                <a:cs typeface="Times New Roman"/>
              </a:rPr>
              <a:t>proxying</a:t>
            </a:r>
            <a:r>
              <a:rPr lang="ru-RU" sz="3400">
                <a:solidFill>
                  <a:srgbClr val="333333"/>
                </a:solidFill>
                <a:latin typeface="Times New Roman"/>
                <a:cs typeface="Times New Roman"/>
              </a:rPr>
              <a:t> для нужного хоста в самом Charles </a:t>
            </a:r>
            <a:r>
              <a:rPr lang="ru-RU" sz="3400">
                <a:solidFill>
                  <a:srgbClr val="333333"/>
                </a:solidFill>
                <a:latin typeface="Times New Roman"/>
                <a:cs typeface="Times New Roman"/>
              </a:rPr>
              <a:t>Proxy</a:t>
            </a:r>
            <a:r>
              <a:rPr lang="ru-RU" sz="3400">
                <a:solidFill>
                  <a:srgbClr val="333333"/>
                </a:solidFill>
                <a:latin typeface="Times New Roman"/>
                <a:cs typeface="Times New Roman"/>
              </a:rPr>
              <a:t>. Это можно сделать через контекстное меню конкретного хоста.</a:t>
            </a:r>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r">
              <a:buNone/>
              <a:defRPr/>
            </a:pPr>
            <a:r>
              <a:rPr lang="ru-RU" sz="3300" b="1" i="1">
                <a:solidFill>
                  <a:srgbClr val="000000"/>
                </a:solidFill>
                <a:latin typeface="Times New Roman"/>
                <a:cs typeface="Times New Roman"/>
              </a:rPr>
              <a:t>Подробнее</a:t>
            </a:r>
            <a:r>
              <a:rPr lang="ru-RU" sz="3300">
                <a:solidFill>
                  <a:srgbClr val="000000"/>
                </a:solidFill>
                <a:latin typeface="Times New Roman"/>
                <a:cs typeface="Times New Roman"/>
              </a:rPr>
              <a:t>: </a:t>
            </a:r>
            <a:r>
              <a:rPr lang="en-US" sz="3300" u="sng">
                <a:solidFill>
                  <a:srgbClr val="000000"/>
                </a:solidFill>
                <a:latin typeface="Times New Roman"/>
                <a:cs typeface="Times New Roman"/>
                <a:hlinkClick r:id="rId2" tooltip="https://www.software-testing.ru/library/testing/testing-for-beginners/3613-charles-proxy"/>
              </a:rPr>
              <a:t>https://www.software-testing.ru/library/testing/testing-for-beginners/3613-charles-proxy</a:t>
            </a:r>
            <a:endParaRPr lang="ru-RU" sz="3300">
              <a:solidFill>
                <a:srgbClr val="000000"/>
              </a:solidFill>
              <a:latin typeface="Times New Roman"/>
              <a:cs typeface="Times New Roman"/>
            </a:endParaRPr>
          </a:p>
          <a:p>
            <a:pPr marL="0" indent="0" algn="r">
              <a:buNone/>
              <a:defRPr/>
            </a:pPr>
            <a:endParaRPr lang="ru-RU" sz="3800">
              <a:solidFill>
                <a:srgbClr val="000000"/>
              </a:solidFill>
              <a:latin typeface="Times New Roman"/>
              <a:cs typeface="Times New Roman"/>
            </a:endParaRPr>
          </a:p>
          <a:p>
            <a:pPr marL="0" indent="0">
              <a:buNone/>
              <a:defRPr/>
            </a:pPr>
            <a:endParaRPr lang="en-US" sz="3800">
              <a:solidFill>
                <a:srgbClr val="000000"/>
              </a:solidFill>
              <a:latin typeface="Times New Roman"/>
              <a:cs typeface="Times New Roman"/>
            </a:endParaRPr>
          </a:p>
          <a:p>
            <a:pPr marL="0" indent="0" algn="just">
              <a:buNone/>
              <a:defRPr/>
            </a:pPr>
            <a:endParaRPr lang="ru-RU" sz="38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4" name="Picture 2"/>
          <p:cNvPicPr>
            <a:picLocks noChangeAspect="1" noChangeArrowheads="1"/>
          </p:cNvPicPr>
          <p:nvPr/>
        </p:nvPicPr>
        <p:blipFill>
          <a:blip r:embed="rId3"/>
          <a:stretch/>
        </p:blipFill>
        <p:spPr bwMode="auto">
          <a:xfrm>
            <a:off x="3513909" y="1342056"/>
            <a:ext cx="6374527" cy="4836673"/>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en-US" sz="2900" b="1">
                <a:solidFill>
                  <a:srgbClr val="222222"/>
                </a:solidFill>
                <a:latin typeface="Times New Roman"/>
                <a:cs typeface="Arial"/>
              </a:rPr>
              <a:t>Breakpoints </a:t>
            </a:r>
            <a:r>
              <a:rPr lang="ru-RU" sz="2900" b="1">
                <a:solidFill>
                  <a:srgbClr val="222222"/>
                </a:solidFill>
                <a:latin typeface="Times New Roman"/>
                <a:cs typeface="Arial"/>
              </a:rPr>
              <a:t>(точки останова)</a:t>
            </a:r>
            <a:endParaRPr/>
          </a:p>
        </p:txBody>
      </p:sp>
      <p:sp>
        <p:nvSpPr>
          <p:cNvPr id="3" name="Объект 2"/>
          <p:cNvSpPr>
            <a:spLocks noGrp="1"/>
          </p:cNvSpPr>
          <p:nvPr>
            <p:ph idx="1"/>
          </p:nvPr>
        </p:nvSpPr>
        <p:spPr bwMode="auto">
          <a:xfrm>
            <a:off x="1537653" y="574767"/>
            <a:ext cx="10493238" cy="6165668"/>
          </a:xfrm>
        </p:spPr>
        <p:txBody>
          <a:bodyPr>
            <a:normAutofit fontScale="47500" lnSpcReduction="20000"/>
          </a:bodyPr>
          <a:lstStyle/>
          <a:p>
            <a:pPr marL="0" indent="0" algn="just">
              <a:buNone/>
              <a:defRPr/>
            </a:pPr>
            <a:r>
              <a:rPr lang="en-US" sz="3500">
                <a:solidFill>
                  <a:srgbClr val="333333"/>
                </a:solidFill>
                <a:latin typeface="Times New Roman"/>
                <a:cs typeface="Times New Roman"/>
              </a:rPr>
              <a:t>Breakpoints </a:t>
            </a:r>
            <a:r>
              <a:rPr lang="ru-RU" sz="3500">
                <a:solidFill>
                  <a:srgbClr val="333333"/>
                </a:solidFill>
                <a:latin typeface="Times New Roman"/>
                <a:cs typeface="Times New Roman"/>
              </a:rPr>
              <a:t>- это настройка точек остановки, которые позволяют перехватывать запросы. Установить </a:t>
            </a:r>
            <a:r>
              <a:rPr lang="ru-RU" sz="3500">
                <a:solidFill>
                  <a:srgbClr val="333333"/>
                </a:solidFill>
                <a:latin typeface="Times New Roman"/>
                <a:cs typeface="Times New Roman"/>
              </a:rPr>
              <a:t>Breakpoint</a:t>
            </a:r>
            <a:r>
              <a:rPr lang="ru-RU" sz="3500">
                <a:solidFill>
                  <a:srgbClr val="333333"/>
                </a:solidFill>
                <a:latin typeface="Times New Roman"/>
                <a:cs typeface="Times New Roman"/>
              </a:rPr>
              <a:t> можно из контекстного меню запроса. После этого все аналогичные запросы будут перехвачены. Их можно будет просматривать и редактировать.</a:t>
            </a:r>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r">
              <a:buNone/>
              <a:defRPr/>
            </a:pPr>
            <a:r>
              <a:rPr lang="ru-RU" sz="3300" b="1" i="1">
                <a:solidFill>
                  <a:srgbClr val="000000"/>
                </a:solidFill>
                <a:latin typeface="Times New Roman"/>
                <a:cs typeface="Times New Roman"/>
              </a:rPr>
              <a:t>Подробнее</a:t>
            </a:r>
            <a:r>
              <a:rPr lang="ru-RU" sz="3300">
                <a:solidFill>
                  <a:srgbClr val="000000"/>
                </a:solidFill>
                <a:latin typeface="Times New Roman"/>
                <a:cs typeface="Times New Roman"/>
              </a:rPr>
              <a:t>: </a:t>
            </a:r>
            <a:r>
              <a:rPr lang="en-US" sz="3300" u="sng">
                <a:solidFill>
                  <a:srgbClr val="000000"/>
                </a:solidFill>
                <a:latin typeface="Times New Roman"/>
                <a:cs typeface="Times New Roman"/>
                <a:hlinkClick r:id="rId2" tooltip="https://www.software-testing.ru/library/testing/testing-for-beginners/3613-charles-proxy"/>
              </a:rPr>
              <a:t>https://www.software-testing.ru/library/testing/testing-for-beginners/3613-charles-proxy</a:t>
            </a:r>
            <a:endParaRPr lang="ru-RU" sz="3300">
              <a:solidFill>
                <a:srgbClr val="000000"/>
              </a:solidFill>
              <a:latin typeface="Times New Roman"/>
              <a:cs typeface="Times New Roman"/>
            </a:endParaRPr>
          </a:p>
          <a:p>
            <a:pPr marL="0" indent="0" algn="r">
              <a:buNone/>
              <a:defRPr/>
            </a:pPr>
            <a:endParaRPr lang="ru-RU" sz="3800">
              <a:solidFill>
                <a:srgbClr val="000000"/>
              </a:solidFill>
              <a:latin typeface="Times New Roman"/>
              <a:cs typeface="Times New Roman"/>
            </a:endParaRPr>
          </a:p>
          <a:p>
            <a:pPr marL="0" indent="0">
              <a:buNone/>
              <a:defRPr/>
            </a:pPr>
            <a:endParaRPr lang="en-US" sz="3800">
              <a:solidFill>
                <a:srgbClr val="000000"/>
              </a:solidFill>
              <a:latin typeface="Times New Roman"/>
              <a:cs typeface="Times New Roman"/>
            </a:endParaRPr>
          </a:p>
          <a:p>
            <a:pPr marL="0" indent="0" algn="just">
              <a:buNone/>
              <a:defRPr/>
            </a:pPr>
            <a:endParaRPr lang="ru-RU" sz="38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5" name="Picture 2"/>
          <p:cNvPicPr>
            <a:picLocks noChangeAspect="1" noChangeArrowheads="1"/>
          </p:cNvPicPr>
          <p:nvPr/>
        </p:nvPicPr>
        <p:blipFill>
          <a:blip r:embed="rId3"/>
          <a:stretch/>
        </p:blipFill>
        <p:spPr bwMode="auto">
          <a:xfrm>
            <a:off x="4245431" y="1266870"/>
            <a:ext cx="4354489" cy="4885966"/>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en-US" sz="2900" b="1">
                <a:solidFill>
                  <a:srgbClr val="222222"/>
                </a:solidFill>
                <a:latin typeface="Times New Roman"/>
                <a:cs typeface="Arial"/>
              </a:rPr>
              <a:t>Breakpoints </a:t>
            </a:r>
            <a:r>
              <a:rPr lang="ru-RU" sz="2900" b="1">
                <a:solidFill>
                  <a:srgbClr val="222222"/>
                </a:solidFill>
                <a:latin typeface="Times New Roman"/>
                <a:cs typeface="Arial"/>
              </a:rPr>
              <a:t>(точки останова)</a:t>
            </a:r>
            <a:endParaRPr/>
          </a:p>
        </p:txBody>
      </p:sp>
      <p:sp>
        <p:nvSpPr>
          <p:cNvPr id="3" name="Объект 2"/>
          <p:cNvSpPr>
            <a:spLocks noGrp="1"/>
          </p:cNvSpPr>
          <p:nvPr>
            <p:ph idx="1"/>
          </p:nvPr>
        </p:nvSpPr>
        <p:spPr bwMode="auto">
          <a:xfrm>
            <a:off x="1537653" y="574767"/>
            <a:ext cx="10493238" cy="6165668"/>
          </a:xfrm>
        </p:spPr>
        <p:txBody>
          <a:bodyPr>
            <a:normAutofit fontScale="25000" lnSpcReduction="20000"/>
          </a:bodyPr>
          <a:lstStyle/>
          <a:p>
            <a:pPr marL="0" indent="0" algn="just">
              <a:buNone/>
              <a:defRPr/>
            </a:pPr>
            <a:endParaRPr lang="ru-RU" sz="9600">
              <a:solidFill>
                <a:srgbClr val="333333"/>
              </a:solidFill>
              <a:latin typeface="Times New Roman"/>
              <a:cs typeface="Times New Roman"/>
            </a:endParaRPr>
          </a:p>
          <a:p>
            <a:pPr marL="0" indent="0" algn="just">
              <a:buNone/>
              <a:defRPr/>
            </a:pPr>
            <a:r>
              <a:rPr lang="ru-RU" sz="9600">
                <a:solidFill>
                  <a:srgbClr val="333333"/>
                </a:solidFill>
                <a:latin typeface="Times New Roman"/>
                <a:cs typeface="Times New Roman"/>
              </a:rPr>
              <a:t>Чтобы проверить, как это работает можно использовать повтор запроса (</a:t>
            </a:r>
            <a:r>
              <a:rPr lang="ru-RU" sz="9600">
                <a:solidFill>
                  <a:srgbClr val="333333"/>
                </a:solidFill>
                <a:latin typeface="Times New Roman"/>
                <a:cs typeface="Times New Roman"/>
              </a:rPr>
              <a:t>Repeat</a:t>
            </a:r>
            <a:r>
              <a:rPr lang="ru-RU" sz="9600">
                <a:solidFill>
                  <a:srgbClr val="333333"/>
                </a:solidFill>
                <a:latin typeface="Times New Roman"/>
                <a:cs typeface="Times New Roman"/>
              </a:rPr>
              <a:t> из того же контекстного меню). Запрос перехватывается, его можно редактировать.</a:t>
            </a:r>
            <a:endParaRPr/>
          </a:p>
          <a:p>
            <a:pPr marL="0" indent="0" algn="just">
              <a:buNone/>
              <a:defRPr/>
            </a:pPr>
            <a:r>
              <a:rPr lang="ru-RU" sz="9600">
                <a:solidFill>
                  <a:srgbClr val="333333"/>
                </a:solidFill>
                <a:latin typeface="Times New Roman"/>
                <a:cs typeface="Times New Roman"/>
              </a:rPr>
              <a:t>В принципе, изменить можно всё - от </a:t>
            </a:r>
            <a:r>
              <a:rPr lang="ru-RU" sz="9600">
                <a:solidFill>
                  <a:srgbClr val="333333"/>
                </a:solidFill>
                <a:latin typeface="Times New Roman"/>
                <a:cs typeface="Times New Roman"/>
              </a:rPr>
              <a:t>header</a:t>
            </a:r>
            <a:r>
              <a:rPr lang="ru-RU" sz="9600">
                <a:solidFill>
                  <a:srgbClr val="333333"/>
                </a:solidFill>
                <a:latin typeface="Times New Roman"/>
                <a:cs typeface="Times New Roman"/>
              </a:rPr>
              <a:t> до </a:t>
            </a:r>
            <a:r>
              <a:rPr lang="ru-RU" sz="9600">
                <a:solidFill>
                  <a:srgbClr val="333333"/>
                </a:solidFill>
                <a:latin typeface="Times New Roman"/>
                <a:cs typeface="Times New Roman"/>
              </a:rPr>
              <a:t>авторизационного</a:t>
            </a:r>
            <a:r>
              <a:rPr lang="ru-RU" sz="9600">
                <a:solidFill>
                  <a:srgbClr val="333333"/>
                </a:solidFill>
                <a:latin typeface="Times New Roman"/>
                <a:cs typeface="Times New Roman"/>
              </a:rPr>
              <a:t> токена. Когда редактирование будет закончено, можно выбрать </a:t>
            </a:r>
            <a:r>
              <a:rPr lang="ru-RU" sz="9600">
                <a:solidFill>
                  <a:srgbClr val="333333"/>
                </a:solidFill>
                <a:latin typeface="Times New Roman"/>
                <a:cs typeface="Times New Roman"/>
              </a:rPr>
              <a:t>Execute</a:t>
            </a:r>
            <a:r>
              <a:rPr lang="ru-RU" sz="9600">
                <a:solidFill>
                  <a:srgbClr val="333333"/>
                </a:solidFill>
                <a:latin typeface="Times New Roman"/>
                <a:cs typeface="Times New Roman"/>
              </a:rPr>
              <a:t> и в Charles </a:t>
            </a:r>
            <a:r>
              <a:rPr lang="ru-RU" sz="9600">
                <a:solidFill>
                  <a:srgbClr val="333333"/>
                </a:solidFill>
                <a:latin typeface="Times New Roman"/>
                <a:cs typeface="Times New Roman"/>
              </a:rPr>
              <a:t>Proxy</a:t>
            </a:r>
            <a:r>
              <a:rPr lang="ru-RU" sz="9600">
                <a:solidFill>
                  <a:srgbClr val="333333"/>
                </a:solidFill>
                <a:latin typeface="Times New Roman"/>
                <a:cs typeface="Times New Roman"/>
              </a:rPr>
              <a:t> появится повторный запрос, который и отправится на сервер, а потом вернётся с ответом. В этот момент можно будет посмотреть и отредактировать ответ, который получит приложение - появится поле </a:t>
            </a:r>
            <a:r>
              <a:rPr lang="ru-RU" sz="9600">
                <a:solidFill>
                  <a:srgbClr val="333333"/>
                </a:solidFill>
                <a:latin typeface="Times New Roman"/>
                <a:cs typeface="Times New Roman"/>
              </a:rPr>
              <a:t>Edit</a:t>
            </a:r>
            <a:r>
              <a:rPr lang="ru-RU" sz="9600">
                <a:solidFill>
                  <a:srgbClr val="333333"/>
                </a:solidFill>
                <a:latin typeface="Times New Roman"/>
                <a:cs typeface="Times New Roman"/>
              </a:rPr>
              <a:t> </a:t>
            </a:r>
            <a:r>
              <a:rPr lang="ru-RU" sz="9600">
                <a:solidFill>
                  <a:srgbClr val="333333"/>
                </a:solidFill>
                <a:latin typeface="Times New Roman"/>
                <a:cs typeface="Times New Roman"/>
              </a:rPr>
              <a:t>response</a:t>
            </a:r>
            <a:r>
              <a:rPr lang="ru-RU" sz="9600">
                <a:solidFill>
                  <a:srgbClr val="333333"/>
                </a:solidFill>
                <a:latin typeface="Times New Roman"/>
                <a:cs typeface="Times New Roman"/>
              </a:rPr>
              <a:t>.</a:t>
            </a:r>
            <a:endParaRPr/>
          </a:p>
          <a:p>
            <a:pPr marL="0" indent="0" algn="just">
              <a:buNone/>
              <a:defRPr/>
            </a:pPr>
            <a:r>
              <a:rPr lang="ru-RU" sz="9600">
                <a:solidFill>
                  <a:srgbClr val="333333"/>
                </a:solidFill>
                <a:latin typeface="Times New Roman"/>
                <a:cs typeface="Times New Roman"/>
              </a:rPr>
              <a:t>Редактируя запрос, можно ввести заведомо некорректные данные и посмотреть, как ответит сервер. Также можно отредактировать ответ (внеся некорректные данные) и использовать его для тестирования фронта. Можно оставить корректные данные, но изменить код - посмотреть, как фронт воспринимает информацию, переданную через API.</a:t>
            </a:r>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r">
              <a:buNone/>
              <a:defRPr/>
            </a:pPr>
            <a:r>
              <a:rPr lang="ru-RU" sz="8000" b="1" i="1">
                <a:solidFill>
                  <a:srgbClr val="000000"/>
                </a:solidFill>
                <a:latin typeface="Times New Roman"/>
                <a:cs typeface="Times New Roman"/>
              </a:rPr>
              <a:t>Подробнее</a:t>
            </a:r>
            <a:r>
              <a:rPr lang="ru-RU" sz="8000">
                <a:solidFill>
                  <a:srgbClr val="000000"/>
                </a:solidFill>
                <a:latin typeface="Times New Roman"/>
                <a:cs typeface="Times New Roman"/>
              </a:rPr>
              <a:t>: </a:t>
            </a:r>
            <a:r>
              <a:rPr lang="en-US" sz="8000" u="sng">
                <a:solidFill>
                  <a:srgbClr val="000000"/>
                </a:solidFill>
                <a:latin typeface="Times New Roman"/>
                <a:cs typeface="Times New Roman"/>
                <a:hlinkClick r:id="rId2" tooltip="https://www.software-testing.ru/library/testing/testing-for-beginners/3613-charles-proxy"/>
              </a:rPr>
              <a:t>https://www.software-testing.ru/library/testing/testing-for-beginners/3613-charles-proxy</a:t>
            </a:r>
            <a:endParaRPr lang="ru-RU" sz="8000">
              <a:solidFill>
                <a:srgbClr val="000000"/>
              </a:solidFill>
              <a:latin typeface="Times New Roman"/>
              <a:cs typeface="Times New Roman"/>
            </a:endParaRPr>
          </a:p>
          <a:p>
            <a:pPr marL="0" indent="0" algn="r">
              <a:buNone/>
              <a:defRPr/>
            </a:pPr>
            <a:endParaRPr lang="ru-RU" sz="3800">
              <a:solidFill>
                <a:srgbClr val="000000"/>
              </a:solidFill>
              <a:latin typeface="Times New Roman"/>
              <a:cs typeface="Times New Roman"/>
            </a:endParaRPr>
          </a:p>
          <a:p>
            <a:pPr marL="0" indent="0">
              <a:buNone/>
              <a:defRPr/>
            </a:pPr>
            <a:endParaRPr lang="en-US" sz="3800">
              <a:solidFill>
                <a:srgbClr val="000000"/>
              </a:solidFill>
              <a:latin typeface="Times New Roman"/>
              <a:cs typeface="Times New Roman"/>
            </a:endParaRPr>
          </a:p>
          <a:p>
            <a:pPr marL="0" indent="0" algn="just">
              <a:buNone/>
              <a:defRPr/>
            </a:pPr>
            <a:endParaRPr lang="ru-RU" sz="38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en-US" sz="2900" b="1">
                <a:solidFill>
                  <a:srgbClr val="222222"/>
                </a:solidFill>
                <a:latin typeface="Times New Roman"/>
                <a:cs typeface="Arial"/>
              </a:rPr>
              <a:t>Tools \ Map Remote…</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37653" y="574767"/>
            <a:ext cx="10493238" cy="6165668"/>
          </a:xfrm>
        </p:spPr>
        <p:txBody>
          <a:bodyPr>
            <a:normAutofit fontScale="25000" lnSpcReduction="20000"/>
          </a:bodyPr>
          <a:lstStyle/>
          <a:p>
            <a:pPr marL="0" indent="0" algn="just">
              <a:buNone/>
              <a:defRPr/>
            </a:pPr>
            <a:r>
              <a:rPr lang="ru-RU" sz="8000">
                <a:solidFill>
                  <a:srgbClr val="333333"/>
                </a:solidFill>
                <a:latin typeface="Times New Roman"/>
                <a:cs typeface="Times New Roman"/>
              </a:rPr>
              <a:t>Ещё одна популярная функция Charles </a:t>
            </a:r>
            <a:r>
              <a:rPr lang="ru-RU" sz="8000">
                <a:solidFill>
                  <a:srgbClr val="333333"/>
                </a:solidFill>
                <a:latin typeface="Times New Roman"/>
                <a:cs typeface="Times New Roman"/>
              </a:rPr>
              <a:t>Proxy</a:t>
            </a:r>
            <a:r>
              <a:rPr lang="ru-RU" sz="8000">
                <a:solidFill>
                  <a:srgbClr val="333333"/>
                </a:solidFill>
                <a:latin typeface="Times New Roman"/>
                <a:cs typeface="Times New Roman"/>
              </a:rPr>
              <a:t> - подмена ответа сервера. Так мы можем ответ одного хоста подменить на ответ другого. Настраивается это через Tools -&gt; </a:t>
            </a:r>
            <a:r>
              <a:rPr lang="ru-RU" sz="8000">
                <a:solidFill>
                  <a:srgbClr val="333333"/>
                </a:solidFill>
                <a:latin typeface="Times New Roman"/>
                <a:cs typeface="Times New Roman"/>
              </a:rPr>
              <a:t>Map</a:t>
            </a:r>
            <a:r>
              <a:rPr lang="ru-RU" sz="8000">
                <a:solidFill>
                  <a:srgbClr val="333333"/>
                </a:solidFill>
                <a:latin typeface="Times New Roman"/>
                <a:cs typeface="Times New Roman"/>
              </a:rPr>
              <a:t> Remote. </a:t>
            </a:r>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endParaRPr lang="ru-RU" sz="3300" b="1" i="1">
              <a:solidFill>
                <a:srgbClr val="000000"/>
              </a:solidFill>
              <a:latin typeface="Times New Roman"/>
              <a:cs typeface="Times New Roman"/>
            </a:endParaRPr>
          </a:p>
          <a:p>
            <a:pPr marL="0" indent="0" algn="just">
              <a:buNone/>
              <a:defRPr/>
            </a:pPr>
            <a:r>
              <a:rPr lang="ru-RU" sz="8000">
                <a:solidFill>
                  <a:srgbClr val="333333"/>
                </a:solidFill>
                <a:latin typeface="Times New Roman"/>
                <a:cs typeface="Times New Roman"/>
              </a:rPr>
              <a:t>В левом нижнем углу есть кнопки </a:t>
            </a:r>
            <a:r>
              <a:rPr lang="ru-RU" sz="8000">
                <a:solidFill>
                  <a:srgbClr val="333333"/>
                </a:solidFill>
                <a:latin typeface="Times New Roman"/>
                <a:cs typeface="Times New Roman"/>
              </a:rPr>
              <a:t>Import</a:t>
            </a:r>
            <a:r>
              <a:rPr lang="ru-RU" sz="8000">
                <a:solidFill>
                  <a:srgbClr val="333333"/>
                </a:solidFill>
                <a:latin typeface="Times New Roman"/>
                <a:cs typeface="Times New Roman"/>
              </a:rPr>
              <a:t> и </a:t>
            </a:r>
            <a:r>
              <a:rPr lang="ru-RU" sz="8000">
                <a:solidFill>
                  <a:srgbClr val="333333"/>
                </a:solidFill>
                <a:latin typeface="Times New Roman"/>
                <a:cs typeface="Times New Roman"/>
              </a:rPr>
              <a:t>Export</a:t>
            </a:r>
            <a:r>
              <a:rPr lang="ru-RU" sz="8000">
                <a:solidFill>
                  <a:srgbClr val="333333"/>
                </a:solidFill>
                <a:latin typeface="Times New Roman"/>
                <a:cs typeface="Times New Roman"/>
              </a:rPr>
              <a:t>. Они позволяют обмениваться настройками - переносить их с одного рабочего места на другое.</a:t>
            </a:r>
            <a:endParaRPr/>
          </a:p>
          <a:p>
            <a:pPr marL="0" indent="0" algn="just">
              <a:buNone/>
              <a:defRPr/>
            </a:pPr>
            <a:r>
              <a:rPr lang="ru-RU" sz="6400">
                <a:solidFill>
                  <a:srgbClr val="333333"/>
                </a:solidFill>
                <a:latin typeface="Times New Roman"/>
                <a:cs typeface="Times New Roman"/>
              </a:rPr>
              <a:t>Например, мы можем подменить контура. Я буду посылать запрос на </a:t>
            </a:r>
            <a:r>
              <a:rPr lang="ru-RU" sz="6400">
                <a:solidFill>
                  <a:srgbClr val="333333"/>
                </a:solidFill>
                <a:latin typeface="Times New Roman"/>
                <a:cs typeface="Times New Roman"/>
              </a:rPr>
              <a:t>dev</a:t>
            </a:r>
            <a:r>
              <a:rPr lang="ru-RU" sz="6400">
                <a:solidFill>
                  <a:srgbClr val="333333"/>
                </a:solidFill>
                <a:latin typeface="Times New Roman"/>
                <a:cs typeface="Times New Roman"/>
              </a:rPr>
              <a:t>-контур, но ответ хочу получить с тестового стенда. Для этого создаем новый пункт в списке </a:t>
            </a:r>
            <a:r>
              <a:rPr lang="ru-RU" sz="6400">
                <a:solidFill>
                  <a:srgbClr val="333333"/>
                </a:solidFill>
                <a:latin typeface="Times New Roman"/>
                <a:cs typeface="Times New Roman"/>
              </a:rPr>
              <a:t>Map</a:t>
            </a:r>
            <a:r>
              <a:rPr lang="ru-RU" sz="6400">
                <a:solidFill>
                  <a:srgbClr val="333333"/>
                </a:solidFill>
                <a:latin typeface="Times New Roman"/>
                <a:cs typeface="Times New Roman"/>
              </a:rPr>
              <a:t> Remote </a:t>
            </a:r>
            <a:r>
              <a:rPr lang="ru-RU" sz="6400">
                <a:solidFill>
                  <a:srgbClr val="333333"/>
                </a:solidFill>
                <a:latin typeface="Times New Roman"/>
                <a:cs typeface="Times New Roman"/>
              </a:rPr>
              <a:t>Settings</a:t>
            </a:r>
            <a:r>
              <a:rPr lang="ru-RU" sz="6400">
                <a:solidFill>
                  <a:srgbClr val="333333"/>
                </a:solidFill>
                <a:latin typeface="Times New Roman"/>
                <a:cs typeface="Times New Roman"/>
              </a:rPr>
              <a:t>. </a:t>
            </a:r>
            <a:r>
              <a:rPr lang="ru-RU" sz="6400">
                <a:solidFill>
                  <a:srgbClr val="333333"/>
                </a:solidFill>
                <a:latin typeface="Times New Roman"/>
                <a:cs typeface="Times New Roman"/>
              </a:rPr>
              <a:t>Map</a:t>
            </a:r>
            <a:r>
              <a:rPr lang="ru-RU" sz="6400">
                <a:solidFill>
                  <a:srgbClr val="333333"/>
                </a:solidFill>
                <a:latin typeface="Times New Roman"/>
                <a:cs typeface="Times New Roman"/>
              </a:rPr>
              <a:t> From - куда изначально был запрос; </a:t>
            </a:r>
            <a:r>
              <a:rPr lang="ru-RU" sz="6400">
                <a:solidFill>
                  <a:srgbClr val="333333"/>
                </a:solidFill>
                <a:latin typeface="Times New Roman"/>
                <a:cs typeface="Times New Roman"/>
              </a:rPr>
              <a:t>Map</a:t>
            </a:r>
            <a:r>
              <a:rPr lang="ru-RU" sz="6400">
                <a:solidFill>
                  <a:srgbClr val="333333"/>
                </a:solidFill>
                <a:latin typeface="Times New Roman"/>
                <a:cs typeface="Times New Roman"/>
              </a:rPr>
              <a:t> </a:t>
            </a:r>
            <a:r>
              <a:rPr lang="ru-RU" sz="6400">
                <a:solidFill>
                  <a:srgbClr val="333333"/>
                </a:solidFill>
                <a:latin typeface="Times New Roman"/>
                <a:cs typeface="Times New Roman"/>
              </a:rPr>
              <a:t>to</a:t>
            </a:r>
            <a:r>
              <a:rPr lang="ru-RU" sz="6400">
                <a:solidFill>
                  <a:srgbClr val="333333"/>
                </a:solidFill>
                <a:latin typeface="Times New Roman"/>
                <a:cs typeface="Times New Roman"/>
              </a:rPr>
              <a:t> - откуда берем ответ. Эта функция может быть полезна, если мы поймали ошибку на </a:t>
            </a:r>
            <a:r>
              <a:rPr lang="ru-RU" sz="6400">
                <a:solidFill>
                  <a:srgbClr val="333333"/>
                </a:solidFill>
                <a:latin typeface="Times New Roman"/>
                <a:cs typeface="Times New Roman"/>
              </a:rPr>
              <a:t>продакшене</a:t>
            </a:r>
            <a:r>
              <a:rPr lang="ru-RU" sz="6400">
                <a:solidFill>
                  <a:srgbClr val="333333"/>
                </a:solidFill>
                <a:latin typeface="Times New Roman"/>
                <a:cs typeface="Times New Roman"/>
              </a:rPr>
              <a:t>, например при загрузке таблицы, а информации в </a:t>
            </a:r>
            <a:r>
              <a:rPr lang="ru-RU" sz="6400">
                <a:solidFill>
                  <a:srgbClr val="333333"/>
                </a:solidFill>
                <a:latin typeface="Times New Roman"/>
                <a:cs typeface="Times New Roman"/>
              </a:rPr>
              <a:t>dev</a:t>
            </a:r>
            <a:r>
              <a:rPr lang="ru-RU" sz="6400">
                <a:solidFill>
                  <a:srgbClr val="333333"/>
                </a:solidFill>
                <a:latin typeface="Times New Roman"/>
                <a:cs typeface="Times New Roman"/>
              </a:rPr>
              <a:t>-контуре для полноценного тестирования не хватает. Вместо того, чтобы перезаполнять информацию в каждом контуре, мы можем скопировать ответ сервера в нужный контур и посмотреть, как он ведет себя после исправления ошибки.</a:t>
            </a:r>
            <a:endParaRPr/>
          </a:p>
          <a:p>
            <a:pPr marL="0" indent="0" algn="r">
              <a:buNone/>
              <a:defRPr/>
            </a:pPr>
            <a:r>
              <a:rPr lang="ru-RU" sz="8000" b="1" i="1">
                <a:solidFill>
                  <a:srgbClr val="000000"/>
                </a:solidFill>
                <a:latin typeface="Times New Roman"/>
                <a:cs typeface="Times New Roman"/>
              </a:rPr>
              <a:t>Подробнее</a:t>
            </a:r>
            <a:r>
              <a:rPr lang="ru-RU" sz="8000">
                <a:solidFill>
                  <a:srgbClr val="000000"/>
                </a:solidFill>
                <a:latin typeface="Times New Roman"/>
                <a:cs typeface="Times New Roman"/>
              </a:rPr>
              <a:t>: </a:t>
            </a:r>
            <a:r>
              <a:rPr lang="en-US" sz="8000" u="sng">
                <a:solidFill>
                  <a:srgbClr val="000000"/>
                </a:solidFill>
                <a:latin typeface="Times New Roman"/>
                <a:cs typeface="Times New Roman"/>
                <a:hlinkClick r:id="rId2" tooltip="https://www.software-testing.ru/library/testing/testing-for-beginners/3613-charles-proxy"/>
              </a:rPr>
              <a:t>https://www.software-testing.ru/library/testing/testing-for-beginners/3613-charles-proxy</a:t>
            </a:r>
            <a:endParaRPr lang="ru-RU" sz="8000">
              <a:solidFill>
                <a:srgbClr val="000000"/>
              </a:solidFill>
              <a:latin typeface="Times New Roman"/>
              <a:cs typeface="Times New Roman"/>
            </a:endParaRPr>
          </a:p>
          <a:p>
            <a:pPr marL="0" indent="0" algn="r">
              <a:buNone/>
              <a:defRPr/>
            </a:pPr>
            <a:endParaRPr lang="ru-RU" sz="3800">
              <a:solidFill>
                <a:srgbClr val="000000"/>
              </a:solidFill>
              <a:latin typeface="Times New Roman"/>
              <a:cs typeface="Times New Roman"/>
            </a:endParaRPr>
          </a:p>
          <a:p>
            <a:pPr marL="0" indent="0">
              <a:buNone/>
              <a:defRPr/>
            </a:pPr>
            <a:endParaRPr lang="en-US" sz="3800">
              <a:solidFill>
                <a:srgbClr val="000000"/>
              </a:solidFill>
              <a:latin typeface="Times New Roman"/>
              <a:cs typeface="Times New Roman"/>
            </a:endParaRPr>
          </a:p>
          <a:p>
            <a:pPr marL="0" indent="0" algn="just">
              <a:buNone/>
              <a:defRPr/>
            </a:pPr>
            <a:endParaRPr lang="ru-RU" sz="38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4" name="Picture 4"/>
          <p:cNvPicPr>
            <a:picLocks noChangeAspect="1" noChangeArrowheads="1"/>
          </p:cNvPicPr>
          <p:nvPr/>
        </p:nvPicPr>
        <p:blipFill>
          <a:blip r:embed="rId3"/>
          <a:stretch/>
        </p:blipFill>
        <p:spPr bwMode="auto">
          <a:xfrm>
            <a:off x="3683726" y="1168302"/>
            <a:ext cx="5172891" cy="3336515"/>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en-US" sz="2900" b="1">
                <a:solidFill>
                  <a:srgbClr val="222222"/>
                </a:solidFill>
                <a:latin typeface="Times New Roman"/>
                <a:cs typeface="Arial"/>
              </a:rPr>
              <a:t>Tools \ Map Local</a:t>
            </a:r>
            <a:r>
              <a:rPr lang="ru-RU" sz="2900" b="1">
                <a:solidFill>
                  <a:srgbClr val="222222"/>
                </a:solidFill>
                <a:latin typeface="Times New Roman"/>
                <a:cs typeface="Arial"/>
              </a:rPr>
              <a:t>… и </a:t>
            </a:r>
            <a:r>
              <a:rPr lang="en-US" sz="2900" b="1">
                <a:solidFill>
                  <a:srgbClr val="222222"/>
                </a:solidFill>
                <a:latin typeface="Times New Roman"/>
                <a:cs typeface="Arial"/>
              </a:rPr>
              <a:t>Rewrite…</a:t>
            </a:r>
            <a:br>
              <a:rPr lang="en-US" sz="2900" b="1">
                <a:solidFill>
                  <a:srgbClr val="222222"/>
                </a:solidFill>
                <a:latin typeface="Times New Roman"/>
                <a:cs typeface="Arial"/>
              </a:rPr>
            </a:b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91786" y="574767"/>
            <a:ext cx="10493238" cy="6165668"/>
          </a:xfrm>
        </p:spPr>
        <p:txBody>
          <a:bodyPr>
            <a:normAutofit fontScale="25000" lnSpcReduction="20000"/>
          </a:bodyPr>
          <a:lstStyle/>
          <a:p>
            <a:pPr marL="0" indent="0" algn="just">
              <a:buNone/>
              <a:defRPr/>
            </a:pPr>
            <a:r>
              <a:rPr lang="ru-RU" sz="8800">
                <a:solidFill>
                  <a:srgbClr val="333333"/>
                </a:solidFill>
                <a:latin typeface="Times New Roman"/>
                <a:cs typeface="Times New Roman"/>
              </a:rPr>
              <a:t>Главное отличие </a:t>
            </a:r>
            <a:r>
              <a:rPr lang="ru-RU" sz="8800" b="1">
                <a:solidFill>
                  <a:srgbClr val="333333"/>
                </a:solidFill>
                <a:latin typeface="Times New Roman"/>
                <a:cs typeface="Times New Roman"/>
              </a:rPr>
              <a:t>Map</a:t>
            </a:r>
            <a:r>
              <a:rPr lang="ru-RU" sz="8800" b="1">
                <a:solidFill>
                  <a:srgbClr val="333333"/>
                </a:solidFill>
                <a:latin typeface="Times New Roman"/>
                <a:cs typeface="Times New Roman"/>
              </a:rPr>
              <a:t> Local </a:t>
            </a:r>
            <a:r>
              <a:rPr lang="ru-RU" sz="8800">
                <a:solidFill>
                  <a:srgbClr val="333333"/>
                </a:solidFill>
                <a:latin typeface="Times New Roman"/>
                <a:cs typeface="Times New Roman"/>
              </a:rPr>
              <a:t>от </a:t>
            </a:r>
            <a:r>
              <a:rPr lang="ru-RU" sz="8800">
                <a:solidFill>
                  <a:srgbClr val="333333"/>
                </a:solidFill>
                <a:latin typeface="Times New Roman"/>
                <a:cs typeface="Times New Roman"/>
              </a:rPr>
              <a:t>Map</a:t>
            </a:r>
            <a:r>
              <a:rPr lang="en-US" sz="8800">
                <a:solidFill>
                  <a:srgbClr val="333333"/>
                </a:solidFill>
                <a:latin typeface="Times New Roman"/>
                <a:cs typeface="Times New Roman"/>
              </a:rPr>
              <a:t> </a:t>
            </a:r>
            <a:r>
              <a:rPr lang="en-US" sz="8800">
                <a:solidFill>
                  <a:srgbClr val="222222"/>
                </a:solidFill>
                <a:latin typeface="Times New Roman"/>
                <a:cs typeface="Arial"/>
              </a:rPr>
              <a:t>Remote</a:t>
            </a:r>
            <a:r>
              <a:rPr lang="en-US" sz="8800" b="1">
                <a:solidFill>
                  <a:srgbClr val="222222"/>
                </a:solidFill>
                <a:latin typeface="Times New Roman"/>
                <a:cs typeface="Arial"/>
              </a:rPr>
              <a:t> </a:t>
            </a:r>
            <a:r>
              <a:rPr lang="ru-RU" sz="8800">
                <a:solidFill>
                  <a:srgbClr val="333333"/>
                </a:solidFill>
                <a:latin typeface="Times New Roman"/>
                <a:cs typeface="Times New Roman"/>
              </a:rPr>
              <a:t>в том, что замена осуществляется не на ответ другого сервера, а на содержимое локального файла. Настройки выглядят точно также, но вместо второго сервера мы указываем локальный путь к файлу с ответом.</a:t>
            </a:r>
            <a:endParaRPr lang="en-US" sz="8800">
              <a:solidFill>
                <a:srgbClr val="333333"/>
              </a:solidFill>
              <a:latin typeface="Times New Roman"/>
              <a:cs typeface="Times New Roman"/>
            </a:endParaRPr>
          </a:p>
          <a:p>
            <a:pPr marL="0" indent="0" algn="just">
              <a:buNone/>
              <a:defRPr/>
            </a:pPr>
            <a:r>
              <a:rPr lang="ru-RU" sz="8800">
                <a:solidFill>
                  <a:srgbClr val="000000"/>
                </a:solidFill>
                <a:latin typeface="Times New Roman"/>
                <a:cs typeface="Times New Roman"/>
              </a:rPr>
              <a:t>Функция </a:t>
            </a:r>
            <a:r>
              <a:rPr lang="ru-RU" sz="8800" b="1">
                <a:solidFill>
                  <a:srgbClr val="000000"/>
                </a:solidFill>
                <a:latin typeface="Times New Roman"/>
                <a:cs typeface="Times New Roman"/>
              </a:rPr>
              <a:t>Rewrite</a:t>
            </a:r>
            <a:r>
              <a:rPr lang="ru-RU" sz="8800">
                <a:solidFill>
                  <a:srgbClr val="000000"/>
                </a:solidFill>
                <a:latin typeface="Times New Roman"/>
                <a:cs typeface="Times New Roman"/>
              </a:rPr>
              <a:t> может быть </a:t>
            </a:r>
            <a:r>
              <a:rPr lang="ru-RU" sz="8800" b="0" i="0">
                <a:solidFill>
                  <a:srgbClr val="000000"/>
                </a:solidFill>
                <a:latin typeface="Times New Roman"/>
                <a:cs typeface="Times New Roman"/>
              </a:rPr>
              <a:t>полезна, если вам нужно переписать данные, которые отправляются в Charles </a:t>
            </a:r>
            <a:r>
              <a:rPr lang="ru-RU" sz="8800" b="0" i="0">
                <a:solidFill>
                  <a:srgbClr val="000000"/>
                </a:solidFill>
                <a:latin typeface="Times New Roman"/>
                <a:cs typeface="Times New Roman"/>
              </a:rPr>
              <a:t>Proxy</a:t>
            </a:r>
            <a:r>
              <a:rPr lang="ru-RU" sz="8800" b="0" i="0">
                <a:solidFill>
                  <a:srgbClr val="000000"/>
                </a:solidFill>
                <a:latin typeface="Times New Roman"/>
                <a:cs typeface="Times New Roman"/>
              </a:rPr>
              <a:t>. В отличие от простого редактирования </a:t>
            </a:r>
            <a:r>
              <a:rPr lang="ru-RU" sz="8800" b="0" i="0">
                <a:solidFill>
                  <a:srgbClr val="000000"/>
                </a:solidFill>
                <a:latin typeface="Times New Roman"/>
                <a:cs typeface="Times New Roman"/>
              </a:rPr>
              <a:t>Rewrite</a:t>
            </a:r>
            <a:r>
              <a:rPr lang="ru-RU" sz="8800" b="0" i="0">
                <a:solidFill>
                  <a:srgbClr val="000000"/>
                </a:solidFill>
                <a:latin typeface="Times New Roman"/>
                <a:cs typeface="Times New Roman"/>
              </a:rPr>
              <a:t> позволяет задать правила изменения и работать в автоматическом режиме. Можно изменять и добавлять заголовки, искать и заменять текст в теле запроса или ответа. Можно даже менять статус ответа.</a:t>
            </a:r>
            <a:endParaRPr/>
          </a:p>
          <a:p>
            <a:pPr marL="0" indent="0" algn="just">
              <a:buNone/>
              <a:defRPr/>
            </a:pPr>
            <a:r>
              <a:rPr lang="ru-RU" sz="8800" b="0" i="0">
                <a:solidFill>
                  <a:srgbClr val="000000"/>
                </a:solidFill>
                <a:latin typeface="Times New Roman"/>
                <a:cs typeface="Times New Roman"/>
              </a:rPr>
              <a:t>Rewrite</a:t>
            </a:r>
            <a:r>
              <a:rPr lang="ru-RU" sz="8800" b="0" i="0">
                <a:solidFill>
                  <a:srgbClr val="000000"/>
                </a:solidFill>
                <a:latin typeface="Times New Roman"/>
                <a:cs typeface="Times New Roman"/>
              </a:rPr>
              <a:t> удобно использовать, когда нужен готовый ответ, но мы не хотим каждый раз ставить </a:t>
            </a:r>
            <a:r>
              <a:rPr lang="ru-RU" sz="8800" b="0" i="0">
                <a:solidFill>
                  <a:srgbClr val="000000"/>
                </a:solidFill>
                <a:latin typeface="Times New Roman"/>
                <a:cs typeface="Times New Roman"/>
              </a:rPr>
              <a:t>брейкпоинт</a:t>
            </a:r>
            <a:r>
              <a:rPr lang="ru-RU" sz="8800" b="0" i="0">
                <a:solidFill>
                  <a:srgbClr val="000000"/>
                </a:solidFill>
                <a:latin typeface="Times New Roman"/>
                <a:cs typeface="Times New Roman"/>
              </a:rPr>
              <a:t> и вписывать его в ручную. Редактируя таким образом ответ, фактически, мы ставим заглушку - можем имитировать работу сторонних партнеров</a:t>
            </a:r>
            <a:r>
              <a:rPr lang="en-US" sz="8800" b="0" i="0">
                <a:solidFill>
                  <a:srgbClr val="000000"/>
                </a:solidFill>
                <a:latin typeface="Times New Roman"/>
                <a:cs typeface="Times New Roman"/>
              </a:rPr>
              <a:t>. </a:t>
            </a:r>
            <a:r>
              <a:rPr lang="ru-RU" sz="8800" b="0" i="0">
                <a:solidFill>
                  <a:srgbClr val="000000"/>
                </a:solidFill>
                <a:latin typeface="Times New Roman"/>
                <a:cs typeface="Times New Roman"/>
              </a:rPr>
              <a:t>Настроить это можно через </a:t>
            </a:r>
            <a:r>
              <a:rPr lang="ru-RU" sz="8800" b="0" i="0">
                <a:solidFill>
                  <a:srgbClr val="000000"/>
                </a:solidFill>
                <a:latin typeface="Times New Roman"/>
                <a:cs typeface="Times New Roman"/>
              </a:rPr>
              <a:t>Rewrite</a:t>
            </a:r>
            <a:r>
              <a:rPr lang="ru-RU" sz="8800" b="0" i="0">
                <a:solidFill>
                  <a:srgbClr val="000000"/>
                </a:solidFill>
                <a:latin typeface="Times New Roman"/>
                <a:cs typeface="Times New Roman"/>
              </a:rPr>
              <a:t> </a:t>
            </a:r>
            <a:r>
              <a:rPr lang="ru-RU" sz="8800" b="0" i="0">
                <a:solidFill>
                  <a:srgbClr val="000000"/>
                </a:solidFill>
                <a:latin typeface="Times New Roman"/>
                <a:cs typeface="Times New Roman"/>
              </a:rPr>
              <a:t>settings</a:t>
            </a:r>
            <a:r>
              <a:rPr lang="ru-RU" sz="8800" b="0" i="0">
                <a:solidFill>
                  <a:srgbClr val="000000"/>
                </a:solidFill>
                <a:latin typeface="Times New Roman"/>
                <a:cs typeface="Times New Roman"/>
              </a:rPr>
              <a:t>, доступные в контекстном меню. Единственный недостаток инструмента в том, что каждое правило замены прописывается отдельно.</a:t>
            </a:r>
            <a:endParaRPr/>
          </a:p>
          <a:p>
            <a:pPr marL="0" indent="0" algn="just">
              <a:buNone/>
              <a:defRPr/>
            </a:pPr>
            <a:r>
              <a:rPr lang="ru-RU" sz="8800" b="0" i="0">
                <a:solidFill>
                  <a:srgbClr val="000000"/>
                </a:solidFill>
                <a:latin typeface="Times New Roman"/>
                <a:cs typeface="Times New Roman"/>
              </a:rPr>
              <a:t>Помимо изменения запросов и ответов мы можем запретить кэширование или </a:t>
            </a:r>
            <a:r>
              <a:rPr lang="ru-RU" sz="8800" b="0" i="0">
                <a:solidFill>
                  <a:srgbClr val="000000"/>
                </a:solidFill>
                <a:latin typeface="Times New Roman"/>
                <a:cs typeface="Times New Roman"/>
              </a:rPr>
              <a:t>cookie</a:t>
            </a:r>
            <a:r>
              <a:rPr lang="ru-RU" sz="8800" b="0" i="0">
                <a:solidFill>
                  <a:srgbClr val="000000"/>
                </a:solidFill>
                <a:latin typeface="Times New Roman"/>
                <a:cs typeface="Times New Roman"/>
              </a:rPr>
              <a:t> (функции No </a:t>
            </a:r>
            <a:r>
              <a:rPr lang="ru-RU" sz="8800" b="0" i="0">
                <a:solidFill>
                  <a:srgbClr val="000000"/>
                </a:solidFill>
                <a:latin typeface="Times New Roman"/>
                <a:cs typeface="Times New Roman"/>
              </a:rPr>
              <a:t>caching</a:t>
            </a:r>
            <a:r>
              <a:rPr lang="ru-RU" sz="8800" b="0" i="0">
                <a:solidFill>
                  <a:srgbClr val="000000"/>
                </a:solidFill>
                <a:latin typeface="Times New Roman"/>
                <a:cs typeface="Times New Roman"/>
              </a:rPr>
              <a:t> и Block </a:t>
            </a:r>
            <a:r>
              <a:rPr lang="ru-RU" sz="8800" b="0" i="0">
                <a:solidFill>
                  <a:srgbClr val="000000"/>
                </a:solidFill>
                <a:latin typeface="Times New Roman"/>
                <a:cs typeface="Times New Roman"/>
              </a:rPr>
              <a:t>cookies</a:t>
            </a:r>
            <a:r>
              <a:rPr lang="ru-RU" sz="8800" b="0" i="0">
                <a:solidFill>
                  <a:srgbClr val="000000"/>
                </a:solidFill>
                <a:latin typeface="Times New Roman"/>
                <a:cs typeface="Times New Roman"/>
              </a:rPr>
              <a:t>). Эти опции повторяют аналогичные инструменты панели разработчика в браузере. В обоих случаях настраивается список хостов, для которых действует настройка. Если же список пуст, то кэширование и </a:t>
            </a:r>
            <a:r>
              <a:rPr lang="ru-RU" sz="8800" b="0" i="0">
                <a:solidFill>
                  <a:srgbClr val="000000"/>
                </a:solidFill>
                <a:latin typeface="Times New Roman"/>
                <a:cs typeface="Times New Roman"/>
              </a:rPr>
              <a:t>cookie</a:t>
            </a:r>
            <a:r>
              <a:rPr lang="ru-RU" sz="8800" b="0" i="0">
                <a:solidFill>
                  <a:srgbClr val="000000"/>
                </a:solidFill>
                <a:latin typeface="Times New Roman"/>
                <a:cs typeface="Times New Roman"/>
              </a:rPr>
              <a:t> отключаются на всех перехваченных хостах.</a:t>
            </a:r>
            <a:endParaRPr/>
          </a:p>
          <a:p>
            <a:pPr marL="0" indent="0" algn="just">
              <a:buNone/>
              <a:defRPr/>
            </a:pPr>
            <a:endParaRPr lang="ru-RU" sz="3300" b="1" i="1">
              <a:solidFill>
                <a:srgbClr val="000000"/>
              </a:solidFill>
              <a:latin typeface="Times New Roman"/>
              <a:cs typeface="Times New Roman"/>
            </a:endParaRPr>
          </a:p>
          <a:p>
            <a:pPr marL="0" indent="0" algn="r">
              <a:buNone/>
              <a:defRPr/>
            </a:pPr>
            <a:r>
              <a:rPr lang="ru-RU" sz="8000" b="1" i="1">
                <a:solidFill>
                  <a:srgbClr val="000000"/>
                </a:solidFill>
                <a:latin typeface="Times New Roman"/>
                <a:cs typeface="Times New Roman"/>
              </a:rPr>
              <a:t>Подробнее</a:t>
            </a:r>
            <a:r>
              <a:rPr lang="ru-RU" sz="8000">
                <a:solidFill>
                  <a:srgbClr val="000000"/>
                </a:solidFill>
                <a:latin typeface="Times New Roman"/>
                <a:cs typeface="Times New Roman"/>
              </a:rPr>
              <a:t>: </a:t>
            </a:r>
            <a:r>
              <a:rPr lang="en-US" sz="8000" u="sng">
                <a:solidFill>
                  <a:srgbClr val="000000"/>
                </a:solidFill>
                <a:latin typeface="Times New Roman"/>
                <a:cs typeface="Times New Roman"/>
                <a:hlinkClick r:id="rId2" tooltip="https://www.software-testing.ru/library/testing/testing-for-beginners/3613-charles-proxy"/>
              </a:rPr>
              <a:t>https://www.software-testing.ru/library/testing/testing-for-beginners/3613-charles-proxy</a:t>
            </a:r>
            <a:endParaRPr lang="ru-RU" sz="8000">
              <a:solidFill>
                <a:srgbClr val="000000"/>
              </a:solidFill>
              <a:latin typeface="Times New Roman"/>
              <a:cs typeface="Times New Roman"/>
            </a:endParaRPr>
          </a:p>
          <a:p>
            <a:pPr marL="0" indent="0" algn="r">
              <a:buNone/>
              <a:defRPr/>
            </a:pPr>
            <a:endParaRPr lang="ru-RU" sz="3800">
              <a:solidFill>
                <a:srgbClr val="000000"/>
              </a:solidFill>
              <a:latin typeface="Times New Roman"/>
              <a:cs typeface="Times New Roman"/>
            </a:endParaRPr>
          </a:p>
          <a:p>
            <a:pPr marL="0" indent="0">
              <a:buNone/>
              <a:defRPr/>
            </a:pPr>
            <a:endParaRPr lang="en-US" sz="3800">
              <a:solidFill>
                <a:srgbClr val="000000"/>
              </a:solidFill>
              <a:latin typeface="Times New Roman"/>
              <a:cs typeface="Times New Roman"/>
            </a:endParaRPr>
          </a:p>
          <a:p>
            <a:pPr marL="0" indent="0" algn="just">
              <a:buNone/>
              <a:defRPr/>
            </a:pPr>
            <a:endParaRPr lang="ru-RU" sz="38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en-US" sz="2900" b="1">
                <a:solidFill>
                  <a:srgbClr val="222222"/>
                </a:solidFill>
                <a:latin typeface="Times New Roman"/>
                <a:cs typeface="Arial"/>
              </a:rPr>
              <a:t>Proxy \ Throttling settings…</a:t>
            </a:r>
            <a:endParaRPr lang="ru-RU" sz="2900" b="1">
              <a:solidFill>
                <a:srgbClr val="222222"/>
              </a:solidFill>
              <a:latin typeface="Times New Roman"/>
              <a:cs typeface="Arial"/>
            </a:endParaRPr>
          </a:p>
        </p:txBody>
      </p:sp>
      <p:sp>
        <p:nvSpPr>
          <p:cNvPr id="3" name="Объект 2"/>
          <p:cNvSpPr>
            <a:spLocks noGrp="1"/>
          </p:cNvSpPr>
          <p:nvPr>
            <p:ph idx="1"/>
          </p:nvPr>
        </p:nvSpPr>
        <p:spPr bwMode="auto">
          <a:xfrm>
            <a:off x="1591786" y="574767"/>
            <a:ext cx="10493238" cy="6165668"/>
          </a:xfrm>
        </p:spPr>
        <p:txBody>
          <a:bodyPr>
            <a:normAutofit fontScale="25000" lnSpcReduction="20000"/>
          </a:bodyPr>
          <a:lstStyle/>
          <a:p>
            <a:pPr marL="0" indent="0" algn="just">
              <a:buNone/>
              <a:defRPr/>
            </a:pPr>
            <a:r>
              <a:rPr lang="ru-RU" sz="6800">
                <a:solidFill>
                  <a:srgbClr val="333333"/>
                </a:solidFill>
                <a:latin typeface="Times New Roman"/>
                <a:cs typeface="Times New Roman"/>
              </a:rPr>
              <a:t>Главное Charles </a:t>
            </a:r>
            <a:r>
              <a:rPr lang="ru-RU" sz="6800">
                <a:solidFill>
                  <a:srgbClr val="333333"/>
                </a:solidFill>
                <a:latin typeface="Times New Roman"/>
                <a:cs typeface="Times New Roman"/>
              </a:rPr>
              <a:t>Proxy</a:t>
            </a:r>
            <a:r>
              <a:rPr lang="ru-RU" sz="6800">
                <a:solidFill>
                  <a:srgbClr val="333333"/>
                </a:solidFill>
                <a:latin typeface="Times New Roman"/>
                <a:cs typeface="Times New Roman"/>
              </a:rPr>
              <a:t> помогает тестировать сервис на плохой связи, искусственно ограничив через настройки пропускную способность канала. Эта функция полезнее всего для тестирования десктопных приложений, поскольку на мобильных устройствах качеством связи можно управлять через панель разработчика.</a:t>
            </a:r>
            <a:endParaRPr/>
          </a:p>
          <a:p>
            <a:pPr marL="0" indent="0" algn="just">
              <a:buNone/>
              <a:defRPr/>
            </a:pPr>
            <a:r>
              <a:rPr lang="ru-RU" sz="6800">
                <a:solidFill>
                  <a:srgbClr val="333333"/>
                </a:solidFill>
                <a:latin typeface="Times New Roman"/>
                <a:cs typeface="Times New Roman"/>
              </a:rPr>
              <a:t>Настраивается функция через </a:t>
            </a:r>
            <a:r>
              <a:rPr lang="ru-RU" sz="6800">
                <a:solidFill>
                  <a:srgbClr val="333333"/>
                </a:solidFill>
                <a:latin typeface="Times New Roman"/>
                <a:cs typeface="Times New Roman"/>
              </a:rPr>
              <a:t>Proxy</a:t>
            </a:r>
            <a:r>
              <a:rPr lang="ru-RU" sz="6800">
                <a:solidFill>
                  <a:srgbClr val="333333"/>
                </a:solidFill>
                <a:latin typeface="Times New Roman"/>
                <a:cs typeface="Times New Roman"/>
              </a:rPr>
              <a:t> -&gt;</a:t>
            </a:r>
            <a:r>
              <a:rPr lang="ru-RU" sz="6800">
                <a:solidFill>
                  <a:srgbClr val="333333"/>
                </a:solidFill>
                <a:latin typeface="Times New Roman"/>
                <a:cs typeface="Times New Roman"/>
              </a:rPr>
              <a:t>Throttling</a:t>
            </a:r>
            <a:r>
              <a:rPr lang="ru-RU" sz="6800">
                <a:solidFill>
                  <a:srgbClr val="333333"/>
                </a:solidFill>
                <a:latin typeface="Times New Roman"/>
                <a:cs typeface="Times New Roman"/>
              </a:rPr>
              <a:t> </a:t>
            </a:r>
            <a:r>
              <a:rPr lang="ru-RU" sz="6800">
                <a:solidFill>
                  <a:srgbClr val="333333"/>
                </a:solidFill>
                <a:latin typeface="Times New Roman"/>
                <a:cs typeface="Times New Roman"/>
              </a:rPr>
              <a:t>settings</a:t>
            </a:r>
            <a:r>
              <a:rPr lang="ru-RU" sz="6800">
                <a:solidFill>
                  <a:srgbClr val="333333"/>
                </a:solidFill>
                <a:latin typeface="Times New Roman"/>
                <a:cs typeface="Times New Roman"/>
              </a:rPr>
              <a:t>.</a:t>
            </a:r>
            <a:endParaRPr/>
          </a:p>
          <a:p>
            <a:pPr marL="0" indent="0" algn="r">
              <a:buNone/>
              <a:defRPr/>
            </a:pPr>
            <a:endParaRPr lang="en-US" sz="8000" b="1" i="1">
              <a:solidFill>
                <a:srgbClr val="000000"/>
              </a:solidFill>
              <a:latin typeface="Times New Roman"/>
              <a:cs typeface="Times New Roman"/>
            </a:endParaRPr>
          </a:p>
          <a:p>
            <a:pPr marL="0" indent="0" algn="r">
              <a:buNone/>
              <a:defRPr/>
            </a:pPr>
            <a:endParaRPr lang="en-US" sz="8000" b="1" i="1">
              <a:solidFill>
                <a:srgbClr val="000000"/>
              </a:solidFill>
              <a:latin typeface="Times New Roman"/>
              <a:cs typeface="Times New Roman"/>
            </a:endParaRPr>
          </a:p>
          <a:p>
            <a:pPr marL="0" indent="0" algn="r">
              <a:buNone/>
              <a:defRPr/>
            </a:pPr>
            <a:endParaRPr lang="en-US" sz="8000" b="1" i="1">
              <a:solidFill>
                <a:srgbClr val="000000"/>
              </a:solidFill>
              <a:latin typeface="Times New Roman"/>
              <a:cs typeface="Times New Roman"/>
            </a:endParaRPr>
          </a:p>
          <a:p>
            <a:pPr marL="0" indent="0" algn="r">
              <a:buNone/>
              <a:defRPr/>
            </a:pPr>
            <a:endParaRPr lang="en-US" sz="8000" b="1" i="1">
              <a:solidFill>
                <a:srgbClr val="000000"/>
              </a:solidFill>
              <a:latin typeface="Times New Roman"/>
              <a:cs typeface="Times New Roman"/>
            </a:endParaRPr>
          </a:p>
          <a:p>
            <a:pPr marL="0" indent="0" algn="r">
              <a:buNone/>
              <a:defRPr/>
            </a:pPr>
            <a:endParaRPr lang="en-US" sz="8000" b="1" i="1">
              <a:solidFill>
                <a:srgbClr val="000000"/>
              </a:solidFill>
              <a:latin typeface="Times New Roman"/>
              <a:cs typeface="Times New Roman"/>
            </a:endParaRPr>
          </a:p>
          <a:p>
            <a:pPr marL="0" indent="0" algn="r">
              <a:buNone/>
              <a:defRPr/>
            </a:pPr>
            <a:endParaRPr lang="en-US" sz="8000" b="1" i="1">
              <a:solidFill>
                <a:srgbClr val="000000"/>
              </a:solidFill>
              <a:latin typeface="Times New Roman"/>
              <a:cs typeface="Times New Roman"/>
            </a:endParaRPr>
          </a:p>
          <a:p>
            <a:pPr marL="0" indent="0" algn="r">
              <a:buNone/>
              <a:defRPr/>
            </a:pPr>
            <a:endParaRPr lang="en-US" sz="8000" b="1" i="1">
              <a:solidFill>
                <a:srgbClr val="000000"/>
              </a:solidFill>
              <a:latin typeface="Times New Roman"/>
              <a:cs typeface="Times New Roman"/>
            </a:endParaRPr>
          </a:p>
          <a:p>
            <a:pPr marL="0" indent="0" algn="r">
              <a:buNone/>
              <a:defRPr/>
            </a:pPr>
            <a:endParaRPr lang="en-US" sz="8000" b="1" i="1">
              <a:solidFill>
                <a:srgbClr val="000000"/>
              </a:solidFill>
              <a:latin typeface="Times New Roman"/>
              <a:cs typeface="Times New Roman"/>
            </a:endParaRPr>
          </a:p>
          <a:p>
            <a:pPr marL="0" indent="0" algn="r">
              <a:buNone/>
              <a:defRPr/>
            </a:pPr>
            <a:endParaRPr lang="en-US" sz="8000" b="1" i="1">
              <a:solidFill>
                <a:srgbClr val="000000"/>
              </a:solidFill>
              <a:latin typeface="Times New Roman"/>
              <a:cs typeface="Times New Roman"/>
            </a:endParaRPr>
          </a:p>
          <a:p>
            <a:pPr marL="0" indent="0" algn="r">
              <a:buNone/>
              <a:defRPr/>
            </a:pPr>
            <a:endParaRPr lang="en-US" sz="8000" b="1" i="1">
              <a:solidFill>
                <a:srgbClr val="000000"/>
              </a:solidFill>
              <a:latin typeface="Times New Roman"/>
              <a:cs typeface="Times New Roman"/>
            </a:endParaRPr>
          </a:p>
          <a:p>
            <a:pPr marL="0" indent="0" algn="r">
              <a:buNone/>
              <a:defRPr/>
            </a:pPr>
            <a:endParaRPr lang="en-US" sz="8000" b="1" i="1">
              <a:solidFill>
                <a:srgbClr val="000000"/>
              </a:solidFill>
              <a:latin typeface="Times New Roman"/>
              <a:cs typeface="Times New Roman"/>
            </a:endParaRPr>
          </a:p>
          <a:p>
            <a:pPr marL="0" indent="0" algn="r">
              <a:buNone/>
              <a:defRPr/>
            </a:pPr>
            <a:endParaRPr lang="en-US" sz="8000" b="1" i="1">
              <a:solidFill>
                <a:srgbClr val="000000"/>
              </a:solidFill>
              <a:latin typeface="Times New Roman"/>
              <a:cs typeface="Times New Roman"/>
            </a:endParaRPr>
          </a:p>
          <a:p>
            <a:pPr marL="0" indent="0" algn="r">
              <a:buNone/>
              <a:defRPr/>
            </a:pPr>
            <a:endParaRPr lang="en-US" sz="8000" b="1" i="1">
              <a:solidFill>
                <a:srgbClr val="000000"/>
              </a:solidFill>
              <a:latin typeface="Times New Roman"/>
              <a:cs typeface="Times New Roman"/>
            </a:endParaRPr>
          </a:p>
          <a:p>
            <a:pPr marL="0" indent="0" algn="r">
              <a:buNone/>
              <a:defRPr/>
            </a:pPr>
            <a:r>
              <a:rPr lang="ru-RU" sz="8000" b="1" i="1">
                <a:solidFill>
                  <a:srgbClr val="000000"/>
                </a:solidFill>
                <a:latin typeface="Times New Roman"/>
                <a:cs typeface="Times New Roman"/>
              </a:rPr>
              <a:t>Подробнее</a:t>
            </a:r>
            <a:r>
              <a:rPr lang="ru-RU" sz="8000">
                <a:solidFill>
                  <a:srgbClr val="000000"/>
                </a:solidFill>
                <a:latin typeface="Times New Roman"/>
                <a:cs typeface="Times New Roman"/>
              </a:rPr>
              <a:t>: </a:t>
            </a:r>
            <a:r>
              <a:rPr lang="en-US" sz="8000" u="sng">
                <a:solidFill>
                  <a:srgbClr val="000000"/>
                </a:solidFill>
                <a:latin typeface="Times New Roman"/>
                <a:cs typeface="Times New Roman"/>
                <a:hlinkClick r:id="rId2" tooltip="https://www.software-testing.ru/library/testing/testing-for-beginners/3613-charles-proxy"/>
              </a:rPr>
              <a:t>https://www.software-testing.ru/library/testing/testing-for-beginners/3613-charles-proxy</a:t>
            </a:r>
            <a:endParaRPr lang="ru-RU" sz="8000">
              <a:solidFill>
                <a:srgbClr val="000000"/>
              </a:solidFill>
              <a:latin typeface="Times New Roman"/>
              <a:cs typeface="Times New Roman"/>
            </a:endParaRPr>
          </a:p>
          <a:p>
            <a:pPr marL="0" indent="0" algn="r">
              <a:buNone/>
              <a:defRPr/>
            </a:pPr>
            <a:endParaRPr lang="ru-RU" sz="3800">
              <a:solidFill>
                <a:srgbClr val="000000"/>
              </a:solidFill>
              <a:latin typeface="Times New Roman"/>
              <a:cs typeface="Times New Roman"/>
            </a:endParaRPr>
          </a:p>
          <a:p>
            <a:pPr marL="0" indent="0">
              <a:buNone/>
              <a:defRPr/>
            </a:pPr>
            <a:endParaRPr lang="en-US" sz="3800">
              <a:solidFill>
                <a:srgbClr val="000000"/>
              </a:solidFill>
              <a:latin typeface="Times New Roman"/>
              <a:cs typeface="Times New Roman"/>
            </a:endParaRPr>
          </a:p>
          <a:p>
            <a:pPr marL="0" indent="0" algn="just">
              <a:buNone/>
              <a:defRPr/>
            </a:pPr>
            <a:endParaRPr lang="ru-RU" sz="38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5" name="Picture 2"/>
          <p:cNvPicPr>
            <a:picLocks noChangeAspect="1" noChangeArrowheads="1"/>
          </p:cNvPicPr>
          <p:nvPr/>
        </p:nvPicPr>
        <p:blipFill>
          <a:blip r:embed="rId3"/>
          <a:stretch/>
        </p:blipFill>
        <p:spPr bwMode="auto">
          <a:xfrm>
            <a:off x="4284617" y="1605233"/>
            <a:ext cx="4251960" cy="4857864"/>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en-US" sz="2600" b="1">
                <a:solidFill>
                  <a:srgbClr val="222222"/>
                </a:solidFill>
                <a:latin typeface="Times New Roman"/>
                <a:cs typeface="Arial"/>
              </a:rPr>
              <a:t>Repeat Advanced…</a:t>
            </a:r>
            <a:endParaRPr lang="ru-RU" sz="2600" b="1">
              <a:solidFill>
                <a:srgbClr val="222222"/>
              </a:solidFill>
              <a:latin typeface="Times New Roman"/>
              <a:cs typeface="Arial"/>
            </a:endParaRPr>
          </a:p>
        </p:txBody>
      </p:sp>
      <p:sp>
        <p:nvSpPr>
          <p:cNvPr id="3" name="Объект 2"/>
          <p:cNvSpPr>
            <a:spLocks noGrp="1"/>
          </p:cNvSpPr>
          <p:nvPr>
            <p:ph idx="1"/>
          </p:nvPr>
        </p:nvSpPr>
        <p:spPr bwMode="auto">
          <a:xfrm>
            <a:off x="1591786" y="574767"/>
            <a:ext cx="10493238" cy="6165668"/>
          </a:xfrm>
        </p:spPr>
        <p:txBody>
          <a:bodyPr>
            <a:normAutofit fontScale="32500" lnSpcReduction="20000"/>
          </a:bodyPr>
          <a:lstStyle/>
          <a:p>
            <a:pPr marL="0" indent="0" algn="just">
              <a:buNone/>
              <a:defRPr/>
            </a:pPr>
            <a:endParaRPr lang="en-US" sz="7400">
              <a:solidFill>
                <a:srgbClr val="333333"/>
              </a:solidFill>
              <a:latin typeface="Times New Roman"/>
              <a:cs typeface="Times New Roman"/>
            </a:endParaRPr>
          </a:p>
          <a:p>
            <a:pPr marL="0" indent="0" algn="just">
              <a:buNone/>
              <a:defRPr/>
            </a:pPr>
            <a:r>
              <a:rPr lang="ru-RU" sz="7400">
                <a:solidFill>
                  <a:srgbClr val="333333"/>
                </a:solidFill>
                <a:latin typeface="Times New Roman"/>
                <a:cs typeface="Times New Roman"/>
              </a:rPr>
              <a:t>Хотя полноценное нагрузочное тестирование лучше проводить в специальных инструментах, Charles </a:t>
            </a:r>
            <a:r>
              <a:rPr lang="ru-RU" sz="7400">
                <a:solidFill>
                  <a:srgbClr val="333333"/>
                </a:solidFill>
                <a:latin typeface="Times New Roman"/>
                <a:cs typeface="Times New Roman"/>
              </a:rPr>
              <a:t>Proxy</a:t>
            </a:r>
            <a:r>
              <a:rPr lang="ru-RU" sz="7400">
                <a:solidFill>
                  <a:srgbClr val="333333"/>
                </a:solidFill>
                <a:latin typeface="Times New Roman"/>
                <a:cs typeface="Times New Roman"/>
              </a:rPr>
              <a:t> имеет одну базовую настройку, которая помогает закрыть минимальные потребности.</a:t>
            </a:r>
            <a:endParaRPr lang="en-US" sz="7400">
              <a:solidFill>
                <a:srgbClr val="333333"/>
              </a:solidFill>
              <a:latin typeface="Times New Roman"/>
              <a:cs typeface="Times New Roman"/>
            </a:endParaRPr>
          </a:p>
          <a:p>
            <a:pPr marL="0" indent="0" algn="just">
              <a:buNone/>
              <a:defRPr/>
            </a:pPr>
            <a:r>
              <a:rPr lang="ru-RU" sz="7400">
                <a:solidFill>
                  <a:srgbClr val="333333"/>
                </a:solidFill>
                <a:latin typeface="Times New Roman"/>
                <a:cs typeface="Times New Roman"/>
              </a:rPr>
              <a:t>Функция </a:t>
            </a:r>
            <a:r>
              <a:rPr lang="ru-RU" sz="7400" b="1">
                <a:solidFill>
                  <a:srgbClr val="333333"/>
                </a:solidFill>
                <a:latin typeface="Times New Roman"/>
                <a:cs typeface="Times New Roman"/>
              </a:rPr>
              <a:t>Repeat</a:t>
            </a:r>
            <a:r>
              <a:rPr lang="ru-RU" sz="7400" b="1">
                <a:solidFill>
                  <a:srgbClr val="333333"/>
                </a:solidFill>
                <a:latin typeface="Times New Roman"/>
                <a:cs typeface="Times New Roman"/>
              </a:rPr>
              <a:t> Advanced</a:t>
            </a:r>
            <a:r>
              <a:rPr lang="en-US" sz="7400" b="1">
                <a:solidFill>
                  <a:srgbClr val="333333"/>
                </a:solidFill>
                <a:latin typeface="Times New Roman"/>
                <a:cs typeface="Times New Roman"/>
              </a:rPr>
              <a:t>…</a:t>
            </a:r>
            <a:r>
              <a:rPr lang="ru-RU" sz="7400" b="1">
                <a:solidFill>
                  <a:srgbClr val="333333"/>
                </a:solidFill>
                <a:latin typeface="Times New Roman"/>
                <a:cs typeface="Times New Roman"/>
              </a:rPr>
              <a:t> </a:t>
            </a:r>
            <a:r>
              <a:rPr lang="ru-RU" sz="7400">
                <a:solidFill>
                  <a:srgbClr val="333333"/>
                </a:solidFill>
                <a:latin typeface="Times New Roman"/>
                <a:cs typeface="Times New Roman"/>
              </a:rPr>
              <a:t>(доступная через контекстное меню перехваченного запроса) позволяет нужное количество раз повторить тот же запрос. После настройки откроется отдельная сессия, где будут видны детали каждого из запросов.</a:t>
            </a:r>
            <a:endParaRPr lang="en-US" sz="7400">
              <a:solidFill>
                <a:srgbClr val="333333"/>
              </a:solidFill>
              <a:latin typeface="Times New Roman"/>
              <a:cs typeface="Times New Roman"/>
            </a:endParaRPr>
          </a:p>
          <a:p>
            <a:pPr marL="0" indent="0" algn="just">
              <a:buNone/>
              <a:defRPr/>
            </a:pPr>
            <a:endParaRPr lang="ru-RU" sz="7400">
              <a:solidFill>
                <a:srgbClr val="333333"/>
              </a:solidFill>
              <a:latin typeface="Times New Roman"/>
              <a:cs typeface="Times New Roman"/>
            </a:endParaRPr>
          </a:p>
          <a:p>
            <a:pPr marL="0" indent="0" algn="just">
              <a:buNone/>
              <a:defRPr/>
            </a:pPr>
            <a:r>
              <a:rPr lang="ru-RU" sz="7400">
                <a:solidFill>
                  <a:srgbClr val="333333"/>
                </a:solidFill>
                <a:latin typeface="Times New Roman"/>
                <a:cs typeface="Times New Roman"/>
              </a:rPr>
              <a:t>Конечно, список функций Charles </a:t>
            </a:r>
            <a:r>
              <a:rPr lang="ru-RU" sz="7400">
                <a:solidFill>
                  <a:srgbClr val="333333"/>
                </a:solidFill>
                <a:latin typeface="Times New Roman"/>
                <a:cs typeface="Times New Roman"/>
              </a:rPr>
              <a:t>Proxy</a:t>
            </a:r>
            <a:r>
              <a:rPr lang="ru-RU" sz="7400">
                <a:solidFill>
                  <a:srgbClr val="333333"/>
                </a:solidFill>
                <a:latin typeface="Times New Roman"/>
                <a:cs typeface="Times New Roman"/>
              </a:rPr>
              <a:t> этим не ограничивается. Есть еще много полезного - от перенаправления доменного имени на другой IP-адрес, до автоматического сохранения полученных ответов.</a:t>
            </a:r>
            <a:endParaRPr/>
          </a:p>
          <a:p>
            <a:pPr marL="0" indent="0" algn="r">
              <a:buNone/>
              <a:defRPr/>
            </a:pPr>
            <a:endParaRPr lang="en-US" sz="8000" b="1" i="1">
              <a:solidFill>
                <a:srgbClr val="000000"/>
              </a:solidFill>
              <a:latin typeface="Times New Roman"/>
              <a:cs typeface="Times New Roman"/>
            </a:endParaRPr>
          </a:p>
          <a:p>
            <a:pPr marL="0" indent="0" algn="r">
              <a:buNone/>
              <a:defRPr/>
            </a:pPr>
            <a:r>
              <a:rPr lang="en-US" sz="8000" b="1" i="1">
                <a:solidFill>
                  <a:srgbClr val="000000"/>
                </a:solidFill>
                <a:latin typeface="Times New Roman"/>
                <a:cs typeface="Times New Roman"/>
              </a:rPr>
              <a:t>	</a:t>
            </a:r>
            <a:endParaRPr/>
          </a:p>
          <a:p>
            <a:pPr marL="0" indent="0" algn="r">
              <a:buNone/>
              <a:defRPr/>
            </a:pPr>
            <a:r>
              <a:rPr lang="ru-RU" sz="6200" b="1" i="1">
                <a:solidFill>
                  <a:srgbClr val="000000"/>
                </a:solidFill>
                <a:latin typeface="Times New Roman"/>
                <a:cs typeface="Times New Roman"/>
              </a:rPr>
              <a:t>Подробнее</a:t>
            </a:r>
            <a:r>
              <a:rPr lang="ru-RU" sz="6200">
                <a:solidFill>
                  <a:srgbClr val="000000"/>
                </a:solidFill>
                <a:latin typeface="Times New Roman"/>
                <a:cs typeface="Times New Roman"/>
              </a:rPr>
              <a:t>: </a:t>
            </a:r>
            <a:r>
              <a:rPr lang="en-US" sz="6200" u="sng">
                <a:solidFill>
                  <a:srgbClr val="000000"/>
                </a:solidFill>
                <a:latin typeface="Times New Roman"/>
                <a:cs typeface="Times New Roman"/>
                <a:hlinkClick r:id="rId2" tooltip="https://www.software-testing.ru/library/testing/testing-for-beginners/3613-charles-proxy"/>
              </a:rPr>
              <a:t>https://www.software-testing.ru/library/testing/testing-for-beginners/3613-charles-proxy</a:t>
            </a:r>
            <a:endParaRPr lang="en-US" sz="6200">
              <a:solidFill>
                <a:srgbClr val="000000"/>
              </a:solidFill>
              <a:latin typeface="Times New Roman"/>
              <a:cs typeface="Times New Roman"/>
            </a:endParaRPr>
          </a:p>
          <a:p>
            <a:pPr marL="0" indent="0" algn="r">
              <a:buNone/>
              <a:defRPr/>
            </a:pPr>
            <a:r>
              <a:rPr lang="ru-RU" sz="6400">
                <a:solidFill>
                  <a:srgbClr val="000000"/>
                </a:solidFill>
                <a:latin typeface="Times New Roman"/>
                <a:cs typeface="Times New Roman"/>
              </a:rPr>
              <a:t>Как тестировать в Charles </a:t>
            </a:r>
            <a:r>
              <a:rPr lang="ru-RU" sz="6400">
                <a:solidFill>
                  <a:srgbClr val="000000"/>
                </a:solidFill>
                <a:latin typeface="Times New Roman"/>
                <a:cs typeface="Times New Roman"/>
              </a:rPr>
              <a:t>Proxy</a:t>
            </a:r>
            <a:r>
              <a:rPr lang="ru-RU" sz="6400">
                <a:solidFill>
                  <a:srgbClr val="000000"/>
                </a:solidFill>
                <a:latin typeface="Times New Roman"/>
                <a:cs typeface="Times New Roman"/>
              </a:rPr>
              <a:t>? Практика для тестировщика</a:t>
            </a:r>
            <a:r>
              <a:rPr lang="en-US" sz="6400">
                <a:solidFill>
                  <a:srgbClr val="000000"/>
                </a:solidFill>
                <a:latin typeface="Times New Roman"/>
                <a:cs typeface="Times New Roman"/>
              </a:rPr>
              <a:t> </a:t>
            </a:r>
            <a:r>
              <a:rPr lang="en-US" sz="6400" u="sng">
                <a:solidFill>
                  <a:srgbClr val="000000"/>
                </a:solidFill>
                <a:latin typeface="Times New Roman"/>
                <a:cs typeface="Times New Roman"/>
                <a:hlinkClick r:id="rId3" tooltip="https://www.youtube.com/watch?v=74mvpPOczgI"/>
              </a:rPr>
              <a:t>https://www.youtube.com/watch?v=74mvpPOczgI</a:t>
            </a:r>
            <a:endParaRPr lang="en-US" sz="6400">
              <a:solidFill>
                <a:srgbClr val="000000"/>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ctrTitle"/>
          </p:nvPr>
        </p:nvSpPr>
        <p:spPr bwMode="auto">
          <a:xfrm>
            <a:off x="1685109" y="1554478"/>
            <a:ext cx="10306593" cy="3958044"/>
          </a:xfrm>
        </p:spPr>
        <p:txBody>
          <a:bodyPr>
            <a:normAutofit/>
          </a:bodyPr>
          <a:lstStyle/>
          <a:p>
            <a:pPr algn="ctr">
              <a:defRPr/>
            </a:pPr>
            <a:r>
              <a:rPr lang="ru-RU" b="1">
                <a:solidFill>
                  <a:srgbClr val="222222"/>
                </a:solidFill>
                <a:latin typeface="Times New Roman"/>
                <a:cs typeface="Arial"/>
              </a:rPr>
              <a:t>Перехват и работа с сетевым трафиком с помощью </a:t>
            </a:r>
            <a:r>
              <a:rPr lang="ru-RU" b="1">
                <a:solidFill>
                  <a:srgbClr val="222222"/>
                </a:solidFill>
                <a:latin typeface="Times New Roman"/>
                <a:cs typeface="Arial"/>
              </a:rPr>
              <a:t>Fiddler</a:t>
            </a:r>
            <a:br>
              <a:rPr lang="ru-RU" b="1">
                <a:solidFill>
                  <a:srgbClr val="222222"/>
                </a:solidFill>
                <a:latin typeface="Times New Roman"/>
                <a:ea typeface="Arial"/>
                <a:cs typeface="Arial"/>
              </a:rPr>
            </a:b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fontScale="90000"/>
          </a:bodyPr>
          <a:lstStyle/>
          <a:p>
            <a:pPr algn="ctr">
              <a:defRPr/>
            </a:pPr>
            <a:r>
              <a:rPr lang="ru-RU" sz="2600" b="1">
                <a:solidFill>
                  <a:srgbClr val="222222"/>
                </a:solidFill>
                <a:latin typeface="Times New Roman"/>
                <a:cs typeface="Arial"/>
              </a:rPr>
              <a:t>Fiddler</a:t>
            </a:r>
            <a:r>
              <a:rPr lang="ru-RU" sz="2600" b="1">
                <a:solidFill>
                  <a:srgbClr val="222222"/>
                </a:solidFill>
                <a:latin typeface="Times New Roman"/>
                <a:cs typeface="Arial"/>
              </a:rPr>
              <a:t> </a:t>
            </a:r>
            <a:r>
              <a:rPr lang="en-US" sz="2600" b="1">
                <a:solidFill>
                  <a:srgbClr val="222222"/>
                </a:solidFill>
                <a:latin typeface="Times New Roman"/>
                <a:cs typeface="Arial"/>
              </a:rPr>
              <a:t>Classic</a:t>
            </a:r>
            <a:endParaRPr lang="ru-RU" sz="2600" b="1">
              <a:solidFill>
                <a:srgbClr val="222222"/>
              </a:solidFill>
              <a:latin typeface="Times New Roman"/>
              <a:cs typeface="Arial"/>
            </a:endParaRPr>
          </a:p>
        </p:txBody>
      </p:sp>
      <p:sp>
        <p:nvSpPr>
          <p:cNvPr id="3" name="Объект 2"/>
          <p:cNvSpPr>
            <a:spLocks noGrp="1"/>
          </p:cNvSpPr>
          <p:nvPr>
            <p:ph idx="1"/>
          </p:nvPr>
        </p:nvSpPr>
        <p:spPr bwMode="auto">
          <a:xfrm>
            <a:off x="1591786" y="574767"/>
            <a:ext cx="10493238" cy="6165668"/>
          </a:xfrm>
        </p:spPr>
        <p:txBody>
          <a:bodyPr>
            <a:normAutofit/>
          </a:bodyPr>
          <a:lstStyle/>
          <a:p>
            <a:pPr marL="0" indent="0" algn="just">
              <a:buNone/>
              <a:defRPr/>
            </a:pPr>
            <a:r>
              <a:rPr lang="ru-RU" sz="2000">
                <a:solidFill>
                  <a:srgbClr val="333333"/>
                </a:solidFill>
                <a:latin typeface="Times New Roman"/>
                <a:cs typeface="Times New Roman"/>
              </a:rPr>
              <a:t>Fiddler</a:t>
            </a:r>
            <a:r>
              <a:rPr lang="ru-RU" sz="2000">
                <a:solidFill>
                  <a:srgbClr val="333333"/>
                </a:solidFill>
                <a:latin typeface="Times New Roman"/>
                <a:cs typeface="Times New Roman"/>
              </a:rPr>
              <a:t> является одним из популярных инструментов для тестирования и отладки веб-приложений. Он предоставляет возможность перехватывать, анализировать и изменять HTTP и HTTPS запросы, что очень полезно при проведении тестирования</a:t>
            </a:r>
            <a:r>
              <a:rPr lang="en-US" sz="2000">
                <a:solidFill>
                  <a:srgbClr val="333333"/>
                </a:solidFill>
                <a:latin typeface="Times New Roman"/>
                <a:cs typeface="Times New Roman"/>
              </a:rPr>
              <a:t>.</a:t>
            </a:r>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4" name="Рисунок 3"/>
          <p:cNvPicPr>
            <a:picLocks noChangeAspect="1"/>
          </p:cNvPicPr>
          <p:nvPr/>
        </p:nvPicPr>
        <p:blipFill>
          <a:blip r:embed="rId2"/>
          <a:stretch/>
        </p:blipFill>
        <p:spPr bwMode="auto">
          <a:xfrm>
            <a:off x="1933306" y="1546343"/>
            <a:ext cx="9757954" cy="527186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a:bodyPr>
          <a:lstStyle/>
          <a:p>
            <a:pPr algn="ctr">
              <a:defRPr/>
            </a:pPr>
            <a:r>
              <a:rPr lang="ru-RU" sz="2300" b="1">
                <a:solidFill>
                  <a:srgbClr val="222222"/>
                </a:solidFill>
                <a:latin typeface="Times New Roman"/>
                <a:cs typeface="Arial"/>
              </a:rPr>
              <a:t>Установка</a:t>
            </a:r>
            <a:r>
              <a:rPr lang="en-US" sz="2300" b="1">
                <a:solidFill>
                  <a:srgbClr val="222222"/>
                </a:solidFill>
                <a:latin typeface="Times New Roman"/>
                <a:cs typeface="Arial"/>
              </a:rPr>
              <a:t> </a:t>
            </a:r>
            <a:r>
              <a:rPr lang="ru-RU" sz="2300" b="1">
                <a:solidFill>
                  <a:srgbClr val="222222"/>
                </a:solidFill>
                <a:latin typeface="Times New Roman"/>
                <a:cs typeface="Arial"/>
              </a:rPr>
              <a:t>и настройка </a:t>
            </a:r>
            <a:r>
              <a:rPr lang="ru-RU" sz="2300" b="1">
                <a:solidFill>
                  <a:srgbClr val="222222"/>
                </a:solidFill>
                <a:latin typeface="Times New Roman"/>
                <a:cs typeface="Arial"/>
              </a:rPr>
              <a:t>Fiddler</a:t>
            </a:r>
            <a:r>
              <a:rPr lang="ru-RU" sz="2300" b="1">
                <a:solidFill>
                  <a:srgbClr val="222222"/>
                </a:solidFill>
                <a:latin typeface="Times New Roman"/>
                <a:cs typeface="Arial"/>
              </a:rPr>
              <a:t> </a:t>
            </a:r>
            <a:r>
              <a:rPr lang="en-US" sz="2300" b="1">
                <a:solidFill>
                  <a:srgbClr val="222222"/>
                </a:solidFill>
                <a:latin typeface="Times New Roman"/>
                <a:cs typeface="Arial"/>
              </a:rPr>
              <a:t>Classic</a:t>
            </a:r>
            <a:endParaRPr lang="ru-RU" sz="2300" b="1">
              <a:solidFill>
                <a:srgbClr val="222222"/>
              </a:solidFill>
              <a:latin typeface="Times New Roman"/>
              <a:cs typeface="Arial"/>
            </a:endParaRPr>
          </a:p>
        </p:txBody>
      </p:sp>
      <p:sp>
        <p:nvSpPr>
          <p:cNvPr id="3" name="Объект 2"/>
          <p:cNvSpPr>
            <a:spLocks noGrp="1"/>
          </p:cNvSpPr>
          <p:nvPr>
            <p:ph idx="1"/>
          </p:nvPr>
        </p:nvSpPr>
        <p:spPr bwMode="auto">
          <a:xfrm>
            <a:off x="1591786" y="574767"/>
            <a:ext cx="10493238" cy="6165668"/>
          </a:xfrm>
        </p:spPr>
        <p:txBody>
          <a:bodyPr>
            <a:normAutofit fontScale="92500" lnSpcReduction="20000"/>
          </a:bodyPr>
          <a:lstStyle/>
          <a:p>
            <a:pPr marL="0" indent="0" algn="just">
              <a:buNone/>
              <a:defRPr/>
            </a:pPr>
            <a:endParaRPr lang="ru-RU" sz="2000">
              <a:solidFill>
                <a:srgbClr val="333333"/>
              </a:solidFill>
              <a:latin typeface="Times New Roman"/>
              <a:cs typeface="Times New Roman"/>
            </a:endParaRPr>
          </a:p>
          <a:p>
            <a:pPr marL="0" indent="0" algn="just">
              <a:buNone/>
              <a:defRPr/>
            </a:pPr>
            <a:r>
              <a:rPr lang="ru-RU" sz="2600" b="1">
                <a:solidFill>
                  <a:srgbClr val="333333"/>
                </a:solidFill>
                <a:latin typeface="Times New Roman"/>
                <a:cs typeface="Times New Roman"/>
              </a:rPr>
              <a:t>Fiddler</a:t>
            </a:r>
            <a:r>
              <a:rPr lang="ru-RU" sz="2600">
                <a:solidFill>
                  <a:srgbClr val="333333"/>
                </a:solidFill>
                <a:latin typeface="Times New Roman"/>
                <a:cs typeface="Times New Roman"/>
              </a:rPr>
              <a:t> является одним из популярных инструментов для тестирования и отладки веб-приложений. Он предоставляет возможность перехватывать, анализировать и изменять HTTP и HTTPS запросы, что очень полезно при проведении тестирования</a:t>
            </a:r>
            <a:r>
              <a:rPr lang="en-US" sz="2600">
                <a:solidFill>
                  <a:srgbClr val="333333"/>
                </a:solidFill>
                <a:latin typeface="Times New Roman"/>
                <a:cs typeface="Times New Roman"/>
              </a:rPr>
              <a:t>.</a:t>
            </a:r>
            <a:endParaRPr lang="ru-RU" sz="2600">
              <a:solidFill>
                <a:srgbClr val="333333"/>
              </a:solidFill>
              <a:latin typeface="Times New Roman"/>
              <a:cs typeface="Times New Roman"/>
            </a:endParaRPr>
          </a:p>
          <a:p>
            <a:pPr marL="0" indent="0" algn="just">
              <a:buNone/>
              <a:defRPr/>
            </a:pPr>
            <a:r>
              <a:rPr lang="ru-RU" sz="2600" b="0" i="0">
                <a:solidFill>
                  <a:srgbClr val="333333"/>
                </a:solidFill>
                <a:latin typeface="Times New Roman"/>
                <a:cs typeface="Times New Roman"/>
              </a:rPr>
              <a:t>Для начала необходимо </a:t>
            </a:r>
            <a:r>
              <a:rPr lang="ru-RU" sz="2600" b="0" i="0" u="sng" strike="noStrike">
                <a:latin typeface="Times New Roman"/>
                <a:cs typeface="Times New Roman"/>
                <a:hlinkClick r:id="rId2" tooltip="https://www.telerik.com/download/fiddler"/>
              </a:rPr>
              <a:t>загрузить</a:t>
            </a:r>
            <a:r>
              <a:rPr lang="ru-RU" sz="2600" b="0" i="0">
                <a:solidFill>
                  <a:srgbClr val="333333"/>
                </a:solidFill>
                <a:latin typeface="Times New Roman"/>
                <a:cs typeface="Times New Roman"/>
              </a:rPr>
              <a:t> и установить приложение. </a:t>
            </a:r>
            <a:endParaRPr lang="en-US" sz="2600">
              <a:solidFill>
                <a:srgbClr val="333333"/>
              </a:solidFill>
              <a:latin typeface="Times New Roman"/>
              <a:cs typeface="Times New Roman"/>
            </a:endParaRPr>
          </a:p>
          <a:p>
            <a:pPr marL="0" indent="0" algn="just">
              <a:buNone/>
              <a:defRPr/>
            </a:pPr>
            <a:r>
              <a:rPr lang="ru-RU" sz="2600" b="0" i="0">
                <a:solidFill>
                  <a:srgbClr val="333333"/>
                </a:solidFill>
                <a:latin typeface="Times New Roman"/>
                <a:cs typeface="Times New Roman"/>
              </a:rPr>
              <a:t>Если у вас операционная система MAC или Linux, то для этого Вам необходимо будет перейти в соответствующий раздел для загрузки специальной версии </a:t>
            </a:r>
            <a:r>
              <a:rPr lang="ru-RU" sz="2600" b="0" i="0" u="sng" strike="noStrike">
                <a:latin typeface="Times New Roman"/>
                <a:cs typeface="Times New Roman"/>
                <a:hlinkClick r:id="rId3" tooltip="https://www.telerik.com/download/fiddler-everywhere"/>
              </a:rPr>
              <a:t>Fiddler</a:t>
            </a:r>
            <a:r>
              <a:rPr lang="ru-RU" sz="2600" b="0" i="0" u="sng" strike="noStrike">
                <a:latin typeface="Times New Roman"/>
                <a:cs typeface="Times New Roman"/>
                <a:hlinkClick r:id="rId3" tooltip="https://www.telerik.com/download/fiddler-everywhere"/>
              </a:rPr>
              <a:t> </a:t>
            </a:r>
            <a:r>
              <a:rPr lang="ru-RU" sz="2600" b="0" i="0" u="sng" strike="noStrike">
                <a:latin typeface="Times New Roman"/>
                <a:cs typeface="Times New Roman"/>
                <a:hlinkClick r:id="rId3" tooltip="https://www.telerik.com/download/fiddler-everywhere"/>
              </a:rPr>
              <a:t>Everywhere</a:t>
            </a:r>
            <a:r>
              <a:rPr lang="ru-RU" sz="2600" b="0" i="0">
                <a:solidFill>
                  <a:srgbClr val="333333"/>
                </a:solidFill>
                <a:latin typeface="Times New Roman"/>
                <a:cs typeface="Times New Roman"/>
              </a:rPr>
              <a:t>.</a:t>
            </a: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r">
              <a:buNone/>
              <a:defRPr/>
            </a:pPr>
            <a:r>
              <a:rPr lang="ru-RU" sz="2000" b="1" i="1">
                <a:solidFill>
                  <a:srgbClr val="333333"/>
                </a:solidFill>
                <a:latin typeface="Times New Roman"/>
                <a:cs typeface="Times New Roman"/>
              </a:rPr>
              <a:t>Подробнее</a:t>
            </a:r>
            <a:r>
              <a:rPr lang="ru-RU" sz="2000">
                <a:solidFill>
                  <a:srgbClr val="333333"/>
                </a:solidFill>
                <a:latin typeface="Times New Roman"/>
                <a:cs typeface="Times New Roman"/>
              </a:rPr>
              <a:t>: </a:t>
            </a:r>
            <a:r>
              <a:rPr lang="en-US" sz="2000" u="sng">
                <a:solidFill>
                  <a:srgbClr val="333333"/>
                </a:solidFill>
                <a:latin typeface="Times New Roman"/>
                <a:cs typeface="Times New Roman"/>
                <a:hlinkClick r:id="rId4" tooltip="https://habr.com/ru/articles/533138"/>
              </a:rPr>
              <a:t>https://habr.com/ru/articles/533138</a:t>
            </a:r>
            <a:endParaRPr lang="ru-RU" sz="2000">
              <a:solidFill>
                <a:srgbClr val="333333"/>
              </a:solidFill>
              <a:latin typeface="Times New Roman"/>
              <a:cs typeface="Times New Roman"/>
            </a:endParaRPr>
          </a:p>
          <a:p>
            <a:pPr marL="0" indent="0" algn="r">
              <a:buNone/>
              <a:defRPr/>
            </a:pPr>
            <a:r>
              <a:rPr lang="en-US" sz="2000" u="sng">
                <a:solidFill>
                  <a:srgbClr val="333333"/>
                </a:solidFill>
                <a:latin typeface="Times New Roman"/>
                <a:cs typeface="Times New Roman"/>
                <a:hlinkClick r:id="rId5" tooltip="https://dzen.ru/a/ZAnHgk_J40-4gKUb"/>
              </a:rPr>
              <a:t>https://dzen.ru/a/ZAnHgk_J40-4gKUb</a:t>
            </a:r>
            <a:endParaRPr lang="en-US" sz="2600">
              <a:solidFill>
                <a:srgbClr val="333333"/>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a:bodyPr>
          <a:lstStyle/>
          <a:p>
            <a:pPr algn="ctr">
              <a:defRPr/>
            </a:pPr>
            <a:r>
              <a:rPr lang="ru-RU" sz="2300" b="1">
                <a:solidFill>
                  <a:srgbClr val="222222"/>
                </a:solidFill>
                <a:latin typeface="Times New Roman"/>
                <a:cs typeface="Arial"/>
              </a:rPr>
              <a:t>Настройка фильтрации трафика в </a:t>
            </a:r>
            <a:r>
              <a:rPr lang="ru-RU" sz="2300" b="1">
                <a:solidFill>
                  <a:srgbClr val="222222"/>
                </a:solidFill>
                <a:latin typeface="Times New Roman"/>
                <a:cs typeface="Arial"/>
              </a:rPr>
              <a:t>Fiddler</a:t>
            </a:r>
            <a:r>
              <a:rPr lang="ru-RU" sz="2300" b="1">
                <a:solidFill>
                  <a:srgbClr val="222222"/>
                </a:solidFill>
                <a:latin typeface="Times New Roman"/>
                <a:cs typeface="Arial"/>
              </a:rPr>
              <a:t> </a:t>
            </a:r>
            <a:r>
              <a:rPr lang="en-US" sz="2300" b="1">
                <a:solidFill>
                  <a:srgbClr val="222222"/>
                </a:solidFill>
                <a:latin typeface="Times New Roman"/>
                <a:cs typeface="Arial"/>
              </a:rPr>
              <a:t>Classic</a:t>
            </a:r>
            <a:endParaRPr lang="ru-RU" sz="2300" b="1">
              <a:solidFill>
                <a:srgbClr val="222222"/>
              </a:solidFill>
              <a:latin typeface="Times New Roman"/>
              <a:cs typeface="Arial"/>
            </a:endParaRPr>
          </a:p>
        </p:txBody>
      </p:sp>
      <p:sp>
        <p:nvSpPr>
          <p:cNvPr id="3" name="Объект 2"/>
          <p:cNvSpPr>
            <a:spLocks noGrp="1"/>
          </p:cNvSpPr>
          <p:nvPr>
            <p:ph idx="1"/>
          </p:nvPr>
        </p:nvSpPr>
        <p:spPr bwMode="auto">
          <a:xfrm>
            <a:off x="1591786" y="574767"/>
            <a:ext cx="10493238" cy="6165668"/>
          </a:xfrm>
        </p:spPr>
        <p:txBody>
          <a:bodyPr>
            <a:normAutofit fontScale="92500"/>
          </a:bodyPr>
          <a:lstStyle/>
          <a:p>
            <a:pPr marL="0" indent="0" algn="just">
              <a:buNone/>
              <a:defRPr/>
            </a:pPr>
            <a:r>
              <a:rPr lang="ru-RU" sz="2400">
                <a:solidFill>
                  <a:srgbClr val="333333"/>
                </a:solidFill>
                <a:latin typeface="Times New Roman"/>
                <a:cs typeface="Times New Roman"/>
              </a:rPr>
              <a:t>Вкладка «</a:t>
            </a:r>
            <a:r>
              <a:rPr lang="ru-RU" sz="2400">
                <a:solidFill>
                  <a:srgbClr val="333333"/>
                </a:solidFill>
                <a:latin typeface="Times New Roman"/>
                <a:cs typeface="Times New Roman"/>
              </a:rPr>
              <a:t>Filters</a:t>
            </a:r>
            <a:r>
              <a:rPr lang="ru-RU" sz="2400">
                <a:solidFill>
                  <a:srgbClr val="333333"/>
                </a:solidFill>
                <a:latin typeface="Times New Roman"/>
                <a:cs typeface="Times New Roman"/>
              </a:rPr>
              <a:t>» позволяет фильтровать и помечать трафик, отображаемый в пользовательском интерфейсе, а также вносить некоторые изменения в запросы.</a:t>
            </a:r>
            <a:endParaRPr lang="en-US" sz="2400">
              <a:solidFill>
                <a:srgbClr val="333333"/>
              </a:solidFill>
              <a:latin typeface="Times New Roman"/>
              <a:cs typeface="Times New Roman"/>
            </a:endParaRPr>
          </a:p>
          <a:p>
            <a:pPr marL="0" indent="0" algn="just">
              <a:buNone/>
              <a:defRPr/>
            </a:pPr>
            <a:endParaRPr lang="en-US" sz="2600" b="1">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just">
              <a:buNone/>
              <a:defRPr/>
            </a:pPr>
            <a:endParaRPr lang="en-US" sz="2600">
              <a:solidFill>
                <a:srgbClr val="333333"/>
              </a:solidFill>
              <a:latin typeface="Times New Roman"/>
              <a:cs typeface="Times New Roman"/>
            </a:endParaRPr>
          </a:p>
          <a:p>
            <a:pPr marL="0" indent="0" algn="r">
              <a:buNone/>
              <a:defRPr/>
            </a:pPr>
            <a:r>
              <a:rPr lang="ru-RU" sz="2000" b="1" i="1">
                <a:solidFill>
                  <a:srgbClr val="333333"/>
                </a:solidFill>
                <a:latin typeface="Times New Roman"/>
                <a:cs typeface="Times New Roman"/>
              </a:rPr>
              <a:t>Подробнее</a:t>
            </a:r>
            <a:r>
              <a:rPr lang="ru-RU" sz="2000">
                <a:solidFill>
                  <a:srgbClr val="333333"/>
                </a:solidFill>
                <a:latin typeface="Times New Roman"/>
                <a:cs typeface="Times New Roman"/>
              </a:rPr>
              <a:t>: </a:t>
            </a:r>
            <a:r>
              <a:rPr lang="en-US" sz="2000" u="sng">
                <a:solidFill>
                  <a:srgbClr val="333333"/>
                </a:solidFill>
                <a:latin typeface="Times New Roman"/>
                <a:cs typeface="Times New Roman"/>
                <a:hlinkClick r:id="rId2" tooltip="https://newtechaudit.ru/vozmozhnosti-fiddler"/>
              </a:rPr>
              <a:t>https://newtechaudit.ru/vozmozhnosti-fiddler</a:t>
            </a:r>
            <a:endParaRPr lang="en-US" sz="2000">
              <a:solidFill>
                <a:srgbClr val="333333"/>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4" name="Объект 10"/>
          <p:cNvPicPr>
            <a:picLocks noChangeAspect="1"/>
          </p:cNvPicPr>
          <p:nvPr/>
        </p:nvPicPr>
        <p:blipFill>
          <a:blip r:embed="rId3"/>
          <a:stretch/>
        </p:blipFill>
        <p:spPr bwMode="auto">
          <a:xfrm>
            <a:off x="4062550" y="1352837"/>
            <a:ext cx="4393422" cy="4930396"/>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a:bodyPr>
          <a:lstStyle/>
          <a:p>
            <a:pPr algn="ctr">
              <a:defRPr/>
            </a:pPr>
            <a:r>
              <a:rPr lang="ru-RU" sz="2300" b="1">
                <a:solidFill>
                  <a:srgbClr val="222222"/>
                </a:solidFill>
                <a:latin typeface="Times New Roman"/>
                <a:cs typeface="Arial"/>
              </a:rPr>
              <a:t>Настройка фильтрации трафика в </a:t>
            </a:r>
            <a:r>
              <a:rPr lang="ru-RU" sz="2300" b="1">
                <a:solidFill>
                  <a:srgbClr val="222222"/>
                </a:solidFill>
                <a:latin typeface="Times New Roman"/>
                <a:cs typeface="Arial"/>
              </a:rPr>
              <a:t>Fiddler</a:t>
            </a:r>
            <a:r>
              <a:rPr lang="ru-RU" sz="2300" b="1">
                <a:solidFill>
                  <a:srgbClr val="222222"/>
                </a:solidFill>
                <a:latin typeface="Times New Roman"/>
                <a:cs typeface="Arial"/>
              </a:rPr>
              <a:t> </a:t>
            </a:r>
            <a:r>
              <a:rPr lang="en-US" sz="2300" b="1">
                <a:solidFill>
                  <a:srgbClr val="222222"/>
                </a:solidFill>
                <a:latin typeface="Times New Roman"/>
                <a:cs typeface="Arial"/>
              </a:rPr>
              <a:t>Classic</a:t>
            </a:r>
            <a:endParaRPr lang="ru-RU" sz="2300" b="1">
              <a:solidFill>
                <a:srgbClr val="222222"/>
              </a:solidFill>
              <a:latin typeface="Times New Roman"/>
              <a:cs typeface="Arial"/>
            </a:endParaRPr>
          </a:p>
        </p:txBody>
      </p:sp>
      <p:sp>
        <p:nvSpPr>
          <p:cNvPr id="3" name="Объект 2"/>
          <p:cNvSpPr>
            <a:spLocks noGrp="1"/>
          </p:cNvSpPr>
          <p:nvPr>
            <p:ph idx="1"/>
          </p:nvPr>
        </p:nvSpPr>
        <p:spPr bwMode="auto">
          <a:xfrm>
            <a:off x="1591786" y="574767"/>
            <a:ext cx="10493238" cy="6165668"/>
          </a:xfrm>
        </p:spPr>
        <p:txBody>
          <a:bodyPr>
            <a:normAutofit lnSpcReduction="10000"/>
          </a:bodyPr>
          <a:lstStyle/>
          <a:p>
            <a:pPr marL="0" indent="0" algn="just">
              <a:buNone/>
              <a:defRPr/>
            </a:pPr>
            <a:endParaRPr lang="en-US" sz="2400" b="1">
              <a:solidFill>
                <a:srgbClr val="333333"/>
              </a:solidFill>
              <a:latin typeface="Times New Roman"/>
              <a:cs typeface="Times New Roman"/>
            </a:endParaRPr>
          </a:p>
          <a:p>
            <a:pPr marL="0" indent="0" algn="just">
              <a:buNone/>
              <a:defRPr/>
            </a:pPr>
            <a:r>
              <a:rPr lang="ru-RU" sz="2400" b="1">
                <a:solidFill>
                  <a:srgbClr val="333333"/>
                </a:solidFill>
                <a:latin typeface="Times New Roman"/>
                <a:cs typeface="Times New Roman"/>
              </a:rPr>
              <a:t>Zone Filter </a:t>
            </a:r>
            <a:r>
              <a:rPr lang="ru-RU" sz="2400">
                <a:solidFill>
                  <a:srgbClr val="333333"/>
                </a:solidFill>
                <a:latin typeface="Times New Roman"/>
                <a:cs typeface="Times New Roman"/>
              </a:rPr>
              <a:t>позволяет отображать трафик только для внутренней сети или Интернета. Данный фильтр будет полезен, когда вы занимаетесь отладкой конкретного сайта или приложения (локально) и одновременно работаете с документацией из другой зоны (например, из Интернета).</a:t>
            </a:r>
            <a:endParaRPr/>
          </a:p>
          <a:p>
            <a:pPr marL="0" indent="0" algn="just">
              <a:buNone/>
              <a:defRPr/>
            </a:pPr>
            <a:r>
              <a:rPr lang="ru-RU" sz="2400" b="1">
                <a:solidFill>
                  <a:srgbClr val="333333"/>
                </a:solidFill>
                <a:latin typeface="Times New Roman"/>
                <a:cs typeface="Times New Roman"/>
              </a:rPr>
              <a:t>Host Filter </a:t>
            </a:r>
            <a:r>
              <a:rPr lang="ru-RU" sz="2400">
                <a:solidFill>
                  <a:srgbClr val="333333"/>
                </a:solidFill>
                <a:latin typeface="Times New Roman"/>
                <a:cs typeface="Times New Roman"/>
              </a:rPr>
              <a:t>позволяет фильтровать трафик только для определённых доменных имён. Например, если вы выберете «</a:t>
            </a:r>
            <a:r>
              <a:rPr lang="ru-RU" sz="2400" b="1">
                <a:solidFill>
                  <a:srgbClr val="333333"/>
                </a:solidFill>
                <a:latin typeface="Times New Roman"/>
                <a:cs typeface="Times New Roman"/>
              </a:rPr>
              <a:t>Show </a:t>
            </a:r>
            <a:r>
              <a:rPr lang="ru-RU" sz="2400" b="1">
                <a:solidFill>
                  <a:srgbClr val="333333"/>
                </a:solidFill>
                <a:latin typeface="Times New Roman"/>
                <a:cs typeface="Times New Roman"/>
              </a:rPr>
              <a:t>only</a:t>
            </a:r>
            <a:r>
              <a:rPr lang="ru-RU" sz="2400" b="1">
                <a:solidFill>
                  <a:srgbClr val="333333"/>
                </a:solidFill>
                <a:latin typeface="Times New Roman"/>
                <a:cs typeface="Times New Roman"/>
              </a:rPr>
              <a:t> </a:t>
            </a:r>
            <a:r>
              <a:rPr lang="ru-RU" sz="2400" b="1">
                <a:solidFill>
                  <a:srgbClr val="333333"/>
                </a:solidFill>
                <a:latin typeface="Times New Roman"/>
                <a:cs typeface="Times New Roman"/>
              </a:rPr>
              <a:t>the</a:t>
            </a:r>
            <a:r>
              <a:rPr lang="ru-RU" sz="2400" b="1">
                <a:solidFill>
                  <a:srgbClr val="333333"/>
                </a:solidFill>
                <a:latin typeface="Times New Roman"/>
                <a:cs typeface="Times New Roman"/>
              </a:rPr>
              <a:t> </a:t>
            </a:r>
            <a:r>
              <a:rPr lang="ru-RU" sz="2400" b="1">
                <a:solidFill>
                  <a:srgbClr val="333333"/>
                </a:solidFill>
                <a:latin typeface="Times New Roman"/>
                <a:cs typeface="Times New Roman"/>
              </a:rPr>
              <a:t>following</a:t>
            </a:r>
            <a:r>
              <a:rPr lang="ru-RU" sz="2400" b="1">
                <a:solidFill>
                  <a:srgbClr val="333333"/>
                </a:solidFill>
                <a:latin typeface="Times New Roman"/>
                <a:cs typeface="Times New Roman"/>
              </a:rPr>
              <a:t> </a:t>
            </a:r>
            <a:r>
              <a:rPr lang="ru-RU" sz="2400" b="1">
                <a:solidFill>
                  <a:srgbClr val="333333"/>
                </a:solidFill>
                <a:latin typeface="Times New Roman"/>
                <a:cs typeface="Times New Roman"/>
              </a:rPr>
              <a:t>hosts</a:t>
            </a:r>
            <a:r>
              <a:rPr lang="ru-RU" sz="2400">
                <a:solidFill>
                  <a:srgbClr val="333333"/>
                </a:solidFill>
                <a:latin typeface="Times New Roman"/>
                <a:cs typeface="Times New Roman"/>
              </a:rPr>
              <a:t>» в раскрывающемся меню, вы можете указать имена хостов, с которыми хотите работать. Таким образом </a:t>
            </a:r>
            <a:r>
              <a:rPr lang="ru-RU" sz="2400">
                <a:solidFill>
                  <a:srgbClr val="333333"/>
                </a:solidFill>
                <a:latin typeface="Times New Roman"/>
                <a:cs typeface="Times New Roman"/>
              </a:rPr>
              <a:t>Fiddler</a:t>
            </a:r>
            <a:r>
              <a:rPr lang="ru-RU" sz="2400">
                <a:solidFill>
                  <a:srgbClr val="333333"/>
                </a:solidFill>
                <a:latin typeface="Times New Roman"/>
                <a:cs typeface="Times New Roman"/>
              </a:rPr>
              <a:t> будет отображать только тот трафик, который связан с выбранным именем хоста. Также доступна фильтрация по определенному процессу ОС (Client Process), на основе заголовков запросов и ответов (</a:t>
            </a:r>
            <a:r>
              <a:rPr lang="ru-RU" sz="2400">
                <a:solidFill>
                  <a:srgbClr val="333333"/>
                </a:solidFill>
                <a:latin typeface="Times New Roman"/>
                <a:cs typeface="Times New Roman"/>
              </a:rPr>
              <a:t>Request</a:t>
            </a:r>
            <a:r>
              <a:rPr lang="ru-RU" sz="2400">
                <a:solidFill>
                  <a:srgbClr val="333333"/>
                </a:solidFill>
                <a:latin typeface="Times New Roman"/>
                <a:cs typeface="Times New Roman"/>
              </a:rPr>
              <a:t> </a:t>
            </a:r>
            <a:r>
              <a:rPr lang="ru-RU" sz="2400">
                <a:solidFill>
                  <a:srgbClr val="333333"/>
                </a:solidFill>
                <a:latin typeface="Times New Roman"/>
                <a:cs typeface="Times New Roman"/>
              </a:rPr>
              <a:t>Headers</a:t>
            </a:r>
            <a:r>
              <a:rPr lang="ru-RU" sz="2400">
                <a:solidFill>
                  <a:srgbClr val="333333"/>
                </a:solidFill>
                <a:latin typeface="Times New Roman"/>
                <a:cs typeface="Times New Roman"/>
              </a:rPr>
              <a:t>/Response </a:t>
            </a:r>
            <a:r>
              <a:rPr lang="ru-RU" sz="2400">
                <a:solidFill>
                  <a:srgbClr val="333333"/>
                </a:solidFill>
                <a:latin typeface="Times New Roman"/>
                <a:cs typeface="Times New Roman"/>
              </a:rPr>
              <a:t>Headers</a:t>
            </a:r>
            <a:r>
              <a:rPr lang="ru-RU" sz="2400">
                <a:solidFill>
                  <a:srgbClr val="333333"/>
                </a:solidFill>
                <a:latin typeface="Times New Roman"/>
                <a:cs typeface="Times New Roman"/>
              </a:rPr>
              <a:t>), кода </a:t>
            </a:r>
            <a:r>
              <a:rPr lang="ru-RU" sz="2400">
                <a:solidFill>
                  <a:srgbClr val="333333"/>
                </a:solidFill>
                <a:latin typeface="Times New Roman"/>
                <a:cs typeface="Times New Roman"/>
              </a:rPr>
              <a:t>cсостояния</a:t>
            </a:r>
            <a:r>
              <a:rPr lang="ru-RU" sz="2400">
                <a:solidFill>
                  <a:srgbClr val="333333"/>
                </a:solidFill>
                <a:latin typeface="Times New Roman"/>
                <a:cs typeface="Times New Roman"/>
              </a:rPr>
              <a:t> HTTP (Response </a:t>
            </a:r>
            <a:r>
              <a:rPr lang="ru-RU" sz="2400">
                <a:solidFill>
                  <a:srgbClr val="333333"/>
                </a:solidFill>
                <a:latin typeface="Times New Roman"/>
                <a:cs typeface="Times New Roman"/>
              </a:rPr>
              <a:t>Status</a:t>
            </a:r>
            <a:r>
              <a:rPr lang="ru-RU" sz="2400">
                <a:solidFill>
                  <a:srgbClr val="333333"/>
                </a:solidFill>
                <a:latin typeface="Times New Roman"/>
                <a:cs typeface="Times New Roman"/>
              </a:rPr>
              <a:t> Code), на основе типа/размера контента (Response Type </a:t>
            </a:r>
            <a:r>
              <a:rPr lang="ru-RU" sz="2400">
                <a:solidFill>
                  <a:srgbClr val="333333"/>
                </a:solidFill>
                <a:latin typeface="Times New Roman"/>
                <a:cs typeface="Times New Roman"/>
              </a:rPr>
              <a:t>and</a:t>
            </a:r>
            <a:r>
              <a:rPr lang="ru-RU" sz="2400">
                <a:solidFill>
                  <a:srgbClr val="333333"/>
                </a:solidFill>
                <a:latin typeface="Times New Roman"/>
                <a:cs typeface="Times New Roman"/>
              </a:rPr>
              <a:t> </a:t>
            </a:r>
            <a:r>
              <a:rPr lang="ru-RU" sz="2400">
                <a:solidFill>
                  <a:srgbClr val="333333"/>
                </a:solidFill>
                <a:latin typeface="Times New Roman"/>
                <a:cs typeface="Times New Roman"/>
              </a:rPr>
              <a:t>Size</a:t>
            </a:r>
            <a:r>
              <a:rPr lang="ru-RU" sz="2400">
                <a:solidFill>
                  <a:srgbClr val="333333"/>
                </a:solidFill>
                <a:latin typeface="Times New Roman"/>
                <a:cs typeface="Times New Roman"/>
              </a:rPr>
              <a:t>) и пр.</a:t>
            </a:r>
            <a:endParaRPr/>
          </a:p>
          <a:p>
            <a:pPr marL="0" indent="0" algn="just">
              <a:buNone/>
              <a:defRPr/>
            </a:pPr>
            <a:r>
              <a:rPr lang="ru-RU" sz="2400">
                <a:solidFill>
                  <a:srgbClr val="333333"/>
                </a:solidFill>
                <a:latin typeface="Times New Roman"/>
                <a:cs typeface="Times New Roman"/>
              </a:rPr>
              <a:t>После завершения настройки фильтров, нажмите «</a:t>
            </a:r>
            <a:r>
              <a:rPr lang="ru-RU" sz="2400" b="1">
                <a:solidFill>
                  <a:srgbClr val="333333"/>
                </a:solidFill>
                <a:latin typeface="Times New Roman"/>
                <a:cs typeface="Times New Roman"/>
              </a:rPr>
              <a:t>Actions</a:t>
            </a:r>
            <a:r>
              <a:rPr lang="ru-RU" sz="2400">
                <a:solidFill>
                  <a:srgbClr val="333333"/>
                </a:solidFill>
                <a:latin typeface="Times New Roman"/>
                <a:cs typeface="Times New Roman"/>
              </a:rPr>
              <a:t>» </a:t>
            </a:r>
            <a:r>
              <a:rPr lang="en-US" sz="2400">
                <a:solidFill>
                  <a:srgbClr val="333333"/>
                </a:solidFill>
                <a:latin typeface="Times New Roman"/>
                <a:cs typeface="Times New Roman"/>
              </a:rPr>
              <a:t>-</a:t>
            </a:r>
            <a:r>
              <a:rPr lang="ru-RU" sz="2400">
                <a:solidFill>
                  <a:srgbClr val="333333"/>
                </a:solidFill>
                <a:latin typeface="Times New Roman"/>
                <a:cs typeface="Times New Roman"/>
              </a:rPr>
              <a:t>&gt; «</a:t>
            </a:r>
            <a:r>
              <a:rPr lang="ru-RU" sz="2400" b="1">
                <a:solidFill>
                  <a:srgbClr val="333333"/>
                </a:solidFill>
                <a:latin typeface="Times New Roman"/>
                <a:cs typeface="Times New Roman"/>
              </a:rPr>
              <a:t>Run</a:t>
            </a:r>
            <a:r>
              <a:rPr lang="ru-RU" sz="2400" b="1">
                <a:solidFill>
                  <a:srgbClr val="333333"/>
                </a:solidFill>
                <a:latin typeface="Times New Roman"/>
                <a:cs typeface="Times New Roman"/>
              </a:rPr>
              <a:t> </a:t>
            </a:r>
            <a:r>
              <a:rPr lang="ru-RU" sz="2400" b="1">
                <a:solidFill>
                  <a:srgbClr val="333333"/>
                </a:solidFill>
                <a:latin typeface="Times New Roman"/>
                <a:cs typeface="Times New Roman"/>
              </a:rPr>
              <a:t>Filterset</a:t>
            </a:r>
            <a:r>
              <a:rPr lang="ru-RU" sz="2400" b="1">
                <a:solidFill>
                  <a:srgbClr val="333333"/>
                </a:solidFill>
                <a:latin typeface="Times New Roman"/>
                <a:cs typeface="Times New Roman"/>
              </a:rPr>
              <a:t> </a:t>
            </a:r>
            <a:r>
              <a:rPr lang="ru-RU" sz="2400" b="1">
                <a:solidFill>
                  <a:srgbClr val="333333"/>
                </a:solidFill>
                <a:latin typeface="Times New Roman"/>
                <a:cs typeface="Times New Roman"/>
              </a:rPr>
              <a:t>now</a:t>
            </a:r>
            <a:r>
              <a:rPr lang="ru-RU" sz="2400">
                <a:solidFill>
                  <a:srgbClr val="333333"/>
                </a:solidFill>
                <a:latin typeface="Times New Roman"/>
                <a:cs typeface="Times New Roman"/>
              </a:rPr>
              <a:t>» для применения фильтра.</a:t>
            </a:r>
            <a:endParaRPr/>
          </a:p>
          <a:p>
            <a:pPr marL="0" indent="0" algn="r">
              <a:buNone/>
              <a:defRPr/>
            </a:pPr>
            <a:r>
              <a:rPr lang="ru-RU" sz="2000" b="1" i="1">
                <a:solidFill>
                  <a:srgbClr val="333333"/>
                </a:solidFill>
                <a:latin typeface="Times New Roman"/>
                <a:cs typeface="Times New Roman"/>
              </a:rPr>
              <a:t>Подробнее</a:t>
            </a:r>
            <a:r>
              <a:rPr lang="ru-RU" sz="2000">
                <a:solidFill>
                  <a:srgbClr val="333333"/>
                </a:solidFill>
                <a:latin typeface="Times New Roman"/>
                <a:cs typeface="Times New Roman"/>
              </a:rPr>
              <a:t>: </a:t>
            </a:r>
            <a:r>
              <a:rPr lang="en-US" sz="2000" u="sng">
                <a:solidFill>
                  <a:srgbClr val="333333"/>
                </a:solidFill>
                <a:latin typeface="Times New Roman"/>
                <a:cs typeface="Times New Roman"/>
                <a:hlinkClick r:id="rId2" tooltip="https://newtechaudit.ru/vozmozhnosti-fiddler"/>
              </a:rPr>
              <a:t>https://newtechaudit.ru/vozmozhnosti-fiddler</a:t>
            </a:r>
            <a:endParaRPr lang="en-US" sz="2000">
              <a:solidFill>
                <a:srgbClr val="333333"/>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a:bodyPr>
          <a:lstStyle/>
          <a:p>
            <a:pPr algn="ctr">
              <a:defRPr/>
            </a:pPr>
            <a:r>
              <a:rPr lang="ru-RU" sz="2300" b="1">
                <a:solidFill>
                  <a:srgbClr val="222222"/>
                </a:solidFill>
                <a:latin typeface="Times New Roman"/>
                <a:cs typeface="Arial"/>
              </a:rPr>
              <a:t>Анализ запросов и ответов в </a:t>
            </a:r>
            <a:r>
              <a:rPr lang="ru-RU" sz="2300" b="1">
                <a:solidFill>
                  <a:srgbClr val="222222"/>
                </a:solidFill>
                <a:latin typeface="Times New Roman"/>
                <a:cs typeface="Arial"/>
              </a:rPr>
              <a:t>Fiddler</a:t>
            </a:r>
            <a:r>
              <a:rPr lang="ru-RU" sz="2300" b="1">
                <a:solidFill>
                  <a:srgbClr val="222222"/>
                </a:solidFill>
                <a:latin typeface="Times New Roman"/>
                <a:cs typeface="Arial"/>
              </a:rPr>
              <a:t> </a:t>
            </a:r>
            <a:r>
              <a:rPr lang="en-US" sz="2300" b="1">
                <a:solidFill>
                  <a:srgbClr val="222222"/>
                </a:solidFill>
                <a:latin typeface="Times New Roman"/>
                <a:cs typeface="Arial"/>
              </a:rPr>
              <a:t>Classic</a:t>
            </a:r>
            <a:endParaRPr lang="ru-RU" sz="2300" b="1">
              <a:solidFill>
                <a:srgbClr val="222222"/>
              </a:solidFill>
              <a:latin typeface="Times New Roman"/>
              <a:cs typeface="Arial"/>
            </a:endParaRPr>
          </a:p>
        </p:txBody>
      </p:sp>
      <p:sp>
        <p:nvSpPr>
          <p:cNvPr id="3" name="Объект 2"/>
          <p:cNvSpPr>
            <a:spLocks noGrp="1"/>
          </p:cNvSpPr>
          <p:nvPr>
            <p:ph idx="1"/>
          </p:nvPr>
        </p:nvSpPr>
        <p:spPr bwMode="auto">
          <a:xfrm>
            <a:off x="1591786" y="574767"/>
            <a:ext cx="10493238" cy="6165668"/>
          </a:xfrm>
        </p:spPr>
        <p:txBody>
          <a:bodyPr>
            <a:normAutofit/>
          </a:bodyPr>
          <a:lstStyle/>
          <a:p>
            <a:pPr marL="0" indent="0" algn="just">
              <a:buNone/>
              <a:defRPr/>
            </a:pPr>
            <a:r>
              <a:rPr lang="ru-RU" sz="2400">
                <a:solidFill>
                  <a:srgbClr val="333333"/>
                </a:solidFill>
                <a:latin typeface="Times New Roman"/>
                <a:cs typeface="Times New Roman"/>
              </a:rPr>
              <a:t>Вкладка «</a:t>
            </a:r>
            <a:r>
              <a:rPr lang="ru-RU" sz="2400">
                <a:solidFill>
                  <a:srgbClr val="333333"/>
                </a:solidFill>
                <a:latin typeface="Times New Roman"/>
                <a:cs typeface="Times New Roman"/>
              </a:rPr>
              <a:t>Inspectors</a:t>
            </a:r>
            <a:r>
              <a:rPr lang="ru-RU" sz="2400">
                <a:solidFill>
                  <a:srgbClr val="333333"/>
                </a:solidFill>
                <a:latin typeface="Times New Roman"/>
                <a:cs typeface="Times New Roman"/>
              </a:rPr>
              <a:t>» позволяет более тщательно анализировать запросы и ответы. Чтобы загрузить запрос, просто перетащите его в окно.            </a:t>
            </a:r>
            <a:endParaRPr/>
          </a:p>
          <a:p>
            <a:pPr marL="0" indent="0" algn="just">
              <a:buNone/>
              <a:defRPr/>
            </a:pPr>
            <a:r>
              <a:rPr lang="ru-RU" sz="2400">
                <a:solidFill>
                  <a:srgbClr val="333333"/>
                </a:solidFill>
                <a:latin typeface="Times New Roman"/>
                <a:cs typeface="Times New Roman"/>
              </a:rPr>
              <a:t>Функционал </a:t>
            </a:r>
            <a:r>
              <a:rPr lang="ru-RU" sz="2400">
                <a:solidFill>
                  <a:srgbClr val="333333"/>
                </a:solidFill>
                <a:latin typeface="Times New Roman"/>
                <a:cs typeface="Times New Roman"/>
              </a:rPr>
              <a:t>Fiddler</a:t>
            </a:r>
            <a:r>
              <a:rPr lang="ru-RU" sz="2400">
                <a:solidFill>
                  <a:srgbClr val="333333"/>
                </a:solidFill>
                <a:latin typeface="Times New Roman"/>
                <a:cs typeface="Times New Roman"/>
              </a:rPr>
              <a:t> позволяет просматривать HTTPS-сообщение различными вариантами отображения. Например, во вкладке «</a:t>
            </a:r>
            <a:r>
              <a:rPr lang="ru-RU" sz="2400">
                <a:solidFill>
                  <a:srgbClr val="333333"/>
                </a:solidFill>
                <a:latin typeface="Times New Roman"/>
                <a:cs typeface="Times New Roman"/>
              </a:rPr>
              <a:t>Headers</a:t>
            </a:r>
            <a:r>
              <a:rPr lang="ru-RU" sz="2400">
                <a:solidFill>
                  <a:srgbClr val="333333"/>
                </a:solidFill>
                <a:latin typeface="Times New Roman"/>
                <a:cs typeface="Times New Roman"/>
              </a:rPr>
              <a:t>» отображаются заголовки запроса:</a:t>
            </a:r>
            <a:endParaRPr/>
          </a:p>
          <a:p>
            <a:pPr marL="0" indent="0" algn="just">
              <a:buNone/>
              <a:defRPr/>
            </a:pPr>
            <a:endParaRPr lang="ru-RU"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just">
              <a:buNone/>
              <a:defRPr/>
            </a:pPr>
            <a:r>
              <a:rPr lang="ru-RU" sz="2400">
                <a:solidFill>
                  <a:srgbClr val="333333"/>
                </a:solidFill>
                <a:latin typeface="Times New Roman"/>
                <a:cs typeface="Times New Roman"/>
              </a:rPr>
              <a:t> </a:t>
            </a:r>
            <a:endParaRPr/>
          </a:p>
          <a:p>
            <a:pPr marL="0" indent="0" algn="r">
              <a:buNone/>
              <a:defRPr/>
            </a:pPr>
            <a:r>
              <a:rPr lang="ru-RU" sz="2000" b="1" i="1">
                <a:solidFill>
                  <a:srgbClr val="333333"/>
                </a:solidFill>
                <a:latin typeface="Times New Roman"/>
                <a:cs typeface="Times New Roman"/>
              </a:rPr>
              <a:t>Подробнее</a:t>
            </a:r>
            <a:r>
              <a:rPr lang="ru-RU" sz="2000">
                <a:solidFill>
                  <a:srgbClr val="333333"/>
                </a:solidFill>
                <a:latin typeface="Times New Roman"/>
                <a:cs typeface="Times New Roman"/>
              </a:rPr>
              <a:t>: </a:t>
            </a:r>
            <a:r>
              <a:rPr lang="en-US" sz="2000" u="sng">
                <a:solidFill>
                  <a:srgbClr val="333333"/>
                </a:solidFill>
                <a:latin typeface="Times New Roman"/>
                <a:cs typeface="Times New Roman"/>
                <a:hlinkClick r:id="rId2" tooltip="https://newtechaudit.ru/vozmozhnosti-fiddler"/>
              </a:rPr>
              <a:t>https://newtechaudit.ru/vozmozhnosti-fiddler</a:t>
            </a:r>
            <a:endParaRPr lang="en-US" sz="2000">
              <a:solidFill>
                <a:srgbClr val="333333"/>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5" name="Рисунок 4"/>
          <p:cNvPicPr>
            <a:picLocks noChangeAspect="1"/>
          </p:cNvPicPr>
          <p:nvPr/>
        </p:nvPicPr>
        <p:blipFill>
          <a:blip r:embed="rId3"/>
          <a:stretch/>
        </p:blipFill>
        <p:spPr bwMode="auto">
          <a:xfrm>
            <a:off x="2651758" y="2599507"/>
            <a:ext cx="8368200" cy="34094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a:bodyPr>
          <a:lstStyle/>
          <a:p>
            <a:pPr algn="ctr">
              <a:defRPr/>
            </a:pPr>
            <a:r>
              <a:rPr lang="ru-RU" sz="2300" b="1">
                <a:solidFill>
                  <a:srgbClr val="222222"/>
                </a:solidFill>
                <a:latin typeface="Times New Roman"/>
                <a:cs typeface="Arial"/>
              </a:rPr>
              <a:t>Анализ запросов и ответов в </a:t>
            </a:r>
            <a:r>
              <a:rPr lang="ru-RU" sz="2300" b="1">
                <a:solidFill>
                  <a:srgbClr val="222222"/>
                </a:solidFill>
                <a:latin typeface="Times New Roman"/>
                <a:cs typeface="Arial"/>
              </a:rPr>
              <a:t>Fiddler</a:t>
            </a:r>
            <a:r>
              <a:rPr lang="ru-RU" sz="2300" b="1">
                <a:solidFill>
                  <a:srgbClr val="222222"/>
                </a:solidFill>
                <a:latin typeface="Times New Roman"/>
                <a:cs typeface="Arial"/>
              </a:rPr>
              <a:t> </a:t>
            </a:r>
            <a:r>
              <a:rPr lang="en-US" sz="2300" b="1">
                <a:solidFill>
                  <a:srgbClr val="222222"/>
                </a:solidFill>
                <a:latin typeface="Times New Roman"/>
                <a:cs typeface="Arial"/>
              </a:rPr>
              <a:t>Classic</a:t>
            </a:r>
            <a:endParaRPr lang="ru-RU" sz="2300" b="1">
              <a:solidFill>
                <a:srgbClr val="222222"/>
              </a:solidFill>
              <a:latin typeface="Times New Roman"/>
              <a:cs typeface="Arial"/>
            </a:endParaRPr>
          </a:p>
        </p:txBody>
      </p:sp>
      <p:sp>
        <p:nvSpPr>
          <p:cNvPr id="3" name="Объект 2"/>
          <p:cNvSpPr>
            <a:spLocks noGrp="1"/>
          </p:cNvSpPr>
          <p:nvPr>
            <p:ph idx="1"/>
          </p:nvPr>
        </p:nvSpPr>
        <p:spPr bwMode="auto">
          <a:xfrm>
            <a:off x="1591786" y="574767"/>
            <a:ext cx="10493238" cy="6165668"/>
          </a:xfrm>
        </p:spPr>
        <p:txBody>
          <a:bodyPr>
            <a:normAutofit lnSpcReduction="10000"/>
          </a:bodyPr>
          <a:lstStyle/>
          <a:p>
            <a:pPr marL="0" indent="0" algn="just">
              <a:buNone/>
              <a:defRPr/>
            </a:pPr>
            <a:r>
              <a:rPr lang="ru-RU" sz="2400">
                <a:solidFill>
                  <a:srgbClr val="333333"/>
                </a:solidFill>
                <a:latin typeface="Times New Roman"/>
                <a:cs typeface="Times New Roman"/>
              </a:rPr>
              <a:t>Вкладка </a:t>
            </a:r>
            <a:r>
              <a:rPr lang="ru-RU" sz="2400" b="0" i="0">
                <a:solidFill>
                  <a:srgbClr val="444B65"/>
                </a:solidFill>
                <a:latin typeface="Manrope"/>
              </a:rPr>
              <a:t> </a:t>
            </a:r>
            <a:r>
              <a:rPr lang="ru-RU" sz="2400">
                <a:solidFill>
                  <a:srgbClr val="333333"/>
                </a:solidFill>
                <a:latin typeface="Times New Roman"/>
                <a:cs typeface="Times New Roman"/>
              </a:rPr>
              <a:t>«</a:t>
            </a:r>
            <a:r>
              <a:rPr lang="ru-RU" sz="2400">
                <a:solidFill>
                  <a:srgbClr val="333333"/>
                </a:solidFill>
                <a:latin typeface="Times New Roman"/>
                <a:cs typeface="Times New Roman"/>
              </a:rPr>
              <a:t>Raw</a:t>
            </a:r>
            <a:r>
              <a:rPr lang="ru-RU" sz="2400">
                <a:solidFill>
                  <a:srgbClr val="333333"/>
                </a:solidFill>
                <a:latin typeface="Times New Roman"/>
                <a:cs typeface="Times New Roman"/>
              </a:rPr>
              <a:t>» позволяет отобразить запрос в виде обычного текста: </a:t>
            </a:r>
            <a:endParaRPr/>
          </a:p>
          <a:p>
            <a:pPr marL="0" indent="0" algn="just">
              <a:buNone/>
              <a:defRPr/>
            </a:pPr>
            <a:endParaRPr lang="ru-RU"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r>
              <a:rPr lang="ru-RU" sz="2400">
                <a:solidFill>
                  <a:srgbClr val="333333"/>
                </a:solidFill>
                <a:latin typeface="Times New Roman"/>
                <a:cs typeface="Times New Roman"/>
              </a:rPr>
              <a:t>Есть и другие варианты отображения – например, вкладка «</a:t>
            </a:r>
            <a:r>
              <a:rPr lang="ru-RU" sz="2400">
                <a:solidFill>
                  <a:srgbClr val="333333"/>
                </a:solidFill>
                <a:latin typeface="Times New Roman"/>
                <a:cs typeface="Times New Roman"/>
              </a:rPr>
              <a:t>WebForms</a:t>
            </a:r>
            <a:r>
              <a:rPr lang="ru-RU" sz="2400">
                <a:solidFill>
                  <a:srgbClr val="333333"/>
                </a:solidFill>
                <a:latin typeface="Times New Roman"/>
                <a:cs typeface="Times New Roman"/>
              </a:rPr>
              <a:t>» отображает строки запроса и формы HTTP(S), а вкладки «JSON» и «XML» запросы JSON и XML соответственно.</a:t>
            </a:r>
            <a:endParaRPr/>
          </a:p>
          <a:p>
            <a:pPr marL="0" indent="0" algn="just">
              <a:buNone/>
              <a:defRPr/>
            </a:pPr>
            <a:r>
              <a:rPr lang="ru-RU" sz="2400">
                <a:solidFill>
                  <a:srgbClr val="333333"/>
                </a:solidFill>
                <a:latin typeface="Times New Roman"/>
                <a:cs typeface="Times New Roman"/>
              </a:rPr>
              <a:t> </a:t>
            </a:r>
            <a:endParaRPr/>
          </a:p>
          <a:p>
            <a:pPr marL="0" indent="0" algn="r">
              <a:buNone/>
              <a:defRPr/>
            </a:pPr>
            <a:r>
              <a:rPr lang="ru-RU" sz="2000" b="1" i="1">
                <a:solidFill>
                  <a:srgbClr val="333333"/>
                </a:solidFill>
                <a:latin typeface="Times New Roman"/>
                <a:cs typeface="Times New Roman"/>
              </a:rPr>
              <a:t>Подробнее</a:t>
            </a:r>
            <a:r>
              <a:rPr lang="ru-RU" sz="2000">
                <a:solidFill>
                  <a:srgbClr val="333333"/>
                </a:solidFill>
                <a:latin typeface="Times New Roman"/>
                <a:cs typeface="Times New Roman"/>
              </a:rPr>
              <a:t>: </a:t>
            </a:r>
            <a:r>
              <a:rPr lang="en-US" sz="2000" u="sng">
                <a:solidFill>
                  <a:srgbClr val="333333"/>
                </a:solidFill>
                <a:latin typeface="Times New Roman"/>
                <a:cs typeface="Times New Roman"/>
                <a:hlinkClick r:id="rId2" tooltip="https://newtechaudit.ru/vozmozhnosti-fiddler"/>
              </a:rPr>
              <a:t>https://newtechaudit.ru/vozmozhnosti-fiddler</a:t>
            </a:r>
            <a:endParaRPr lang="en-US" sz="2000">
              <a:solidFill>
                <a:srgbClr val="333333"/>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7" name="Рисунок 6"/>
          <p:cNvPicPr>
            <a:picLocks noChangeAspect="1"/>
          </p:cNvPicPr>
          <p:nvPr/>
        </p:nvPicPr>
        <p:blipFill>
          <a:blip r:embed="rId3"/>
          <a:stretch/>
        </p:blipFill>
        <p:spPr bwMode="auto">
          <a:xfrm>
            <a:off x="2205989" y="1197292"/>
            <a:ext cx="8509849" cy="340083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a:bodyPr>
          <a:lstStyle/>
          <a:p>
            <a:pPr algn="ctr">
              <a:defRPr/>
            </a:pPr>
            <a:r>
              <a:rPr lang="ru-RU" sz="2300" b="1">
                <a:solidFill>
                  <a:srgbClr val="222222"/>
                </a:solidFill>
                <a:latin typeface="Times New Roman"/>
                <a:cs typeface="Arial"/>
              </a:rPr>
              <a:t>Составление </a:t>
            </a:r>
            <a:r>
              <a:rPr lang="en-US" sz="2300" b="1">
                <a:solidFill>
                  <a:srgbClr val="222222"/>
                </a:solidFill>
                <a:latin typeface="Times New Roman"/>
                <a:cs typeface="Arial"/>
              </a:rPr>
              <a:t>HTTP(S) </a:t>
            </a:r>
            <a:r>
              <a:rPr lang="ru-RU" sz="2300" b="1">
                <a:solidFill>
                  <a:srgbClr val="222222"/>
                </a:solidFill>
                <a:latin typeface="Times New Roman"/>
                <a:cs typeface="Arial"/>
              </a:rPr>
              <a:t>запросов</a:t>
            </a:r>
            <a:r>
              <a:rPr lang="en-US" sz="2300" b="1">
                <a:solidFill>
                  <a:srgbClr val="222222"/>
                </a:solidFill>
                <a:latin typeface="Times New Roman"/>
                <a:cs typeface="Arial"/>
              </a:rPr>
              <a:t> </a:t>
            </a:r>
            <a:r>
              <a:rPr lang="ru-RU" sz="2300" b="1">
                <a:solidFill>
                  <a:srgbClr val="222222"/>
                </a:solidFill>
                <a:latin typeface="Times New Roman"/>
                <a:cs typeface="Arial"/>
              </a:rPr>
              <a:t>в </a:t>
            </a:r>
            <a:r>
              <a:rPr lang="ru-RU" sz="2300" b="1">
                <a:solidFill>
                  <a:srgbClr val="222222"/>
                </a:solidFill>
                <a:latin typeface="Times New Roman"/>
                <a:cs typeface="Arial"/>
              </a:rPr>
              <a:t>Fiddler</a:t>
            </a:r>
            <a:r>
              <a:rPr lang="ru-RU" sz="2300" b="1">
                <a:solidFill>
                  <a:srgbClr val="222222"/>
                </a:solidFill>
                <a:latin typeface="Times New Roman"/>
                <a:cs typeface="Arial"/>
              </a:rPr>
              <a:t> </a:t>
            </a:r>
            <a:r>
              <a:rPr lang="en-US" sz="2300" b="1">
                <a:solidFill>
                  <a:srgbClr val="222222"/>
                </a:solidFill>
                <a:latin typeface="Times New Roman"/>
                <a:cs typeface="Arial"/>
              </a:rPr>
              <a:t>Classic</a:t>
            </a:r>
            <a:endParaRPr lang="ru-RU" sz="2300" b="1">
              <a:solidFill>
                <a:srgbClr val="222222"/>
              </a:solidFill>
              <a:latin typeface="Times New Roman"/>
              <a:cs typeface="Arial"/>
            </a:endParaRPr>
          </a:p>
        </p:txBody>
      </p:sp>
      <p:sp>
        <p:nvSpPr>
          <p:cNvPr id="3" name="Объект 2"/>
          <p:cNvSpPr>
            <a:spLocks noGrp="1"/>
          </p:cNvSpPr>
          <p:nvPr>
            <p:ph idx="1"/>
          </p:nvPr>
        </p:nvSpPr>
        <p:spPr bwMode="auto">
          <a:xfrm>
            <a:off x="1591786" y="574767"/>
            <a:ext cx="10493238" cy="6165668"/>
          </a:xfrm>
        </p:spPr>
        <p:txBody>
          <a:bodyPr>
            <a:normAutofit fontScale="85000" lnSpcReduction="20000"/>
          </a:bodyPr>
          <a:lstStyle/>
          <a:p>
            <a:pPr marL="0" indent="0" algn="just">
              <a:buNone/>
              <a:defRPr/>
            </a:pPr>
            <a:r>
              <a:rPr lang="ru-RU" sz="2400">
                <a:solidFill>
                  <a:srgbClr val="333333"/>
                </a:solidFill>
                <a:latin typeface="Times New Roman"/>
                <a:cs typeface="Times New Roman"/>
              </a:rPr>
              <a:t>Вкладка  «</a:t>
            </a:r>
            <a:r>
              <a:rPr lang="ru-RU" sz="2400">
                <a:solidFill>
                  <a:srgbClr val="333333"/>
                </a:solidFill>
                <a:latin typeface="Times New Roman"/>
                <a:cs typeface="Times New Roman"/>
              </a:rPr>
              <a:t>Composer</a:t>
            </a:r>
            <a:r>
              <a:rPr lang="ru-RU" sz="2400">
                <a:solidFill>
                  <a:srgbClr val="333333"/>
                </a:solidFill>
                <a:latin typeface="Times New Roman"/>
                <a:cs typeface="Times New Roman"/>
              </a:rPr>
              <a:t>» позволяет создать HTTP(S) запросы с нуля, указав метод HTTP, URL-адрес, версию HTTP, заголовки и тело самого запроса (</a:t>
            </a:r>
            <a:r>
              <a:rPr lang="ru-RU" sz="2400">
                <a:solidFill>
                  <a:srgbClr val="333333"/>
                </a:solidFill>
                <a:latin typeface="Times New Roman"/>
                <a:cs typeface="Times New Roman"/>
              </a:rPr>
              <a:t>Request</a:t>
            </a:r>
            <a:r>
              <a:rPr lang="ru-RU" sz="2400">
                <a:solidFill>
                  <a:srgbClr val="333333"/>
                </a:solidFill>
                <a:latin typeface="Times New Roman"/>
                <a:cs typeface="Times New Roman"/>
              </a:rPr>
              <a:t> Body). Также есть возможность автоматического заполнения всех полей, вручную «перетащив» запрос в окно «</a:t>
            </a:r>
            <a:r>
              <a:rPr lang="ru-RU" sz="2400">
                <a:solidFill>
                  <a:srgbClr val="333333"/>
                </a:solidFill>
                <a:latin typeface="Times New Roman"/>
                <a:cs typeface="Times New Roman"/>
              </a:rPr>
              <a:t>composer</a:t>
            </a:r>
            <a:r>
              <a:rPr lang="ru-RU" sz="2400">
                <a:solidFill>
                  <a:srgbClr val="333333"/>
                </a:solidFill>
                <a:latin typeface="Times New Roman"/>
                <a:cs typeface="Times New Roman"/>
              </a:rPr>
              <a:t>». Перед отправкой запроса его можно редактировать.</a:t>
            </a:r>
            <a:endParaRPr/>
          </a:p>
          <a:p>
            <a:pPr marL="0" indent="0" algn="just">
              <a:buNone/>
              <a:defRPr/>
            </a:pPr>
            <a:endParaRPr lang="ru-RU"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r>
              <a:rPr lang="ru-RU" sz="2400">
                <a:solidFill>
                  <a:srgbClr val="333333"/>
                </a:solidFill>
                <a:latin typeface="Times New Roman"/>
                <a:cs typeface="Times New Roman"/>
              </a:rPr>
              <a:t>Ранее выполненные запросы можно посмотреть в поле «</a:t>
            </a:r>
            <a:r>
              <a:rPr lang="ru-RU" sz="2400">
                <a:solidFill>
                  <a:srgbClr val="333333"/>
                </a:solidFill>
                <a:latin typeface="Times New Roman"/>
                <a:cs typeface="Times New Roman"/>
              </a:rPr>
              <a:t>History</a:t>
            </a:r>
            <a:r>
              <a:rPr lang="ru-RU" sz="2400">
                <a:solidFill>
                  <a:srgbClr val="333333"/>
                </a:solidFill>
                <a:latin typeface="Times New Roman"/>
                <a:cs typeface="Times New Roman"/>
              </a:rPr>
              <a:t>». Для выполнения запроса необходимо нажать </a:t>
            </a:r>
            <a:r>
              <a:rPr lang="ru-RU" sz="2400">
                <a:solidFill>
                  <a:srgbClr val="333333"/>
                </a:solidFill>
                <a:latin typeface="Times New Roman"/>
                <a:cs typeface="Times New Roman"/>
              </a:rPr>
              <a:t>Execute</a:t>
            </a:r>
            <a:r>
              <a:rPr lang="ru-RU" sz="2400">
                <a:solidFill>
                  <a:srgbClr val="333333"/>
                </a:solidFill>
                <a:latin typeface="Times New Roman"/>
                <a:cs typeface="Times New Roman"/>
              </a:rPr>
              <a:t> в правом верхнем углу.</a:t>
            </a:r>
            <a:endParaRPr lang="en-US" sz="2400">
              <a:solidFill>
                <a:srgbClr val="333333"/>
              </a:solidFill>
              <a:latin typeface="Times New Roman"/>
              <a:cs typeface="Times New Roman"/>
            </a:endParaRPr>
          </a:p>
          <a:p>
            <a:pPr marL="0" indent="0" algn="just">
              <a:buNone/>
              <a:defRPr/>
            </a:pPr>
            <a:r>
              <a:rPr lang="ru-RU" sz="2400">
                <a:solidFill>
                  <a:srgbClr val="333333"/>
                </a:solidFill>
                <a:latin typeface="Times New Roman"/>
                <a:cs typeface="Times New Roman"/>
              </a:rPr>
              <a:t> </a:t>
            </a:r>
            <a:endParaRPr/>
          </a:p>
          <a:p>
            <a:pPr marL="0" indent="0" algn="r">
              <a:buNone/>
              <a:defRPr/>
            </a:pPr>
            <a:r>
              <a:rPr lang="ru-RU" sz="2000" b="1" i="1">
                <a:solidFill>
                  <a:srgbClr val="333333"/>
                </a:solidFill>
                <a:latin typeface="Times New Roman"/>
                <a:cs typeface="Times New Roman"/>
              </a:rPr>
              <a:t>Подробнее</a:t>
            </a:r>
            <a:r>
              <a:rPr lang="ru-RU" sz="2000">
                <a:solidFill>
                  <a:srgbClr val="333333"/>
                </a:solidFill>
                <a:latin typeface="Times New Roman"/>
                <a:cs typeface="Times New Roman"/>
              </a:rPr>
              <a:t>: </a:t>
            </a:r>
            <a:r>
              <a:rPr lang="en-US" sz="2000" u="sng">
                <a:solidFill>
                  <a:srgbClr val="333333"/>
                </a:solidFill>
                <a:latin typeface="Times New Roman"/>
                <a:cs typeface="Times New Roman"/>
                <a:hlinkClick r:id="rId2" tooltip="https://newtechaudit.ru/vozmozhnosti-fiddler"/>
              </a:rPr>
              <a:t>https://newtechaudit.ru/vozmozhnosti-fiddler</a:t>
            </a:r>
            <a:endParaRPr lang="en-US" sz="2000">
              <a:solidFill>
                <a:srgbClr val="333333"/>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5" name="Рисунок 4"/>
          <p:cNvPicPr>
            <a:picLocks noChangeAspect="1"/>
          </p:cNvPicPr>
          <p:nvPr/>
        </p:nvPicPr>
        <p:blipFill>
          <a:blip r:embed="rId3"/>
          <a:stretch/>
        </p:blipFill>
        <p:spPr bwMode="auto">
          <a:xfrm>
            <a:off x="3552824" y="1721507"/>
            <a:ext cx="6276047" cy="360813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a:bodyPr>
          <a:lstStyle/>
          <a:p>
            <a:pPr algn="ctr">
              <a:defRPr/>
            </a:pPr>
            <a:r>
              <a:rPr lang="ru-RU" sz="2300" b="1">
                <a:solidFill>
                  <a:srgbClr val="222222"/>
                </a:solidFill>
                <a:latin typeface="Times New Roman"/>
                <a:cs typeface="Arial"/>
              </a:rPr>
              <a:t>Использование</a:t>
            </a:r>
            <a:r>
              <a:rPr lang="en-US" sz="2300" b="1">
                <a:solidFill>
                  <a:srgbClr val="222222"/>
                </a:solidFill>
                <a:latin typeface="Times New Roman"/>
                <a:cs typeface="Arial"/>
              </a:rPr>
              <a:t> </a:t>
            </a:r>
            <a:r>
              <a:rPr lang="en-US" sz="2300" b="1">
                <a:solidFill>
                  <a:srgbClr val="222222"/>
                </a:solidFill>
                <a:latin typeface="Times New Roman"/>
                <a:cs typeface="Arial"/>
              </a:rPr>
              <a:t>FiddlerScript</a:t>
            </a:r>
            <a:endParaRPr lang="ru-RU" sz="2300" b="1">
              <a:solidFill>
                <a:srgbClr val="222222"/>
              </a:solidFill>
              <a:latin typeface="Times New Roman"/>
              <a:cs typeface="Arial"/>
            </a:endParaRPr>
          </a:p>
        </p:txBody>
      </p:sp>
      <p:sp>
        <p:nvSpPr>
          <p:cNvPr id="3" name="Объект 2"/>
          <p:cNvSpPr>
            <a:spLocks noGrp="1"/>
          </p:cNvSpPr>
          <p:nvPr>
            <p:ph idx="1"/>
          </p:nvPr>
        </p:nvSpPr>
        <p:spPr bwMode="auto">
          <a:xfrm>
            <a:off x="1591786" y="574767"/>
            <a:ext cx="10493238" cy="6165668"/>
          </a:xfrm>
        </p:spPr>
        <p:txBody>
          <a:bodyPr>
            <a:normAutofit fontScale="70000" lnSpcReduction="20000"/>
          </a:bodyPr>
          <a:lstStyle/>
          <a:p>
            <a:pPr marL="0" indent="0" algn="just">
              <a:buNone/>
              <a:defRPr/>
            </a:pPr>
            <a:r>
              <a:rPr lang="ru-RU" sz="2400">
                <a:solidFill>
                  <a:srgbClr val="333333"/>
                </a:solidFill>
                <a:latin typeface="Times New Roman"/>
                <a:cs typeface="Times New Roman"/>
              </a:rPr>
              <a:t>FiddlerScript</a:t>
            </a:r>
            <a:r>
              <a:rPr lang="ru-RU" sz="2400">
                <a:solidFill>
                  <a:srgbClr val="333333"/>
                </a:solidFill>
                <a:latin typeface="Times New Roman"/>
                <a:cs typeface="Times New Roman"/>
              </a:rPr>
              <a:t> – встроенный язык программирования, позволяющий значительно расширить функциональные возможности </a:t>
            </a:r>
            <a:r>
              <a:rPr lang="ru-RU" sz="2400">
                <a:solidFill>
                  <a:srgbClr val="333333"/>
                </a:solidFill>
                <a:latin typeface="Times New Roman"/>
                <a:cs typeface="Times New Roman"/>
              </a:rPr>
              <a:t>Fiddler</a:t>
            </a:r>
            <a:r>
              <a:rPr lang="ru-RU" sz="2400">
                <a:solidFill>
                  <a:srgbClr val="333333"/>
                </a:solidFill>
                <a:latin typeface="Times New Roman"/>
                <a:cs typeface="Times New Roman"/>
              </a:rPr>
              <a:t>, модифицировать пользовательский интерфейс, а также анализировать входящий и исходящий трафик. Язык основан на JScript.NET.</a:t>
            </a:r>
            <a:endParaRPr/>
          </a:p>
          <a:p>
            <a:pPr marL="0" indent="0" algn="just">
              <a:buNone/>
              <a:defRPr/>
            </a:pPr>
            <a:r>
              <a:rPr lang="ru-RU" sz="2400">
                <a:solidFill>
                  <a:srgbClr val="333333"/>
                </a:solidFill>
                <a:latin typeface="Times New Roman"/>
                <a:cs typeface="Times New Roman"/>
              </a:rPr>
              <a:t>Сохранять код необходимо в файл CustomRules.js, который открывается в меню </a:t>
            </a:r>
            <a:r>
              <a:rPr lang="ru-RU" sz="2400">
                <a:solidFill>
                  <a:srgbClr val="333333"/>
                </a:solidFill>
                <a:latin typeface="Times New Roman"/>
                <a:cs typeface="Times New Roman"/>
              </a:rPr>
              <a:t>Rules</a:t>
            </a:r>
            <a:r>
              <a:rPr lang="ru-RU" sz="2400">
                <a:solidFill>
                  <a:srgbClr val="333333"/>
                </a:solidFill>
                <a:latin typeface="Times New Roman"/>
                <a:cs typeface="Times New Roman"/>
              </a:rPr>
              <a:t> &gt; </a:t>
            </a:r>
            <a:r>
              <a:rPr lang="ru-RU" sz="2400">
                <a:solidFill>
                  <a:srgbClr val="333333"/>
                </a:solidFill>
                <a:latin typeface="Times New Roman"/>
                <a:cs typeface="Times New Roman"/>
              </a:rPr>
              <a:t>Customize</a:t>
            </a:r>
            <a:r>
              <a:rPr lang="ru-RU" sz="2400">
                <a:solidFill>
                  <a:srgbClr val="333333"/>
                </a:solidFill>
                <a:latin typeface="Times New Roman"/>
                <a:cs typeface="Times New Roman"/>
              </a:rPr>
              <a:t> </a:t>
            </a:r>
            <a:r>
              <a:rPr lang="ru-RU" sz="2400">
                <a:solidFill>
                  <a:srgbClr val="333333"/>
                </a:solidFill>
                <a:latin typeface="Times New Roman"/>
                <a:cs typeface="Times New Roman"/>
              </a:rPr>
              <a:t>Rules</a:t>
            </a:r>
            <a:r>
              <a:rPr lang="ru-RU" sz="2400">
                <a:solidFill>
                  <a:srgbClr val="333333"/>
                </a:solidFill>
                <a:latin typeface="Times New Roman"/>
                <a:cs typeface="Times New Roman"/>
              </a:rPr>
              <a:t>. Сам файл находится в папке \</a:t>
            </a:r>
            <a:r>
              <a:rPr lang="ru-RU" sz="2400">
                <a:solidFill>
                  <a:srgbClr val="333333"/>
                </a:solidFill>
                <a:latin typeface="Times New Roman"/>
                <a:cs typeface="Times New Roman"/>
              </a:rPr>
              <a:t>Documents</a:t>
            </a:r>
            <a:r>
              <a:rPr lang="ru-RU" sz="2400">
                <a:solidFill>
                  <a:srgbClr val="333333"/>
                </a:solidFill>
                <a:latin typeface="Times New Roman"/>
                <a:cs typeface="Times New Roman"/>
              </a:rPr>
              <a:t>\Fiddler2\</a:t>
            </a:r>
            <a:r>
              <a:rPr lang="ru-RU" sz="2400">
                <a:solidFill>
                  <a:srgbClr val="333333"/>
                </a:solidFill>
                <a:latin typeface="Times New Roman"/>
                <a:cs typeface="Times New Roman"/>
              </a:rPr>
              <a:t>Scripts</a:t>
            </a:r>
            <a:r>
              <a:rPr lang="ru-RU" sz="2400">
                <a:solidFill>
                  <a:srgbClr val="333333"/>
                </a:solidFill>
                <a:latin typeface="Times New Roman"/>
                <a:cs typeface="Times New Roman"/>
              </a:rPr>
              <a:t>.</a:t>
            </a:r>
            <a:endParaRPr/>
          </a:p>
          <a:p>
            <a:pPr marL="0" indent="0" algn="just">
              <a:buNone/>
              <a:defRPr/>
            </a:pPr>
            <a:r>
              <a:rPr lang="ru-RU" sz="2400">
                <a:solidFill>
                  <a:srgbClr val="333333"/>
                </a:solidFill>
                <a:latin typeface="Times New Roman"/>
                <a:cs typeface="Times New Roman"/>
              </a:rPr>
              <a:t>Всякий раз, когда вы сохраняете файл, </a:t>
            </a:r>
            <a:r>
              <a:rPr lang="ru-RU" sz="2400">
                <a:solidFill>
                  <a:srgbClr val="333333"/>
                </a:solidFill>
                <a:latin typeface="Times New Roman"/>
                <a:cs typeface="Times New Roman"/>
              </a:rPr>
              <a:t>Fiddler</a:t>
            </a:r>
            <a:r>
              <a:rPr lang="ru-RU" sz="2400">
                <a:solidFill>
                  <a:srgbClr val="333333"/>
                </a:solidFill>
                <a:latin typeface="Times New Roman"/>
                <a:cs typeface="Times New Roman"/>
              </a:rPr>
              <a:t> заметит новую версию файла и попытается загрузить её автоматически. Если необходимо пересоздать файл с изначальным кодом, просто удалите его, и </a:t>
            </a:r>
            <a:r>
              <a:rPr lang="ru-RU" sz="2400">
                <a:solidFill>
                  <a:srgbClr val="333333"/>
                </a:solidFill>
                <a:latin typeface="Times New Roman"/>
                <a:cs typeface="Times New Roman"/>
              </a:rPr>
              <a:t>Fiddler</a:t>
            </a:r>
            <a:r>
              <a:rPr lang="ru-RU" sz="2400">
                <a:solidFill>
                  <a:srgbClr val="333333"/>
                </a:solidFill>
                <a:latin typeface="Times New Roman"/>
                <a:cs typeface="Times New Roman"/>
              </a:rPr>
              <a:t> пересоздаст его из резервной копии.</a:t>
            </a:r>
            <a:endParaRPr/>
          </a:p>
          <a:p>
            <a:pPr algn="just">
              <a:defRPr/>
            </a:pPr>
            <a:endParaRPr lang="ru-RU" sz="2400">
              <a:solidFill>
                <a:srgbClr val="333333"/>
              </a:solidFill>
              <a:latin typeface="Times New Roman"/>
              <a:cs typeface="Times New Roman"/>
            </a:endParaRPr>
          </a:p>
          <a:p>
            <a:pPr algn="just">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r>
              <a:rPr lang="ru-RU" sz="2400">
                <a:solidFill>
                  <a:srgbClr val="333333"/>
                </a:solidFill>
                <a:latin typeface="Times New Roman"/>
                <a:cs typeface="Times New Roman"/>
              </a:rPr>
              <a:t> </a:t>
            </a:r>
            <a:endParaRPr/>
          </a:p>
          <a:p>
            <a:pPr marL="0" indent="0" algn="r">
              <a:buNone/>
              <a:defRPr/>
            </a:pPr>
            <a:r>
              <a:rPr lang="ru-RU" sz="2000" b="1" i="1">
                <a:solidFill>
                  <a:srgbClr val="333333"/>
                </a:solidFill>
                <a:latin typeface="Times New Roman"/>
                <a:cs typeface="Times New Roman"/>
              </a:rPr>
              <a:t>Подробнее</a:t>
            </a:r>
            <a:r>
              <a:rPr lang="ru-RU" sz="2000">
                <a:solidFill>
                  <a:srgbClr val="333333"/>
                </a:solidFill>
                <a:latin typeface="Times New Roman"/>
                <a:cs typeface="Times New Roman"/>
              </a:rPr>
              <a:t>: </a:t>
            </a:r>
            <a:r>
              <a:rPr lang="en-US" sz="2000" u="sng">
                <a:solidFill>
                  <a:srgbClr val="333333"/>
                </a:solidFill>
                <a:latin typeface="Times New Roman"/>
                <a:cs typeface="Times New Roman"/>
                <a:hlinkClick r:id="rId2" tooltip="https://newtechaudit.ru/vozmozhnosti-fiddler"/>
              </a:rPr>
              <a:t>https://newtechaudit.ru/vozmozhnosti-fiddler</a:t>
            </a:r>
            <a:endParaRPr lang="en-US" sz="2000">
              <a:solidFill>
                <a:srgbClr val="333333"/>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6" name="Рисунок 5"/>
          <p:cNvPicPr>
            <a:picLocks noChangeAspect="1"/>
          </p:cNvPicPr>
          <p:nvPr/>
        </p:nvPicPr>
        <p:blipFill>
          <a:blip r:embed="rId3"/>
          <a:stretch/>
        </p:blipFill>
        <p:spPr bwMode="auto">
          <a:xfrm>
            <a:off x="3386137" y="2592433"/>
            <a:ext cx="6303109" cy="367773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854926" y="117564"/>
            <a:ext cx="9966959" cy="457201"/>
          </a:xfrm>
        </p:spPr>
        <p:txBody>
          <a:bodyPr>
            <a:normAutofit/>
          </a:bodyPr>
          <a:lstStyle/>
          <a:p>
            <a:pPr algn="ctr">
              <a:defRPr/>
            </a:pPr>
            <a:r>
              <a:rPr lang="ru-RU" sz="2300" b="1">
                <a:solidFill>
                  <a:srgbClr val="222222"/>
                </a:solidFill>
                <a:latin typeface="Times New Roman"/>
                <a:cs typeface="Arial"/>
              </a:rPr>
              <a:t>Пример подмены логотипа сайта</a:t>
            </a:r>
            <a:endParaRPr/>
          </a:p>
        </p:txBody>
      </p:sp>
      <p:sp>
        <p:nvSpPr>
          <p:cNvPr id="3" name="Объект 2"/>
          <p:cNvSpPr>
            <a:spLocks noGrp="1"/>
          </p:cNvSpPr>
          <p:nvPr>
            <p:ph idx="1"/>
          </p:nvPr>
        </p:nvSpPr>
        <p:spPr bwMode="auto">
          <a:xfrm>
            <a:off x="1591786" y="574767"/>
            <a:ext cx="10493238" cy="6165668"/>
          </a:xfrm>
        </p:spPr>
        <p:txBody>
          <a:bodyPr>
            <a:normAutofit fontScale="70000" lnSpcReduction="20000"/>
          </a:bodyPr>
          <a:lstStyle/>
          <a:p>
            <a:pPr marL="0" indent="0" algn="just">
              <a:buNone/>
              <a:defRPr/>
            </a:pPr>
            <a:r>
              <a:rPr lang="ru-RU" sz="2400">
                <a:solidFill>
                  <a:srgbClr val="333333"/>
                </a:solidFill>
                <a:latin typeface="Times New Roman"/>
                <a:cs typeface="Times New Roman"/>
              </a:rPr>
              <a:t>Используем </a:t>
            </a:r>
            <a:r>
              <a:rPr lang="en-US" sz="2400">
                <a:solidFill>
                  <a:srgbClr val="333333"/>
                </a:solidFill>
                <a:latin typeface="Times New Roman"/>
                <a:cs typeface="Times New Roman"/>
              </a:rPr>
              <a:t>Fiddler </a:t>
            </a:r>
            <a:r>
              <a:rPr lang="ru-RU" sz="2400">
                <a:solidFill>
                  <a:srgbClr val="333333"/>
                </a:solidFill>
                <a:latin typeface="Times New Roman"/>
                <a:cs typeface="Times New Roman"/>
              </a:rPr>
              <a:t>для подмены логотипа сайта </a:t>
            </a:r>
            <a:r>
              <a:rPr lang="en-US" sz="2400">
                <a:solidFill>
                  <a:srgbClr val="333333"/>
                </a:solidFill>
                <a:latin typeface="Times New Roman"/>
                <a:cs typeface="Times New Roman"/>
              </a:rPr>
              <a:t>google.ru </a:t>
            </a:r>
            <a:r>
              <a:rPr lang="ru-RU" sz="2400">
                <a:solidFill>
                  <a:srgbClr val="333333"/>
                </a:solidFill>
                <a:latin typeface="Times New Roman"/>
                <a:cs typeface="Times New Roman"/>
              </a:rPr>
              <a:t>на логотип от Яндекса. По сути, подмена логотипа на сайте – это подмена одного </a:t>
            </a:r>
            <a:r>
              <a:rPr lang="en-US" sz="2400">
                <a:solidFill>
                  <a:srgbClr val="333333"/>
                </a:solidFill>
                <a:latin typeface="Times New Roman"/>
                <a:cs typeface="Times New Roman"/>
              </a:rPr>
              <a:t>URL </a:t>
            </a:r>
            <a:r>
              <a:rPr lang="ru-RU" sz="2400">
                <a:solidFill>
                  <a:srgbClr val="333333"/>
                </a:solidFill>
                <a:latin typeface="Times New Roman"/>
                <a:cs typeface="Times New Roman"/>
              </a:rPr>
              <a:t>на другой. Переходим на сайт </a:t>
            </a:r>
            <a:r>
              <a:rPr lang="en-US" sz="2400">
                <a:solidFill>
                  <a:srgbClr val="333333"/>
                </a:solidFill>
                <a:latin typeface="Times New Roman"/>
                <a:cs typeface="Times New Roman"/>
              </a:rPr>
              <a:t>google.ru, </a:t>
            </a:r>
            <a:r>
              <a:rPr lang="ru-RU" sz="2400">
                <a:solidFill>
                  <a:srgbClr val="333333"/>
                </a:solidFill>
                <a:latin typeface="Times New Roman"/>
                <a:cs typeface="Times New Roman"/>
              </a:rPr>
              <a:t>копируем</a:t>
            </a:r>
            <a:r>
              <a:rPr lang="ru-RU" sz="2400" u="sng">
                <a:solidFill>
                  <a:srgbClr val="333333"/>
                </a:solidFill>
                <a:latin typeface="Times New Roman"/>
                <a:cs typeface="Times New Roman"/>
                <a:hlinkClick r:id="rId2" tooltip="https://www.google.ru/images/branding/googlelogo/1x/googlelogo_color_272x92dp.png"/>
              </a:rPr>
              <a:t> ссылку логотипа</a:t>
            </a:r>
            <a:r>
              <a:rPr lang="ru-RU" sz="2400">
                <a:solidFill>
                  <a:srgbClr val="333333"/>
                </a:solidFill>
                <a:latin typeface="Times New Roman"/>
                <a:cs typeface="Times New Roman"/>
              </a:rPr>
              <a:t>.</a:t>
            </a:r>
            <a:endParaRPr/>
          </a:p>
          <a:p>
            <a:pPr marL="0" indent="0" algn="just">
              <a:buNone/>
              <a:defRPr/>
            </a:pPr>
            <a:r>
              <a:rPr lang="ru-RU" sz="2400">
                <a:solidFill>
                  <a:srgbClr val="333333"/>
                </a:solidFill>
                <a:latin typeface="Times New Roman"/>
                <a:cs typeface="Times New Roman"/>
              </a:rPr>
              <a:t>Далее найдём логотип от </a:t>
            </a:r>
            <a:r>
              <a:rPr lang="ru-RU" sz="2400" u="sng">
                <a:solidFill>
                  <a:srgbClr val="333333"/>
                </a:solidFill>
                <a:latin typeface="Times New Roman"/>
                <a:cs typeface="Times New Roman"/>
                <a:hlinkClick r:id="rId3" tooltip="https://upload.wikimedia.org/wikipedia/commons/thumb/f/f1/Yandex_logo_2021_Russian.svg/640px-Yandex_logo_2021_Russian.svg.png"/>
              </a:rPr>
              <a:t>Яндекса</a:t>
            </a:r>
            <a:r>
              <a:rPr lang="ru-RU" sz="2400">
                <a:solidFill>
                  <a:srgbClr val="333333"/>
                </a:solidFill>
                <a:latin typeface="Times New Roman"/>
                <a:cs typeface="Times New Roman"/>
              </a:rPr>
              <a:t>.</a:t>
            </a:r>
            <a:endParaRPr/>
          </a:p>
          <a:p>
            <a:pPr marL="0" indent="0" algn="just">
              <a:buNone/>
              <a:defRPr/>
            </a:pPr>
            <a:r>
              <a:rPr lang="ru-RU" sz="2400">
                <a:solidFill>
                  <a:srgbClr val="333333"/>
                </a:solidFill>
                <a:latin typeface="Times New Roman"/>
                <a:cs typeface="Times New Roman"/>
              </a:rPr>
              <a:t>Перейду во вкладку «</a:t>
            </a:r>
            <a:r>
              <a:rPr lang="en-US" sz="2400">
                <a:solidFill>
                  <a:srgbClr val="333333"/>
                </a:solidFill>
                <a:latin typeface="Times New Roman"/>
                <a:cs typeface="Times New Roman"/>
              </a:rPr>
              <a:t>AutoResponder</a:t>
            </a:r>
            <a:r>
              <a:rPr lang="en-US" sz="2400">
                <a:solidFill>
                  <a:srgbClr val="333333"/>
                </a:solidFill>
                <a:latin typeface="Times New Roman"/>
                <a:cs typeface="Times New Roman"/>
              </a:rPr>
              <a:t>», </a:t>
            </a:r>
            <a:r>
              <a:rPr lang="ru-RU" sz="2400">
                <a:solidFill>
                  <a:srgbClr val="333333"/>
                </a:solidFill>
                <a:latin typeface="Times New Roman"/>
                <a:cs typeface="Times New Roman"/>
              </a:rPr>
              <a:t>создам правило: в «</a:t>
            </a:r>
            <a:r>
              <a:rPr lang="en-US" sz="2400">
                <a:solidFill>
                  <a:srgbClr val="333333"/>
                </a:solidFill>
                <a:latin typeface="Times New Roman"/>
                <a:cs typeface="Times New Roman"/>
              </a:rPr>
              <a:t>If request matches…» </a:t>
            </a:r>
            <a:r>
              <a:rPr lang="ru-RU" sz="2400">
                <a:solidFill>
                  <a:srgbClr val="333333"/>
                </a:solidFill>
                <a:latin typeface="Times New Roman"/>
                <a:cs typeface="Times New Roman"/>
              </a:rPr>
              <a:t>занесём </a:t>
            </a:r>
            <a:r>
              <a:rPr lang="en-US" sz="2400">
                <a:solidFill>
                  <a:srgbClr val="333333"/>
                </a:solidFill>
                <a:latin typeface="Times New Roman"/>
                <a:cs typeface="Times New Roman"/>
              </a:rPr>
              <a:t>URL </a:t>
            </a:r>
            <a:r>
              <a:rPr lang="ru-RU" sz="2400">
                <a:solidFill>
                  <a:srgbClr val="333333"/>
                </a:solidFill>
                <a:latin typeface="Times New Roman"/>
                <a:cs typeface="Times New Roman"/>
              </a:rPr>
              <a:t>логотипа </a:t>
            </a:r>
            <a:r>
              <a:rPr lang="en-US" sz="2400">
                <a:solidFill>
                  <a:srgbClr val="333333"/>
                </a:solidFill>
                <a:latin typeface="Times New Roman"/>
                <a:cs typeface="Times New Roman"/>
              </a:rPr>
              <a:t>Google, </a:t>
            </a:r>
            <a:r>
              <a:rPr lang="ru-RU" sz="2400">
                <a:solidFill>
                  <a:srgbClr val="333333"/>
                </a:solidFill>
                <a:latin typeface="Times New Roman"/>
                <a:cs typeface="Times New Roman"/>
              </a:rPr>
              <a:t>в «</a:t>
            </a:r>
            <a:r>
              <a:rPr lang="en-US" sz="2400">
                <a:solidFill>
                  <a:srgbClr val="333333"/>
                </a:solidFill>
                <a:latin typeface="Times New Roman"/>
                <a:cs typeface="Times New Roman"/>
              </a:rPr>
              <a:t>Then respond with…» </a:t>
            </a:r>
            <a:r>
              <a:rPr lang="ru-RU" sz="2400">
                <a:solidFill>
                  <a:srgbClr val="333333"/>
                </a:solidFill>
                <a:latin typeface="Times New Roman"/>
                <a:cs typeface="Times New Roman"/>
              </a:rPr>
              <a:t>внесём логотип Яндекса. Активируем «</a:t>
            </a:r>
            <a:r>
              <a:rPr lang="en-US" sz="2400">
                <a:solidFill>
                  <a:srgbClr val="333333"/>
                </a:solidFill>
                <a:latin typeface="Times New Roman"/>
                <a:cs typeface="Times New Roman"/>
              </a:rPr>
              <a:t>Enable rules» </a:t>
            </a:r>
            <a:r>
              <a:rPr lang="ru-RU" sz="2400">
                <a:solidFill>
                  <a:srgbClr val="333333"/>
                </a:solidFill>
                <a:latin typeface="Times New Roman"/>
                <a:cs typeface="Times New Roman"/>
              </a:rPr>
              <a:t>и «</a:t>
            </a:r>
            <a:r>
              <a:rPr lang="en-US" sz="2400">
                <a:solidFill>
                  <a:srgbClr val="333333"/>
                </a:solidFill>
                <a:latin typeface="Times New Roman"/>
                <a:cs typeface="Times New Roman"/>
              </a:rPr>
              <a:t>Unmatched requests passthrough»</a:t>
            </a:r>
            <a:r>
              <a:rPr lang="ru-RU" sz="2400">
                <a:solidFill>
                  <a:srgbClr val="333333"/>
                </a:solidFill>
                <a:latin typeface="Times New Roman"/>
                <a:cs typeface="Times New Roman"/>
              </a:rPr>
              <a:t>.</a:t>
            </a:r>
            <a:endParaRPr/>
          </a:p>
          <a:p>
            <a:pPr marL="0" indent="0" algn="just">
              <a:buNone/>
              <a:defRPr/>
            </a:pPr>
            <a:r>
              <a:rPr lang="ru-RU" sz="2400">
                <a:solidFill>
                  <a:srgbClr val="333333"/>
                </a:solidFill>
                <a:latin typeface="Times New Roman"/>
                <a:cs typeface="Times New Roman"/>
              </a:rPr>
              <a:t>В результате при переходе на сайт google.ru вместе логотипа Google будет отображаться логотип Яндекса.</a:t>
            </a: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ru-RU"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endParaRPr lang="en-US" sz="2400">
              <a:solidFill>
                <a:srgbClr val="333333"/>
              </a:solidFill>
              <a:latin typeface="Times New Roman"/>
              <a:cs typeface="Times New Roman"/>
            </a:endParaRPr>
          </a:p>
          <a:p>
            <a:pPr marL="0" indent="0" algn="just">
              <a:buNone/>
              <a:defRPr/>
            </a:pPr>
            <a:r>
              <a:rPr lang="ru-RU" sz="2400">
                <a:solidFill>
                  <a:srgbClr val="333333"/>
                </a:solidFill>
                <a:latin typeface="Times New Roman"/>
                <a:cs typeface="Times New Roman"/>
              </a:rPr>
              <a:t>Таким образом, рассмотренный функционал </a:t>
            </a:r>
            <a:r>
              <a:rPr lang="ru-RU" sz="2400">
                <a:solidFill>
                  <a:srgbClr val="333333"/>
                </a:solidFill>
                <a:latin typeface="Times New Roman"/>
                <a:cs typeface="Times New Roman"/>
              </a:rPr>
              <a:t>Fiddler</a:t>
            </a:r>
            <a:r>
              <a:rPr lang="ru-RU" sz="2400">
                <a:solidFill>
                  <a:srgbClr val="333333"/>
                </a:solidFill>
                <a:latin typeface="Times New Roman"/>
                <a:cs typeface="Times New Roman"/>
              </a:rPr>
              <a:t> позволяет расшифровать защищенный HTTPS трафик, произвести его фильтрацию и проанализировать поступающие запросы и ответы. </a:t>
            </a:r>
            <a:endParaRPr/>
          </a:p>
          <a:p>
            <a:pPr marL="0" indent="0" algn="r">
              <a:buNone/>
              <a:defRPr/>
            </a:pPr>
            <a:r>
              <a:rPr lang="ru-RU" sz="2000" b="1" i="1">
                <a:solidFill>
                  <a:srgbClr val="333333"/>
                </a:solidFill>
                <a:latin typeface="Times New Roman"/>
                <a:cs typeface="Times New Roman"/>
              </a:rPr>
              <a:t>Подробнее</a:t>
            </a:r>
            <a:r>
              <a:rPr lang="ru-RU" sz="2000">
                <a:solidFill>
                  <a:srgbClr val="333333"/>
                </a:solidFill>
                <a:latin typeface="Times New Roman"/>
                <a:cs typeface="Times New Roman"/>
              </a:rPr>
              <a:t>: </a:t>
            </a:r>
            <a:r>
              <a:rPr lang="en-US" sz="2000" u="sng">
                <a:solidFill>
                  <a:srgbClr val="333333"/>
                </a:solidFill>
                <a:latin typeface="Times New Roman"/>
                <a:cs typeface="Times New Roman"/>
                <a:hlinkClick r:id="rId4" tooltip="https://newtechaudit.ru/vozmozhnosti-fiddler"/>
              </a:rPr>
              <a:t>https://newtechaudit.ru/vozmozhnosti-fiddler</a:t>
            </a:r>
            <a:endParaRPr lang="ru-RU" sz="2000">
              <a:solidFill>
                <a:srgbClr val="333333"/>
              </a:solidFill>
              <a:latin typeface="Times New Roman"/>
              <a:cs typeface="Times New Roman"/>
            </a:endParaRPr>
          </a:p>
          <a:p>
            <a:pPr marL="0" indent="0" algn="r">
              <a:buNone/>
              <a:defRPr/>
            </a:pPr>
            <a:r>
              <a:rPr lang="en-US" sz="2000" u="sng">
                <a:solidFill>
                  <a:srgbClr val="333333"/>
                </a:solidFill>
                <a:latin typeface="Times New Roman"/>
                <a:cs typeface="Times New Roman"/>
                <a:hlinkClick r:id="rId5" tooltip="https://www.youtube.com/watch?v=ILPJ653XXrY"/>
              </a:rPr>
              <a:t>https://www.youtube.com/watch?v=ILPJ653XXrY</a:t>
            </a:r>
            <a:endParaRPr lang="ru-RU" sz="2000">
              <a:solidFill>
                <a:srgbClr val="333333"/>
              </a:solidFill>
              <a:latin typeface="Times New Roman"/>
              <a:cs typeface="Times New Roman"/>
            </a:endParaRPr>
          </a:p>
          <a:p>
            <a:pPr marL="0" indent="0" algn="r">
              <a:buNone/>
              <a:defRPr/>
            </a:pPr>
            <a:endParaRPr lang="en-US" sz="2000">
              <a:solidFill>
                <a:srgbClr val="333333"/>
              </a:solidFill>
              <a:latin typeface="Times New Roman"/>
              <a:cs typeface="Times New Roman"/>
            </a:endParaRPr>
          </a:p>
          <a:p>
            <a:pPr marL="0" indent="0" algn="r">
              <a:buNone/>
              <a:defRPr/>
            </a:pPr>
            <a:endParaRPr lang="ru-RU" sz="2400">
              <a:solidFill>
                <a:srgbClr val="000000"/>
              </a:solidFill>
              <a:latin typeface="Times New Roman"/>
              <a:cs typeface="Times New Roman"/>
            </a:endParaRPr>
          </a:p>
        </p:txBody>
      </p:sp>
      <p:pic>
        <p:nvPicPr>
          <p:cNvPr id="5" name="Рисунок 4"/>
          <p:cNvPicPr>
            <a:picLocks noChangeAspect="1"/>
          </p:cNvPicPr>
          <p:nvPr/>
        </p:nvPicPr>
        <p:blipFill>
          <a:blip r:embed="rId6"/>
          <a:stretch/>
        </p:blipFill>
        <p:spPr bwMode="auto">
          <a:xfrm>
            <a:off x="2927984" y="2484255"/>
            <a:ext cx="8019188" cy="304133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Легкий дым">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Arial"/>
        <a:cs typeface="Arial"/>
      </a:majorFont>
      <a:minorFont>
        <a:latin typeface="Century Gothic"/>
        <a:ea typeface="Arial"/>
        <a:cs typeface="Arial"/>
      </a:minorFont>
    </a:fontScheme>
    <a:fmtScheme name="Wisp">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90000"/>
                <a:lumMod val="120000"/>
              </a:schemeClr>
            </a:gs>
            <a:gs pos="100000">
              <a:schemeClr val="phClr">
                <a:shade val="98000"/>
                <a:satMod val="120000"/>
                <a:lumMod val="98000"/>
              </a:schemeClr>
            </a:gs>
          </a:gsLst>
          <a:lin ang="5400000" scaled="0"/>
        </a:gradFill>
        <a:gradFill>
          <a:gsLst>
            <a:gs pos="0">
              <a:schemeClr val="phClr">
                <a:tint val="90000"/>
                <a:satMod val="92000"/>
                <a:lumMod val="120000"/>
              </a:schemeClr>
            </a:gs>
            <a:gs pos="100000">
              <a:schemeClr val="phClr">
                <a:shade val="98000"/>
                <a:satMod val="120000"/>
                <a:lumMod val="98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Wisp</Template>
  <TotalTime>0</TotalTime>
  <Words>0</Words>
  <Application>r7-office/2024.3.2.622</Application>
  <DocSecurity>0</DocSecurity>
  <PresentationFormat>Широкоэкранный</PresentationFormat>
  <Paragraphs>0</Paragraphs>
  <Slides>80</Slides>
  <Notes>80</Notes>
  <HiddenSlides>0</HiddenSlides>
  <MMClips>2</MMClips>
  <ScaleCrop>0</ScaleCrop>
  <HeadingPairs>
    <vt:vector size="4" baseType="variant">
      <vt:variant>
        <vt:lpstr>Theme</vt:lpstr>
      </vt:variant>
      <vt:variant>
        <vt:i4>1</vt:i4>
      </vt:variant>
      <vt:variant>
        <vt:lpstr>Slide Titles</vt:lpstr>
      </vt:variant>
      <vt:variant>
        <vt:i4>80</vt:i4>
      </vt:variant>
    </vt:vector>
  </HeadingPairs>
  <TitlesOfParts>
    <vt:vector size="8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Тестирование веб-сервисов</dc:title>
  <dc:subject/>
  <dc:creator>AlesIIIa</dc:creator>
  <cp:keywords/>
  <dc:description/>
  <dc:identifier/>
  <dc:language/>
  <cp:lastModifiedBy>Полупанов Алексей</cp:lastModifiedBy>
  <cp:revision>111</cp:revision>
  <dcterms:created xsi:type="dcterms:W3CDTF">2024-02-12T19:29:42Z</dcterms:created>
  <dcterms:modified xsi:type="dcterms:W3CDTF">2025-02-13T15:52:22Z</dcterms:modified>
  <cp:category/>
  <cp:contentStatus/>
  <cp:version/>
</cp:coreProperties>
</file>